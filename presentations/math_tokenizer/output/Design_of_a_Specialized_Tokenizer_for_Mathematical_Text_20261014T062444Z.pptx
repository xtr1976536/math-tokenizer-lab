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83cb640114a01" /><Relationship Type="http://schemas.openxmlformats.org/officeDocument/2006/relationships/extended-properties" Target="/docProps/app.xml" Id="R691daa492a724544" /><Relationship Type="http://schemas.openxmlformats.org/officeDocument/2006/relationships/officeDocument" Target="/ppt/presentation.xml" Id="Rd0bb7dc55735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6642ec0ee540f2"/>
  </p:sldMasterIdLst>
  <p:notesMasterIdLst>
    <p:notesMasterId xmlns:r="http://schemas.openxmlformats.org/officeDocument/2006/relationships" r:id="R838d61bc90cf477b"/>
  </p:notesMasterIdLst>
  <p:sldIdLst>
    <p:sldId xmlns:r="http://schemas.openxmlformats.org/officeDocument/2006/relationships" id="256" r:id="Rba1385e6a0dd47db"/>
    <p:sldId xmlns:r="http://schemas.openxmlformats.org/officeDocument/2006/relationships" id="257" r:id="R32301e8755a34db6"/>
    <p:sldId xmlns:r="http://schemas.openxmlformats.org/officeDocument/2006/relationships" id="258" r:id="R07686cfd474342c8"/>
    <p:sldId xmlns:r="http://schemas.openxmlformats.org/officeDocument/2006/relationships" id="259" r:id="R1f575071d8eb4217"/>
    <p:sldId xmlns:r="http://schemas.openxmlformats.org/officeDocument/2006/relationships" id="260" r:id="R517da5bb5725420f"/>
    <p:sldId xmlns:r="http://schemas.openxmlformats.org/officeDocument/2006/relationships" id="261" r:id="R187f0b116236482b"/>
    <p:sldId xmlns:r="http://schemas.openxmlformats.org/officeDocument/2006/relationships" id="262" r:id="R2c868e6d6e7c4151"/>
    <p:sldId xmlns:r="http://schemas.openxmlformats.org/officeDocument/2006/relationships" id="263" r:id="R6f77caffe76a4274"/>
    <p:sldId xmlns:r="http://schemas.openxmlformats.org/officeDocument/2006/relationships" id="264" r:id="R8289eb4839124e6f"/>
    <p:sldId xmlns:r="http://schemas.openxmlformats.org/officeDocument/2006/relationships" id="265" r:id="R5b669efe36db45e5"/>
    <p:sldId xmlns:r="http://schemas.openxmlformats.org/officeDocument/2006/relationships" id="266" r:id="R021ca11bea444176"/>
    <p:sldId xmlns:r="http://schemas.openxmlformats.org/officeDocument/2006/relationships" id="267" r:id="Rade8b83e2c6e4d29"/>
    <p:sldId xmlns:r="http://schemas.openxmlformats.org/officeDocument/2006/relationships" id="268" r:id="Rc47a97b4d4cc43f2"/>
    <p:sldId xmlns:r="http://schemas.openxmlformats.org/officeDocument/2006/relationships" id="269" r:id="R071c842df2f34efe"/>
    <p:sldId xmlns:r="http://schemas.openxmlformats.org/officeDocument/2006/relationships" id="270" r:id="Rbe486eae5d1a4885"/>
    <p:sldId xmlns:r="http://schemas.openxmlformats.org/officeDocument/2006/relationships" id="271" r:id="R5d8784dc9f0e4cb3"/>
    <p:sldId xmlns:r="http://schemas.openxmlformats.org/officeDocument/2006/relationships" id="272" r:id="Reb65dc6a619e4a34"/>
    <p:sldId xmlns:r="http://schemas.openxmlformats.org/officeDocument/2006/relationships" id="273" r:id="R3a404294a6cf41b9"/>
    <p:sldId xmlns:r="http://schemas.openxmlformats.org/officeDocument/2006/relationships" id="274" r:id="R6f722f56f31a421d"/>
    <p:sldId xmlns:r="http://schemas.openxmlformats.org/officeDocument/2006/relationships" id="275" r:id="Ra53f53641fea4632"/>
    <p:sldId xmlns:r="http://schemas.openxmlformats.org/officeDocument/2006/relationships" id="276" r:id="Rafad193197254891"/>
    <p:sldId xmlns:r="http://schemas.openxmlformats.org/officeDocument/2006/relationships" id="277" r:id="Rfbc19f14e9ca48c8"/>
    <p:sldId xmlns:r="http://schemas.openxmlformats.org/officeDocument/2006/relationships" id="278" r:id="Ra3a977e7d19944a9"/>
    <p:sldId xmlns:r="http://schemas.openxmlformats.org/officeDocument/2006/relationships" id="279" r:id="Rb82266bbc75f429d"/>
    <p:sldId xmlns:r="http://schemas.openxmlformats.org/officeDocument/2006/relationships" id="280" r:id="Red9bf27c81364697"/>
    <p:sldId xmlns:r="http://schemas.openxmlformats.org/officeDocument/2006/relationships" id="281" r:id="Rb57521a8fecd428e"/>
    <p:sldId xmlns:r="http://schemas.openxmlformats.org/officeDocument/2006/relationships" id="282" r:id="R6104e70ad7384e33"/>
    <p:sldId xmlns:r="http://schemas.openxmlformats.org/officeDocument/2006/relationships" id="283" r:id="Rac67483a28854d65"/>
    <p:sldId xmlns:r="http://schemas.openxmlformats.org/officeDocument/2006/relationships" id="284" r:id="R490544ac298b4a7f"/>
    <p:sldId xmlns:r="http://schemas.openxmlformats.org/officeDocument/2006/relationships" id="285" r:id="Raa5c0c45be22413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24e01b0b344bf" /><Relationship Type="http://schemas.openxmlformats.org/officeDocument/2006/relationships/slideMaster" Target="/ppt/slideMasters/slideMaster1.xml" Id="R4a6642ec0ee540f2" /><Relationship Type="http://schemas.openxmlformats.org/officeDocument/2006/relationships/notesMaster" Target="/ppt/notesMasters/notesMaster1.xml" Id="R838d61bc90cf477b" /><Relationship Type="http://schemas.openxmlformats.org/officeDocument/2006/relationships/presProps" Target="/ppt/presProps.xml" Id="Re81fbb4cf9f74859" /><Relationship Type="http://schemas.openxmlformats.org/officeDocument/2006/relationships/tableStyles" Target="/ppt/tableStyles.xml" Id="R42550b8c88b344a6" /><Relationship Type="http://schemas.openxmlformats.org/officeDocument/2006/relationships/slide" Target="/ppt/slides/slide1.xml" Id="Rba1385e6a0dd47db" /><Relationship Type="http://schemas.openxmlformats.org/officeDocument/2006/relationships/slide" Target="/ppt/slides/slide2.xml" Id="R32301e8755a34db6" /><Relationship Type="http://schemas.openxmlformats.org/officeDocument/2006/relationships/slide" Target="/ppt/slides/slide3.xml" Id="R07686cfd474342c8" /><Relationship Type="http://schemas.openxmlformats.org/officeDocument/2006/relationships/slide" Target="/ppt/slides/slide4.xml" Id="R1f575071d8eb4217" /><Relationship Type="http://schemas.openxmlformats.org/officeDocument/2006/relationships/slide" Target="/ppt/slides/slide5.xml" Id="R517da5bb5725420f" /><Relationship Type="http://schemas.openxmlformats.org/officeDocument/2006/relationships/slide" Target="/ppt/slides/slide6.xml" Id="R187f0b116236482b" /><Relationship Type="http://schemas.openxmlformats.org/officeDocument/2006/relationships/slide" Target="/ppt/slides/slide7.xml" Id="R2c868e6d6e7c4151" /><Relationship Type="http://schemas.openxmlformats.org/officeDocument/2006/relationships/slide" Target="/ppt/slides/slide8.xml" Id="R6f77caffe76a4274" /><Relationship Type="http://schemas.openxmlformats.org/officeDocument/2006/relationships/slide" Target="/ppt/slides/slide9.xml" Id="R8289eb4839124e6f" /><Relationship Type="http://schemas.openxmlformats.org/officeDocument/2006/relationships/slide" Target="/ppt/slides/slide10.xml" Id="R5b669efe36db45e5" /><Relationship Type="http://schemas.openxmlformats.org/officeDocument/2006/relationships/slide" Target="/ppt/slides/slide11.xml" Id="R021ca11bea444176" /><Relationship Type="http://schemas.openxmlformats.org/officeDocument/2006/relationships/slide" Target="/ppt/slides/slide12.xml" Id="Rade8b83e2c6e4d29" /><Relationship Type="http://schemas.openxmlformats.org/officeDocument/2006/relationships/slide" Target="/ppt/slides/slide13.xml" Id="Rc47a97b4d4cc43f2" /><Relationship Type="http://schemas.openxmlformats.org/officeDocument/2006/relationships/slide" Target="/ppt/slides/slide14.xml" Id="R071c842df2f34efe" /><Relationship Type="http://schemas.openxmlformats.org/officeDocument/2006/relationships/slide" Target="/ppt/slides/slide15.xml" Id="Rbe486eae5d1a4885" /><Relationship Type="http://schemas.openxmlformats.org/officeDocument/2006/relationships/slide" Target="/ppt/slides/slide16.xml" Id="R5d8784dc9f0e4cb3" /><Relationship Type="http://schemas.openxmlformats.org/officeDocument/2006/relationships/slide" Target="/ppt/slides/slide17.xml" Id="Reb65dc6a619e4a34" /><Relationship Type="http://schemas.openxmlformats.org/officeDocument/2006/relationships/slide" Target="/ppt/slides/slide18.xml" Id="R3a404294a6cf41b9" /><Relationship Type="http://schemas.openxmlformats.org/officeDocument/2006/relationships/slide" Target="/ppt/slides/slide19.xml" Id="R6f722f56f31a421d" /><Relationship Type="http://schemas.openxmlformats.org/officeDocument/2006/relationships/slide" Target="/ppt/slides/slide20.xml" Id="Ra53f53641fea4632" /><Relationship Type="http://schemas.openxmlformats.org/officeDocument/2006/relationships/slide" Target="/ppt/slides/slide21.xml" Id="Rafad193197254891" /><Relationship Type="http://schemas.openxmlformats.org/officeDocument/2006/relationships/slide" Target="/ppt/slides/slide22.xml" Id="Rfbc19f14e9ca48c8" /><Relationship Type="http://schemas.openxmlformats.org/officeDocument/2006/relationships/slide" Target="/ppt/slides/slide23.xml" Id="Ra3a977e7d19944a9" /><Relationship Type="http://schemas.openxmlformats.org/officeDocument/2006/relationships/slide" Target="/ppt/slides/slide24.xml" Id="Rb82266bbc75f429d" /><Relationship Type="http://schemas.openxmlformats.org/officeDocument/2006/relationships/slide" Target="/ppt/slides/slide25.xml" Id="Red9bf27c81364697" /><Relationship Type="http://schemas.openxmlformats.org/officeDocument/2006/relationships/slide" Target="/ppt/slides/slide26.xml" Id="Rb57521a8fecd428e" /><Relationship Type="http://schemas.openxmlformats.org/officeDocument/2006/relationships/slide" Target="/ppt/slides/slide27.xml" Id="R6104e70ad7384e33" /><Relationship Type="http://schemas.openxmlformats.org/officeDocument/2006/relationships/slide" Target="/ppt/slides/slide28.xml" Id="Rac67483a28854d65" /><Relationship Type="http://schemas.openxmlformats.org/officeDocument/2006/relationships/slide" Target="/ppt/slides/slide29.xml" Id="R490544ac298b4a7f" /><Relationship Type="http://schemas.openxmlformats.org/officeDocument/2006/relationships/slide" Target="/ppt/slides/slide30.xml" Id="Raa5c0c45be2241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b6913e6a19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700e03f0004967" /><Relationship Type="http://schemas.openxmlformats.org/officeDocument/2006/relationships/notesMaster" Target="/ppt/notesMasters/notesMaster1.xml" Id="R5fec3f58397146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fd24629ffc4c83" /><Relationship Type="http://schemas.openxmlformats.org/officeDocument/2006/relationships/notesMaster" Target="/ppt/notesMasters/notesMaster1.xml" Id="Rc74d1de33f8a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622ac6bc124dd0" /><Relationship Type="http://schemas.openxmlformats.org/officeDocument/2006/relationships/notesMaster" Target="/ppt/notesMasters/notesMaster1.xml" Id="Ra0a69c3aba12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fa3cb4e1d04f93" /><Relationship Type="http://schemas.openxmlformats.org/officeDocument/2006/relationships/notesMaster" Target="/ppt/notesMasters/notesMaster1.xml" Id="Rc046b80485944f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9a49f3dd8c4a6d" /><Relationship Type="http://schemas.openxmlformats.org/officeDocument/2006/relationships/notesMaster" Target="/ppt/notesMasters/notesMaster1.xml" Id="R31ee290252a34b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3cb38494e04d16" /><Relationship Type="http://schemas.openxmlformats.org/officeDocument/2006/relationships/notesMaster" Target="/ppt/notesMasters/notesMaster1.xml" Id="Rb6f017b67e1640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f267ea6c3b4e1d" /><Relationship Type="http://schemas.openxmlformats.org/officeDocument/2006/relationships/notesMaster" Target="/ppt/notesMasters/notesMaster1.xml" Id="R78843e0c40af44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4ff1469e5e4799" /><Relationship Type="http://schemas.openxmlformats.org/officeDocument/2006/relationships/notesMaster" Target="/ppt/notesMasters/notesMaster1.xml" Id="Rf43f01e009e742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34f32280a34b5a" /><Relationship Type="http://schemas.openxmlformats.org/officeDocument/2006/relationships/notesMaster" Target="/ppt/notesMasters/notesMaster1.xml" Id="R1eca561367f041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0264abdb94b13" /><Relationship Type="http://schemas.openxmlformats.org/officeDocument/2006/relationships/notesMaster" Target="/ppt/notesMasters/notesMaster1.xml" Id="Rc274c879f50c48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2ae7a674a6403d" /><Relationship Type="http://schemas.openxmlformats.org/officeDocument/2006/relationships/notesMaster" Target="/ppt/notesMasters/notesMaster1.xml" Id="R43f01c11e14f48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3ed5390fc546e8" /><Relationship Type="http://schemas.openxmlformats.org/officeDocument/2006/relationships/notesMaster" Target="/ppt/notesMasters/notesMaster1.xml" Id="R4eac17c939ee47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a854c7c16d4707" /><Relationship Type="http://schemas.openxmlformats.org/officeDocument/2006/relationships/notesMaster" Target="/ppt/notesMasters/notesMaster1.xml" Id="R4dc4fb9f5d294d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ced69e36f34b59" /><Relationship Type="http://schemas.openxmlformats.org/officeDocument/2006/relationships/notesMaster" Target="/ppt/notesMasters/notesMaster1.xml" Id="Rfedc661b95c24a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5f1595dc964ba1" /><Relationship Type="http://schemas.openxmlformats.org/officeDocument/2006/relationships/notesMaster" Target="/ppt/notesMasters/notesMaster1.xml" Id="Rfa4fe7bb5f1f44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a6fb6c0b734167" /><Relationship Type="http://schemas.openxmlformats.org/officeDocument/2006/relationships/notesMaster" Target="/ppt/notesMasters/notesMaster1.xml" Id="R2e272e82d3cf46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62f1028eb8428a" /><Relationship Type="http://schemas.openxmlformats.org/officeDocument/2006/relationships/notesMaster" Target="/ppt/notesMasters/notesMaster1.xml" Id="R021519af56de41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4c2885637e4830" /><Relationship Type="http://schemas.openxmlformats.org/officeDocument/2006/relationships/notesMaster" Target="/ppt/notesMasters/notesMaster1.xml" Id="Rb62ca2267fb64f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d8cd4619104a3c" /><Relationship Type="http://schemas.openxmlformats.org/officeDocument/2006/relationships/notesMaster" Target="/ppt/notesMasters/notesMaster1.xml" Id="Rfc594fb639fc41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ec7a08c8124d3b" /><Relationship Type="http://schemas.openxmlformats.org/officeDocument/2006/relationships/notesMaster" Target="/ppt/notesMasters/notesMaster1.xml" Id="R23571106ed36417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588c8465e1440a6" /><Relationship Type="http://schemas.openxmlformats.org/officeDocument/2006/relationships/notesMaster" Target="/ppt/notesMasters/notesMaster1.xml" Id="Reb680c683c68401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8b7fc518fa4436a" /><Relationship Type="http://schemas.openxmlformats.org/officeDocument/2006/relationships/notesMaster" Target="/ppt/notesMasters/notesMaster1.xml" Id="R2c683a141bb54d2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701a5d469554194" /><Relationship Type="http://schemas.openxmlformats.org/officeDocument/2006/relationships/notesMaster" Target="/ppt/notesMasters/notesMaster1.xml" Id="Re68ccf70c09a45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8f8b2b1a1a4bc3" /><Relationship Type="http://schemas.openxmlformats.org/officeDocument/2006/relationships/notesMaster" Target="/ppt/notesMasters/notesMaster1.xml" Id="R781f4b780299451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5d655bdd6194d16" /><Relationship Type="http://schemas.openxmlformats.org/officeDocument/2006/relationships/notesMaster" Target="/ppt/notesMasters/notesMaster1.xml" Id="R5122be116e254b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d47bbba1254b0f" /><Relationship Type="http://schemas.openxmlformats.org/officeDocument/2006/relationships/notesMaster" Target="/ppt/notesMasters/notesMaster1.xml" Id="R9d595635e95f4a3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39c057d50648a0" /><Relationship Type="http://schemas.openxmlformats.org/officeDocument/2006/relationships/notesMaster" Target="/ppt/notesMasters/notesMaster1.xml" Id="R724bee4a92af46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f34acd9579424e" /><Relationship Type="http://schemas.openxmlformats.org/officeDocument/2006/relationships/notesMaster" Target="/ppt/notesMasters/notesMaster1.xml" Id="R0fe07e285b814ea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5efff4aba354328" /><Relationship Type="http://schemas.openxmlformats.org/officeDocument/2006/relationships/notesMaster" Target="/ppt/notesMasters/notesMaster1.xml" Id="Rfbc1fa98d5564d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8b799e9947f4d67" /><Relationship Type="http://schemas.openxmlformats.org/officeDocument/2006/relationships/notesMaster" Target="/ppt/notesMasters/notesMaster1.xml" Id="R2ba4ea0696e7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of a Specialized Tokenizer</a:t>
            </a:r>
          </a:p>
          <a:p xmlns:a="http://schemas.openxmlformats.org/drawingml/2006/main">
            <a:r>
              <a:t>for Mathematical Text</a:t>
            </a:r>
          </a:p>
          <a:p xmlns:a="http://schemas.openxmlformats.org/drawingml/2006/main">
            <a:r>
              <a:t>Tongren Xiao</a:t>
            </a:r>
          </a:p>
          <a:p xmlns:a="http://schemas.openxmlformats.org/drawingml/2006/main">
            <a:r>
              <a:t>tongrenxiao7@gmail.com</a:t>
            </a:r>
          </a:p>
          <a:p xmlns:a="http://schemas.openxmlformats.org/drawingml/2006/main">
            <a:r>
              <a:t>Department of Mathematics, Sun Yat-sen University</a:t>
            </a:r>
          </a:p>
          <a:p xmlns:a="http://schemas.openxmlformats.org/drawingml/2006/main">
            <a:r>
              <a:t>October 10, 2026</a:t>
            </a:r>
          </a:p>
          <a:p xmlns:a="http://schemas.openxmlformats.org/drawingml/2006/main">
            <a:r>
              <a:t>Department of Mathematics, Sun Yat-sen University Research Presentation October 10, 2026 0/29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 Mathematical Tokenization Improve Model Capability?</a:t>
            </a:r>
          </a:p>
          <a:p xmlns:a="http://schemas.openxmlformats.org/drawingml/2006/main">
            <a:r>
              <a:t>Research question</a:t>
            </a:r>
          </a:p>
          <a:p xmlns:a="http://schemas.openxmlformats.org/drawingml/2006/main">
            <a:r>
              <a:t>Can we train tokenizers specifically for mathematical text that improve both intrinsic</a:t>
            </a:r>
          </a:p>
          <a:p xmlns:a="http://schemas.openxmlformats.org/drawingml/2006/main">
            <a:r>
              <a:t>tokenization and downstream mathematical capability ?</a:t>
            </a:r>
          </a:p>
          <a:p xmlns:a="http://schemas.openxmlformats.org/drawingml/2006/main">
            <a:r>
              <a:t>Question What would count as evidence?</a:t>
            </a:r>
          </a:p>
          <a:p xmlns:a="http://schemas.openxmlformats.org/drawingml/2006/main">
            <a:r>
              <a:t>RQ1: tokenizer</a:t>
            </a:r>
          </a:p>
          <a:p xmlns:a="http://schemas.openxmlformats.org/drawingml/2006/main">
            <a:r>
              <a:t>quality</a:t>
            </a:r>
          </a:p>
          <a:p xmlns:a="http://schemas.openxmlformats.org/drawingml/2006/main">
            <a:r>
              <a:t>Lossless compression, robustness, speed, etc.</a:t>
            </a:r>
          </a:p>
          <a:p xmlns:a="http://schemas.openxmlformats.org/drawingml/2006/main">
            <a:r>
              <a:t>RQ2: model</a:t>
            </a:r>
          </a:p>
          <a:p xmlns:a="http://schemas.openxmlformats.org/drawingml/2006/main">
            <a:r>
              <a:t>capability</a:t>
            </a:r>
          </a:p>
          <a:p xmlns:a="http://schemas.openxmlformats.org/drawingml/2006/main">
            <a:r>
              <a:t>Mathematical tasks such as PDE/ODE solving.</a:t>
            </a:r>
          </a:p>
          <a:p xmlns:a="http://schemas.openxmlformats.org/drawingml/2006/main">
            <a:r>
              <a:t>Current status Tokenizer experiments completed; downstream evaluation to</a:t>
            </a:r>
          </a:p>
          <a:p xmlns:a="http://schemas.openxmlformats.org/drawingml/2006/main">
            <a:r>
              <a:t>follow.</a:t>
            </a:r>
          </a:p>
          <a:p xmlns:a="http://schemas.openxmlformats.org/drawingml/2006/main">
            <a:r>
              <a:t>Department of Mathematics, Sun Yat-sen University Research Question October 10, 2026 1/29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Study Overview</a:t>
            </a:r>
          </a:p>
          <a:p xmlns:a="http://schemas.openxmlformats.org/drawingml/2006/main">
            <a:r>
              <a:t>Component Summary</a:t>
            </a:r>
          </a:p>
          <a:p xmlns:a="http://schemas.openxmlformats.org/drawingml/2006/main">
            <a:r>
              <a:t>Dataset We constructed and classified a dataset of mathematical formulas</a:t>
            </a:r>
          </a:p>
          <a:p xmlns:a="http://schemas.openxmlformats.org/drawingml/2006/main">
            <a:r>
              <a:t>from multiple mathematical fields.</a:t>
            </a:r>
          </a:p>
          <a:p xmlns:a="http://schemas.openxmlformats.org/drawingml/2006/main">
            <a:r>
              <a:t>Models We proposed two specialized mathematical tokenizers.</a:t>
            </a:r>
          </a:p>
          <a:p xmlns:a="http://schemas.openxmlformats.org/drawingml/2006/main">
            <a:r>
              <a:t>Baselines We selected five tokenizers: classical BPE and Unigram methods,</a:t>
            </a:r>
          </a:p>
          <a:p xmlns:a="http://schemas.openxmlformats.org/drawingml/2006/main">
            <a:r>
              <a:t>and tokenizers used by mature large language models.</a:t>
            </a:r>
          </a:p>
          <a:p xmlns:a="http://schemas.openxmlformats.org/drawingml/2006/main">
            <a:r>
              <a:t>Results Our two tokenizers achieve leading performance on core intrinsic</a:t>
            </a:r>
          </a:p>
          <a:p xmlns:a="http://schemas.openxmlformats.org/drawingml/2006/main">
            <a:r>
              <a:t>metrics and in the overall comparison.</a:t>
            </a:r>
          </a:p>
          <a:p xmlns:a="http://schemas.openxmlformats.org/drawingml/2006/main">
            <a:r>
              <a:t>Department of Mathematics, Sun Yat-sen University Research Question October 10, 2026 2/29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Tokenizers</a:t>
            </a:r>
          </a:p>
          <a:p xmlns:a="http://schemas.openxmlformats.org/drawingml/2006/main">
            <a:r>
              <a:t>Category Tokenizer Actual ID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Code / tokenizer source</a:t>
            </a:r>
          </a:p>
          <a:p xmlns:a="http://schemas.openxmlformats.org/drawingml/2006/main">
            <a:r>
              <a:t>Classical tokenizers Byte BPE</a:t>
            </a:r>
          </a:p>
          <a:p xmlns:a="http://schemas.openxmlformats.org/drawingml/2006/main">
            <a:r>
              <a:t>(1)</a:t>
            </a:r>
          </a:p>
          <a:p xmlns:a="http://schemas.openxmlformats.org/drawingml/2006/main">
            <a:r>
              <a:t>1,024 / 2,048 huggingface/tokenizers</a:t>
            </a:r>
          </a:p>
          <a:p xmlns:a="http://schemas.openxmlformats.org/drawingml/2006/main">
            <a:r>
              <a:t>Classical tokenizers SP</a:t>
            </a:r>
          </a:p>
          <a:p xmlns:a="http://schemas.openxmlformats.org/drawingml/2006/main">
            <a:r>
              <a:t>Unigram</a:t>
            </a:r>
          </a:p>
          <a:p xmlns:a="http://schemas.openxmlformats.org/drawingml/2006/main">
            <a:r>
              <a:t>(2)</a:t>
            </a:r>
          </a:p>
          <a:p xmlns:a="http://schemas.openxmlformats.org/drawingml/2006/main">
            <a:r>
              <a:t>1,024 / 2,048 google/sentencepiece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(3)</a:t>
            </a:r>
          </a:p>
          <a:p xmlns:a="http://schemas.openxmlformats.org/drawingml/2006/main">
            <a:r>
              <a:t>151,665 Qwen2.5-0.5B/tokenizer.json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Llama 3 (4) 128,256 meta-llama/llama3/tokenizer.py</a:t>
            </a:r>
          </a:p>
          <a:p xmlns:a="http://schemas.openxmlformats.org/drawingml/2006/main">
            <a:r>
              <a:t>General-Purpose</a:t>
            </a:r>
          </a:p>
          <a:p xmlns:a="http://schemas.openxmlformats.org/drawingml/2006/main">
            <a:r>
              <a:t>Tokenizers</a:t>
            </a:r>
          </a:p>
          <a:p xmlns:a="http://schemas.openxmlformats.org/drawingml/2006/main">
            <a:r>
              <a:t>o200k (5) 200,019 openai/tiktoken</a:t>
            </a:r>
          </a:p>
          <a:p xmlns:a="http://schemas.openxmlformats.org/drawingml/2006/main">
            <a:r>
              <a:t>Qwen2.5: used by the Qwen2.5 model family.</a:t>
            </a:r>
          </a:p>
          <a:p xmlns:a="http://schemas.openxmlformats.org/drawingml/2006/main">
            <a:r>
              <a:t>Llama 3: used by the Meta Llama 3 model family.</a:t>
            </a:r>
          </a:p>
          <a:p xmlns:a="http://schemas.openxmlformats.org/drawingml/2006/main">
            <a:r>
              <a:t>o200k_base: used by GPT-4o and GPT-4.1.</a:t>
            </a:r>
          </a:p>
          <a:p xmlns:a="http://schemas.openxmlformats.org/drawingml/2006/main">
            <a:r>
              <a:t>Department of Mathematics, Sun Yat-sen University Baseline October 10, 2026 3/29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Unigram: Training and Inference</a:t>
            </a:r>
          </a:p>
          <a:p xmlns:a="http://schemas.openxmlformats.org/drawingml/2006/main">
            <a:r>
              <a:t>Training step Procedure</a:t>
            </a:r>
          </a:p>
          <a:p xmlns:a="http://schemas.openxmlformats.org/drawingml/2006/main">
            <a:r>
              <a:t>Preparation Use raw strings without language-specific word segmentation; represent</a:t>
            </a:r>
          </a:p>
          <a:p xmlns:a="http://schemas.openxmlformats.org/drawingml/2006/main">
            <a:r>
              <a:t>spaces as a symbol, usually ▁.</a:t>
            </a:r>
          </a:p>
          <a:p xmlns:a="http://schemas.openxmlformats.org/drawingml/2006/main">
            <a:r>
              <a:t>1. Initialize Create a large seed vocabulary of characters, frequent substrings and symbols;</a:t>
            </a:r>
          </a:p>
          <a:p xmlns:a="http://schemas.openxmlformats.org/drawingml/2006/main">
            <a:r>
              <a:t>assign initial piece probabilities.</a:t>
            </a:r>
          </a:p>
          <a:p xmlns:a="http://schemas.openxmlformats.org/drawingml/2006/main">
            <a:r>
              <a:t>2. EM iterations E: sum over possible segmentations to obtain expected piece counts. M:</a:t>
            </a:r>
          </a:p>
          <a:p xmlns:a="http://schemas.openxmlformats.org/drawingml/2006/main">
            <a:r>
              <a:t>re-estimate probabilities from those counts.</a:t>
            </a:r>
          </a:p>
          <a:p xmlns:a="http://schemas.openxmlformats.org/drawingml/2006/main">
            <a:r>
              <a:t>3. Prune Remove pieces with low contribution to corpus likelihood; repeat EM and</a:t>
            </a:r>
          </a:p>
          <a:p xmlns:a="http://schemas.openxmlformats.org/drawingml/2006/main">
            <a:r>
              <a:t>pruning to reach 1,024 or 2,048 IDs.</a:t>
            </a:r>
          </a:p>
          <a:p xmlns:a="http://schemas.openxmlformats.org/drawingml/2006/main">
            <a:r>
              <a:t>4. Final model A piece vocabulary and probabilities; an optional byte fallback table.</a:t>
            </a:r>
          </a:p>
          <a:p xmlns:a="http://schemas.openxmlformats.org/drawingml/2006/main">
            <a:r>
              <a:t>Inference</a:t>
            </a:r>
          </a:p>
          <a:p xmlns:a="http://schemas.openxmlformats.org/drawingml/2006/main">
            <a:r>
              <a:t>Build a segmentation lattice; for abc: a + b + c, ab + c, a + bc, or abc.</a:t>
            </a:r>
          </a:p>
          <a:p xmlns:a="http://schemas.openxmlformats.org/drawingml/2006/main">
            <a:r>
              <a:t>P(s) =</a:t>
            </a:r>
          </a:p>
          <a:p xmlns:a="http://schemas.openxmlformats.org/drawingml/2006/main">
            <a:r>
              <a:t>∏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p(si), s∗ = arg max</a:t>
            </a:r>
          </a:p>
          <a:p xmlns:a="http://schemas.openxmlformats.org/drawingml/2006/main">
            <a:r>
              <a:t>s∈S(x)</a:t>
            </a:r>
          </a:p>
          <a:p xmlns:a="http://schemas.openxmlformats.org/drawingml/2006/main">
            <a:r>
              <a:t>P(s).</a:t>
            </a:r>
          </a:p>
          <a:p xmlns:a="http://schemas.openxmlformats.org/drawingml/2006/main">
            <a:r>
              <a:t>Viterbi dynamic programming returns the most probable token sequence. (6) (2)</a:t>
            </a:r>
          </a:p>
          <a:p xmlns:a="http://schemas.openxmlformats.org/drawingml/2006/main">
            <a:r>
              <a:t>Department of Mathematics, Sun Yat-sen University Baseline October 10, 2026 4/29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 Unigram: A Two-Round EM Example</a:t>
            </a:r>
          </a:p>
          <a:p xmlns:a="http://schemas.openxmlformats.org/drawingml/2006/main">
            <a:r>
              <a:t>Setup: one training string ab; pieces a, b, ab; initially p(a) = p(b) = p(ab) = 1/3 .</a:t>
            </a:r>
          </a:p>
          <a:p xmlns:a="http://schemas.openxmlformats.org/drawingml/2006/main">
            <a:r>
              <a:t>E step: segmentation likelihoods and posteriors</a:t>
            </a:r>
          </a:p>
          <a:p xmlns:a="http://schemas.openxmlformats.org/drawingml/2006/main">
            <a:r>
              <a:t>Round (a, b) likelihood ab</a:t>
            </a:r>
          </a:p>
          <a:p xmlns:a="http://schemas.openxmlformats.org/drawingml/2006/main">
            <a:r>
              <a:t>likelihood</a:t>
            </a:r>
          </a:p>
          <a:p xmlns:a="http://schemas.openxmlformats.org/drawingml/2006/main">
            <a:r>
              <a:t>P(x) Posterior: (a, b) / ab</a:t>
            </a:r>
          </a:p>
          <a:p xmlns:a="http://schemas.openxmlformats.org/drawingml/2006/main">
            <a:r>
              <a:t>1 1/3 × 1/3 = 1/9 1/3 = 3/9 4/9 1/4 = 0 .25 / 3/4 = 0 .75</a:t>
            </a:r>
          </a:p>
          <a:p xmlns:a="http://schemas.openxmlformats.org/drawingml/2006/main">
            <a:r>
              <a:t>2 0.2 × 0.2 = 0 .04 0 .6 0.64 0 .0625 / 0.9375</a:t>
            </a:r>
          </a:p>
          <a:p xmlns:a="http://schemas.openxmlformats.org/drawingml/2006/main">
            <a:r>
              <a:t>M step: expected counts and normalized probabilities</a:t>
            </a:r>
          </a:p>
          <a:p xmlns:a="http://schemas.openxmlformats.org/drawingml/2006/main">
            <a:r>
              <a:t>Round E[na], E[nb], E[nab] Total p(a), p(b), p(ab)</a:t>
            </a:r>
          </a:p>
          <a:p xmlns:a="http://schemas.openxmlformats.org/drawingml/2006/main">
            <a:r>
              <a:t>1 0.25, 0.25, 0.75 1.25 0 .2, 0.2, 0.6</a:t>
            </a:r>
          </a:p>
          <a:p xmlns:a="http://schemas.openxmlformats.org/drawingml/2006/main">
            <a:r>
              <a:t>2 0.0625, 0.0625, 0.9375 1 .0625 1/17 , 1/17, 15/17</a:t>
            </a:r>
          </a:p>
          <a:p xmlns:a="http://schemas.openxmlformats.org/drawingml/2006/main">
            <a:r>
              <a:t>≈ 0.0588, 0.0588, 0.8824</a:t>
            </a:r>
          </a:p>
          <a:p xmlns:a="http://schemas.openxmlformats.org/drawingml/2006/main">
            <a:r>
              <a:t>P(x) =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s∈S(x)</a:t>
            </a:r>
          </a:p>
          <a:p xmlns:a="http://schemas.openxmlformats.org/drawingml/2006/main">
            <a:r>
              <a:t>∏</a:t>
            </a:r>
          </a:p>
          <a:p xmlns:a="http://schemas.openxmlformats.org/drawingml/2006/main">
            <a:r>
              <a:t>i</a:t>
            </a:r>
          </a:p>
          <a:p xmlns:a="http://schemas.openxmlformats.org/drawingml/2006/main">
            <a:r>
              <a:t>p(si), p(v) = E[nv]∑</a:t>
            </a:r>
          </a:p>
          <a:p xmlns:a="http://schemas.openxmlformats.org/drawingml/2006/main">
            <a:r>
              <a:t>u E[nu] .</a:t>
            </a:r>
          </a:p>
          <a:p xmlns:a="http://schemas.openxmlformats.org/drawingml/2006/main">
            <a:r>
              <a:t>For this one-string example, p(ab) → 1 and p(a), p(b) → 0: EM favors the whole piece</a:t>
            </a:r>
          </a:p>
          <a:p xmlns:a="http://schemas.openxmlformats.org/drawingml/2006/main">
            <a:r>
              <a:t>ab. Low-contribution pieces become pruning candidates; required characters remain</a:t>
            </a:r>
          </a:p>
          <a:p xmlns:a="http://schemas.openxmlformats.org/drawingml/2006/main">
            <a:r>
              <a:t>protected. (6)</a:t>
            </a:r>
          </a:p>
          <a:p xmlns:a="http://schemas.openxmlformats.org/drawingml/2006/main">
            <a:r>
              <a:t>Department of Mathematics, Sun Yat-sen University Baseline October 10, 2026 5/29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Our Two Routes: Contribution and Prior Art</a:t>
            </a:r>
          </a:p>
          <a:p xmlns:a="http://schemas.openxmlformats.org/drawingml/2006/main">
            <a:r>
              <a:t>Dimension Math-atom BPE Boundary AST</a:t>
            </a:r>
          </a:p>
          <a:p xmlns:a="http://schemas.openxmlformats.org/drawingml/2006/main">
            <a:r>
              <a:t>Vocabulary Fit-derived</a:t>
            </a:r>
          </a:p>
          <a:p xmlns:a="http://schemas.openxmlformats.org/drawingml/2006/main">
            <a:r>
              <a:t>complete-command/Unicode atoms;</a:t>
            </a:r>
          </a:p>
          <a:p xmlns:a="http://schemas.openxmlformats.org/drawingml/2006/main">
            <a:r>
              <a:t>original BPE.</a:t>
            </a:r>
          </a:p>
          <a:p xmlns:a="http://schemas.openxmlformats.org/drawingml/2006/main">
            <a:r>
              <a:t>Exactly the same byte vocabulary</a:t>
            </a:r>
          </a:p>
          <a:p xmlns:a="http://schemas.openxmlformats.org/drawingml/2006/main">
            <a:r>
              <a:t>and ID budget.</a:t>
            </a:r>
          </a:p>
          <a:p xmlns:a="http://schemas.openxmlformats.org/drawingml/2006/main">
            <a:r>
              <a:t>Segmentation Original learned BPE merge order. Minimum additive</a:t>
            </a:r>
          </a:p>
          <a:p xmlns:a="http://schemas.openxmlformats.org/drawingml/2006/main">
            <a:r>
              <a:t>token/tree/boundary cost on a legal</a:t>
            </a:r>
          </a:p>
          <a:p xmlns:a="http://schemas.openxmlformats.org/drawingml/2006/main">
            <a:r>
              <a:t>source graph.</a:t>
            </a:r>
          </a:p>
          <a:p xmlns:a="http://schemas.openxmlformats.org/drawingml/2006/main">
            <a:r>
              <a:t>Mathematical</a:t>
            </a:r>
          </a:p>
          <a:p xmlns:a="http://schemas.openxmlformats.org/drawingml/2006/main">
            <a:r>
              <a:t>prior</a:t>
            </a:r>
          </a:p>
          <a:p xmlns:a="http://schemas.openxmlformats.org/drawingml/2006/main">
            <a:r>
              <a:t>Lexical units observed in training. Lexical units plus a restricted source</a:t>
            </a:r>
          </a:p>
          <a:p xmlns:a="http://schemas.openxmlformats.org/drawingml/2006/main">
            <a:r>
              <a:t>parser.</a:t>
            </a:r>
          </a:p>
          <a:p xmlns:a="http://schemas.openxmlformats.org/drawingml/2006/main">
            <a:r>
              <a:t>Deployment Native reversible codec +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Fused native trie traversal and</a:t>
            </a:r>
          </a:p>
          <a:p xmlns:a="http://schemas.openxmlformats.org/drawingml/2006/main">
            <a:r>
              <a:t>dynamic programming.</a:t>
            </a:r>
          </a:p>
          <a:p xmlns:a="http://schemas.openxmlformats.org/drawingml/2006/main">
            <a:r>
              <a:t>Novelty boundary A reproducible domain-specific</a:t>
            </a:r>
          </a:p>
          <a:p xmlns:a="http://schemas.openxmlformats.org/drawingml/2006/main">
            <a:r>
              <a:t>training recipe.</a:t>
            </a:r>
          </a:p>
          <a:p xmlns:a="http://schemas.openxmlformats.org/drawingml/2006/main">
            <a:r>
              <a:t>A tested structural trade-off; shortest</a:t>
            </a:r>
          </a:p>
          <a:p xmlns:a="http://schemas.openxmlformats.org/drawingml/2006/main">
            <a:r>
              <a:t>paths and AST ideas are not new.</a:t>
            </a:r>
          </a:p>
          <a:p xmlns:a="http://schemas.openxmlformats.org/drawingml/2006/main">
            <a:r>
              <a:t>Central comparison</a:t>
            </a:r>
          </a:p>
          <a:p xmlns:a="http://schemas.openxmlformats.org/drawingml/2006/main">
            <a:r>
              <a:t>Holding the dictionary fixed isolates the effect of the structural segmentation rule.</a:t>
            </a:r>
          </a:p>
          <a:p xmlns:a="http://schemas.openxmlformats.org/drawingml/2006/main">
            <a:r>
              <a:t>Comparing against generic tokenizers instead measures the complete specialized system.</a:t>
            </a:r>
          </a:p>
          <a:p xmlns:a="http://schemas.openxmlformats.org/drawingml/2006/main">
            <a:r>
              <a:t>(7) (8) (9)</a:t>
            </a:r>
          </a:p>
          <a:p xmlns:a="http://schemas.openxmlformats.org/drawingml/2006/main">
            <a:r>
              <a:t>Department of Mathematics, Sun Yat-sen University Related Work October 10, 2026 6/29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</a:t>
            </a:r>
          </a:p>
          <a:p xmlns:a="http://schemas.openxmlformats.org/drawingml/2006/main">
            <a:r>
              <a:t>Source Accepted</a:t>
            </a:r>
          </a:p>
          <a:p xmlns:a="http://schemas.openxmlformats.org/drawingml/2006/main">
            <a:r>
              <a:t>formulas</a:t>
            </a:r>
          </a:p>
          <a:p xmlns:a="http://schemas.openxmlformats.org/drawingml/2006/main">
            <a:r>
              <a:t>Source link</a:t>
            </a:r>
          </a:p>
          <a:p xmlns:a="http://schemas.openxmlformats.org/drawingml/2006/main">
            <a:r>
              <a:t>arXiv (pre-2020</a:t>
            </a:r>
          </a:p>
          <a:p xmlns:a="http://schemas.openxmlformats.org/drawingml/2006/main">
            <a:r>
              <a:t>papers)</a:t>
            </a:r>
          </a:p>
          <a:p xmlns:a="http://schemas.openxmlformats.org/drawingml/2006/main">
            <a:r>
              <a:t>51,229 arxiv.org</a:t>
            </a:r>
          </a:p>
          <a:p xmlns:a="http://schemas.openxmlformats.org/drawingml/2006/main">
            <a:r>
              <a:t>OpenAI math</a:t>
            </a:r>
          </a:p>
          <a:p xmlns:a="http://schemas.openxmlformats.org/drawingml/2006/main">
            <a:r>
              <a:t>repository</a:t>
            </a:r>
          </a:p>
          <a:p xmlns:a="http://schemas.openxmlformats.org/drawingml/2006/main">
            <a:r>
              <a:t>2,810 github.com/openai/math</a:t>
            </a:r>
          </a:p>
          <a:p xmlns:a="http://schemas.openxmlformats.org/drawingml/2006/main">
            <a:r>
              <a:t>FunGrim 1,889 github.com/fredrik-johansson/fungrim</a:t>
            </a:r>
          </a:p>
          <a:p xmlns:a="http://schemas.openxmlformats.org/drawingml/2006/main">
            <a:r>
              <a:t>SymPy 72 github.com/sympy/sympy</a:t>
            </a:r>
          </a:p>
          <a:p xmlns:a="http://schemas.openxmlformats.org/drawingml/2006/main">
            <a:r>
              <a:t>Construction process</a:t>
            </a:r>
          </a:p>
          <a:p xmlns:a="http://schemas.openxmlformats.org/drawingml/2006/main">
            <a:r>
              <a:t>Retrieve sources Extract formulas Filter and validate Deduplicate Classify and split</a:t>
            </a:r>
          </a:p>
          <a:p xmlns:a="http://schemas.openxmlformats.org/drawingml/2006/main">
            <a:r>
              <a:t>Department of Mathematics, Sun Yat-sen University Dataset October 10, 2026 7/29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</a:t>
            </a:r>
          </a:p>
          <a:p xmlns:a="http://schemas.openxmlformats.org/drawingml/2006/main">
            <a:r>
              <a:t>Department of Mathematics, Sun Yat-sen University Dataset October 10, 2026 8/29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</a:t>
            </a:r>
          </a:p>
          <a:p xmlns:a="http://schemas.openxmlformats.org/drawingml/2006/main">
            <a:r>
              <a:t>Formula types</a:t>
            </a:r>
          </a:p>
          <a:p xmlns:a="http://schemas.openxmlformats.org/drawingml/2006/main">
            <a:r>
              <a:t>Formula type Count Formula type Count</a:t>
            </a:r>
          </a:p>
          <a:p xmlns:a="http://schemas.openxmlformats.org/drawingml/2006/main">
            <a:r>
              <a:t>analysis 20,233 geometry /</a:t>
            </a:r>
          </a:p>
          <a:p xmlns:a="http://schemas.openxmlformats.org/drawingml/2006/main">
            <a:r>
              <a:t>topology</a:t>
            </a:r>
          </a:p>
          <a:p xmlns:a="http://schemas.openxmlformats.org/drawingml/2006/main">
            <a:r>
              <a:t>9,135</a:t>
            </a:r>
          </a:p>
          <a:p xmlns:a="http://schemas.openxmlformats.org/drawingml/2006/main">
            <a:r>
              <a:t>combinatorics 5,563 algebra 4,431</a:t>
            </a:r>
          </a:p>
          <a:p xmlns:a="http://schemas.openxmlformats.org/drawingml/2006/main">
            <a:r>
              <a:t>number / theory 4,273 mathematical /</a:t>
            </a:r>
          </a:p>
          <a:p xmlns:a="http://schemas.openxmlformats.org/drawingml/2006/main">
            <a:r>
              <a:t>physics</a:t>
            </a:r>
          </a:p>
          <a:p xmlns:a="http://schemas.openxmlformats.org/drawingml/2006/main">
            <a:r>
              <a:t>3,850</a:t>
            </a:r>
          </a:p>
          <a:p xmlns:a="http://schemas.openxmlformats.org/drawingml/2006/main">
            <a:r>
              <a:t>optimization 3,211 probability 3,171</a:t>
            </a:r>
          </a:p>
          <a:p xmlns:a="http://schemas.openxmlformats.org/drawingml/2006/main">
            <a:r>
              <a:t>statistics 1,056 logic 662</a:t>
            </a:r>
          </a:p>
          <a:p xmlns:a="http://schemas.openxmlformats.org/drawingml/2006/main">
            <a:r>
              <a:t>pde 356 ode 46</a:t>
            </a:r>
          </a:p>
          <a:p xmlns:a="http://schemas.openxmlformats.org/drawingml/2006/main">
            <a:r>
              <a:t>linear / algebra 13</a:t>
            </a:r>
          </a:p>
          <a:p xmlns:a="http://schemas.openxmlformats.org/drawingml/2006/main">
            <a:r>
              <a:t>Provenance labels</a:t>
            </a:r>
          </a:p>
          <a:p xmlns:a="http://schemas.openxmlformats.org/drawingml/2006/main">
            <a:r>
              <a:t>Provenance label Formulas</a:t>
            </a:r>
          </a:p>
          <a:p xmlns:a="http://schemas.openxmlformats.org/drawingml/2006/main">
            <a:r>
              <a:t>Historical human 51,229</a:t>
            </a:r>
          </a:p>
          <a:p xmlns:a="http://schemas.openxmlformats.org/drawingml/2006/main">
            <a:r>
              <a:t>Possible mixed 2,810</a:t>
            </a:r>
          </a:p>
          <a:p xmlns:a="http://schemas.openxmlformats.org/drawingml/2006/main">
            <a:r>
              <a:t>Unknown 1,961</a:t>
            </a:r>
          </a:p>
          <a:p xmlns:a="http://schemas.openxmlformats.org/drawingml/2006/main">
            <a:r>
              <a:t>Fully AI generated 0</a:t>
            </a:r>
          </a:p>
          <a:p xmlns:a="http://schemas.openxmlformats.org/drawingml/2006/main">
            <a:r>
              <a:t>Complexity classes</a:t>
            </a:r>
          </a:p>
          <a:p xmlns:a="http://schemas.openxmlformats.org/drawingml/2006/main">
            <a:r>
              <a:t>Simple Complex</a:t>
            </a:r>
          </a:p>
          <a:p xmlns:a="http://schemas.openxmlformats.org/drawingml/2006/main">
            <a:r>
              <a:t>37,400 18,600</a:t>
            </a:r>
          </a:p>
          <a:p xmlns:a="http://schemas.openxmlformats.org/drawingml/2006/main">
            <a:r>
              <a:t>Complexity score</a:t>
            </a:r>
          </a:p>
          <a:p xmlns:a="http://schemas.openxmlformats.org/drawingml/2006/main">
            <a:r>
              <a:t>s = .40¯L + .20¯C + .15 ¯D + .15¯S + .10 ¯O, ¯z = min(z/z0, 2).</a:t>
            </a:r>
          </a:p>
          <a:p xmlns:a="http://schemas.openxmlformats.org/drawingml/2006/main">
            <a:r>
              <a:t>L: lexemes; C: command types; D: nesting; S: symbol types; O: operators.</a:t>
            </a:r>
          </a:p>
          <a:p xmlns:a="http://schemas.openxmlformats.org/drawingml/2006/main">
            <a:r>
              <a:t>Normalizers (L0, C0, D0, S0, O0) = (60 , 6, 3, 18, 12); complex iff s ≥ .65.</a:t>
            </a:r>
          </a:p>
          <a:p xmlns:a="http://schemas.openxmlformats.org/drawingml/2006/main">
            <a:r>
              <a:t>Example: 1</a:t>
            </a:r>
          </a:p>
          <a:p xmlns:a="http://schemas.openxmlformats.org/drawingml/2006/main">
            <a:r>
              <a:t>sa has (L, C, D, S, O) = (9 , 1, 1, 5, 2), hence s ≈ 0.202 &lt; 0.65: simple.</a:t>
            </a:r>
          </a:p>
          <a:p xmlns:a="http://schemas.openxmlformats.org/drawingml/2006/main">
            <a:r>
              <a:t>Train: 36,615 formulas; validation: 7,693; test: 11,692.</a:t>
            </a:r>
          </a:p>
          <a:p xmlns:a="http://schemas.openxmlformats.org/drawingml/2006/main">
            <a:r>
              <a:t>Department of Mathematics, Sun Yat-sen University Dataset October 10, 2026 9/29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Learning a Mathematical Lexical Alphabet</a:t>
            </a:r>
          </a:p>
          <a:p xmlns:a="http://schemas.openxmlformats.org/drawingml/2006/main">
            <a:r>
              <a:t>Training alphabet</a:t>
            </a:r>
          </a:p>
          <a:p xmlns:a="http://schemas.openxmlformats.org/drawingml/2006/main">
            <a:r>
              <a:t>A = {all 256 bytes } ∪ Top384{observed complete commands / Unicode units }.</a:t>
            </a:r>
          </a:p>
          <a:p xmlns:a="http://schemas.openxmlformats.org/drawingml/2006/main">
            <a:r>
              <a:t>Atoms are derived from fit records only, ranked by frequency with deterministic tie rules.</a:t>
            </a:r>
          </a:p>
          <a:p xmlns:a="http://schemas.openxmlformats.org/drawingml/2006/main">
            <a:r>
              <a:t>The actual primitive counts are 596 (broad) and 495 (specialized).</a:t>
            </a:r>
          </a:p>
          <a:p xmlns:a="http://schemas.openxmlformats.org/drawingml/2006/main">
            <a:r>
              <a:t>Stage Implementation Budget accounting</a:t>
            </a:r>
          </a:p>
          <a:p xmlns:a="http://schemas.openxmlformats.org/drawingml/2006/main">
            <a:r>
              <a:t>Reversible codec Map observed lexical units to</a:t>
            </a:r>
          </a:p>
          <a:p xmlns:a="http://schemas.openxmlformats.org/drawingml/2006/main">
            <a:r>
              <a:t>private-use symbols.</a:t>
            </a:r>
          </a:p>
          <a:p xmlns:a="http://schemas.openxmlformats.org/drawingml/2006/main">
            <a:r>
              <a:t>One primitive ID per atom; unknown</a:t>
            </a:r>
          </a:p>
          <a:p xmlns:a="http://schemas.openxmlformats.org/drawingml/2006/main">
            <a:r>
              <a:t>strings retain byte coverage.</a:t>
            </a:r>
          </a:p>
          <a:p xmlns:a="http://schemas.openxmlformats.org/drawingml/2006/main">
            <a:r>
              <a:t>Vocabulary</a:t>
            </a:r>
          </a:p>
          <a:p xmlns:a="http://schemas.openxmlformats.org/drawingml/2006/main">
            <a:r>
              <a:t>training</a:t>
            </a:r>
          </a:p>
          <a:p xmlns:a="http://schemas.openxmlformats.org/drawingml/2006/main">
            <a:r>
              <a:t>Original HF BPE on fit + the</a:t>
            </a:r>
          </a:p>
          <a:p xmlns:a="http://schemas.openxmlformats.org/drawingml/2006/main">
            <a:r>
              <a:t>allowed 512-record auxiliary pool.</a:t>
            </a:r>
          </a:p>
          <a:p xmlns:a="http://schemas.openxmlformats.org/drawingml/2006/main">
            <a:r>
              <a:t>Total IDs capped at 1,024 or 2,048.</a:t>
            </a:r>
          </a:p>
          <a:p xmlns:a="http://schemas.openxmlformats.org/drawingml/2006/main">
            <a:r>
              <a:t>Inference Native lexical codec, then original</a:t>
            </a:r>
          </a:p>
          <a:p xmlns:a="http://schemas.openxmlformats.org/drawingml/2006/main">
            <a:r>
              <a:t>Rust BPE.</a:t>
            </a:r>
          </a:p>
          <a:p xmlns:a="http://schemas.openxmlformats.org/drawingml/2006/main">
            <a:r>
              <a:t>No AST path search and no policy</a:t>
            </a:r>
          </a:p>
          <a:p xmlns:a="http://schemas.openxmlformats.org/drawingml/2006/main">
            <a:r>
              <a:t>network.</a:t>
            </a:r>
          </a:p>
          <a:p xmlns:a="http://schemas.openxmlformats.org/drawingml/2006/main">
            <a:r>
              <a:t>Why this route remains</a:t>
            </a:r>
          </a:p>
          <a:p xmlns:a="http://schemas.openxmlformats.org/drawingml/2006/main">
            <a:r>
              <a:t>It is the simple, fast mathematical reference against which extra structural machinery</a:t>
            </a:r>
          </a:p>
          <a:p xmlns:a="http://schemas.openxmlformats.org/drawingml/2006/main">
            <a:r>
              <a:t>must justify itself. No manually enumerated command vocabulary is required. (1) (7)</a:t>
            </a:r>
          </a:p>
          <a:p xmlns:a="http://schemas.openxmlformats.org/drawingml/2006/main">
            <a:r>
              <a:t>Department of Mathematics, Sun Yat-sen University Math-Atom BPE October 10, 2026 10/29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1: Exact Source Fidelity and Its Limits</a:t>
            </a:r>
          </a:p>
          <a:p xmlns:a="http://schemas.openxmlformats.org/drawingml/2006/main">
            <a:r>
              <a:t>Raw-string contract</a:t>
            </a:r>
          </a:p>
          <a:p xmlns:a="http://schemas.openxmlformats.org/drawingml/2006/main">
            <a:r>
              <a:t>For every evaluated x, decode(encode(x)) = x. The ordered token byte payloads also</a:t>
            </a:r>
          </a:p>
          <a:p xmlns:a="http://schemas.openxmlformats.org/drawingml/2006/main">
            <a:r>
              <a:t>concatenate to UTF8(x) exactly. No whitespace normalization is permitted.</a:t>
            </a:r>
          </a:p>
          <a:p xmlns:a="http://schemas.openxmlformats.org/drawingml/2006/main">
            <a:r>
              <a:t>Case Behavior What is not guaranteed</a:t>
            </a:r>
          </a:p>
          <a:p xmlns:a="http://schemas.openxmlformats.org/drawingml/2006/main">
            <a:r>
              <a:t>Seen command /</a:t>
            </a:r>
          </a:p>
          <a:p xmlns:a="http://schemas.openxmlformats.org/drawingml/2006/main">
            <a:r>
              <a:t>Unicode atom</a:t>
            </a:r>
          </a:p>
          <a:p xmlns:a="http://schemas.openxmlformats.org/drawingml/2006/main">
            <a:r>
              <a:t>Codec retains the complete observed</a:t>
            </a:r>
          </a:p>
          <a:p xmlns:a="http://schemas.openxmlformats.org/drawingml/2006/main">
            <a:r>
              <a:t>unit.</a:t>
            </a:r>
          </a:p>
          <a:p xmlns:a="http://schemas.openxmlformats.org/drawingml/2006/main">
            <a:r>
              <a:t>A larger token can still span an</a:t>
            </a:r>
          </a:p>
          <a:p xmlns:a="http://schemas.openxmlformats.org/drawingml/2006/main">
            <a:r>
              <a:t>argument boundary.</a:t>
            </a:r>
          </a:p>
          <a:p xmlns:a="http://schemas.openxmlformats.org/drawingml/2006/main">
            <a:r>
              <a:t>Unseen command Explicit byte coverage; no</a:t>
            </a:r>
          </a:p>
          <a:p xmlns:a="http://schemas.openxmlformats.org/drawingml/2006/main">
            <a:r>
              <a:t>unknown-token deletion.</a:t>
            </a:r>
          </a:p>
          <a:p xmlns:a="http://schemas.openxmlformats.org/drawingml/2006/main">
            <a:r>
              <a:t>Every novel command need not be a</a:t>
            </a:r>
          </a:p>
          <a:p xmlns:a="http://schemas.openxmlformats.org/drawingml/2006/main">
            <a:r>
              <a:t>single token.</a:t>
            </a:r>
          </a:p>
          <a:p xmlns:a="http://schemas.openxmlformats.org/drawingml/2006/main">
            <a:r>
              <a:t>Spacing / multiline</a:t>
            </a:r>
          </a:p>
          <a:p xmlns:a="http://schemas.openxmlformats.org/drawingml/2006/main">
            <a:r>
              <a:t>source</a:t>
            </a:r>
          </a:p>
          <a:p xmlns:a="http://schemas.openxmlformats.org/drawingml/2006/main">
            <a:r>
              <a:t>Bytes are preserved exactly. Layout variants need not receive</a:t>
            </a:r>
          </a:p>
          <a:p xmlns:a="http://schemas.openxmlformats.org/drawingml/2006/main">
            <a:r>
              <a:t>identical token sequences.</a:t>
            </a:r>
          </a:p>
          <a:p xmlns:a="http://schemas.openxmlformats.org/drawingml/2006/main">
            <a:r>
              <a:t>Numbers /</a:t>
            </a:r>
          </a:p>
          <a:p xmlns:a="http://schemas.openxmlformats.org/drawingml/2006/main">
            <a:r>
              <a:t>identifiers</a:t>
            </a:r>
          </a:p>
          <a:p xmlns:a="http://schemas.openxmlformats.org/drawingml/2006/main">
            <a:r>
              <a:t>BPE learns recurrent sequences. Numeric magnitude is not encoded</a:t>
            </a:r>
          </a:p>
          <a:p xmlns:a="http://schemas.openxmlformats.org/drawingml/2006/main">
            <a:r>
              <a:t>continuously.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High command integrity reflects observed alphabet coverage, not universal LaTeX</a:t>
            </a:r>
          </a:p>
          <a:p xmlns:a="http://schemas.openxmlformats.org/drawingml/2006/main">
            <a:r>
              <a:t>grammar coverage or a learned theorem representation. (10) (11)</a:t>
            </a:r>
          </a:p>
          <a:p xmlns:a="http://schemas.openxmlformats.org/drawingml/2006/main">
            <a:r>
              <a:t>Department of Mathematics, Sun Yat-sen University Math-Atom BPE October 10, 2026 11/29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Source Structure as a Segmentation Cost</a:t>
            </a:r>
          </a:p>
          <a:p xmlns:a="http://schemas.openxmlformats.org/drawingml/2006/main">
            <a:r>
              <a:t>Same vocabulary, different path</a:t>
            </a:r>
          </a:p>
          <a:p xmlns:a="http://schemas.openxmlformats.org/drawingml/2006/main">
            <a:r>
              <a:t>An edge (a, b) matches xa:b ∈ V at permitted lexical endpoints. The restricted parser</a:t>
            </a:r>
          </a:p>
          <a:p xmlns:a="http://schemas.openxmlformats.org/drawingml/2006/main">
            <a:r>
              <a:t>supplies source spans and matched brace-content endpoints.</a:t>
            </a:r>
          </a:p>
          <a:p xmlns:a="http://schemas.openxmlformats.org/drawingml/2006/main">
            <a:r>
              <a:t>Additive objective</a:t>
            </a:r>
          </a:p>
          <a:p xmlns:a="http://schemas.openxmlformats.org/drawingml/2006/main">
            <a:r>
              <a:t>z∗ = arg min</a:t>
            </a:r>
          </a:p>
          <a:p xmlns:a="http://schemas.openxmlformats.org/drawingml/2006/main">
            <a:r>
              <a:t>z∈P(x,V)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|z| + λ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cT(e) + µ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e∈z</a:t>
            </a:r>
          </a:p>
          <a:p xmlns:a="http://schemas.openxmlformats.org/drawingml/2006/main">
            <a:r>
              <a:t>cB(e)</a:t>
            </a:r>
          </a:p>
          <a:p xmlns:a="http://schemas.openxmlformats.org/drawingml/2006/main">
            <a:r>
              <a:t>]</a:t>
            </a:r>
          </a:p>
          <a:p xmlns:a="http://schemas.openxmlformats.org/drawingml/2006/main">
            <a:r>
              <a:t>.</a:t>
            </a:r>
          </a:p>
          <a:p xmlns:a="http://schemas.openxmlformats.org/drawingml/2006/main">
            <a:r>
              <a:t>cT: token partially crosses a native source span.</a:t>
            </a:r>
          </a:p>
          <a:p xmlns:a="http://schemas.openxmlformats.org/drawingml/2006/main">
            <a:r>
              <a:t>cB: number of brace-content endpoints strictly inside the token.</a:t>
            </a:r>
          </a:p>
          <a:p xmlns:a="http://schemas.openxmlformats.org/drawingml/2006/main">
            <a:r>
              <a:t>Development selection: λ = .25, µ = .30.</a:t>
            </a:r>
          </a:p>
          <a:p xmlns:a="http://schemas.openxmlformats.org/drawingml/2006/main">
            <a:r>
              <a:t>A source-tree method</a:t>
            </a:r>
          </a:p>
          <a:p xmlns:a="http://schemas.openxmlformats.org/drawingml/2006/main">
            <a:r>
              <a:t>The parser is restricted and falls back to source syntax. It is not a full TeX interpreter or</a:t>
            </a:r>
          </a:p>
          <a:p xmlns:a="http://schemas.openxmlformats.org/drawingml/2006/main">
            <a:r>
              <a:t>a semantic operator tree for arbitrary mathematics. (8) (9)</a:t>
            </a:r>
          </a:p>
          <a:p xmlns:a="http://schemas.openxmlformats.org/drawingml/2006/main">
            <a:r>
              <a:t>Department of Mathematics, Sun Yat-sen University Boundary AST October 10, 2026 12/29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Exact Dynamic Programming on a Fixed Graph</a:t>
            </a:r>
          </a:p>
          <a:p xmlns:a="http://schemas.openxmlformats.org/drawingml/2006/main">
            <a:r>
              <a:t>Backward recurrence</a:t>
            </a:r>
          </a:p>
          <a:p xmlns:a="http://schemas.openxmlformats.org/drawingml/2006/main">
            <a:r>
              <a:t>D[n] = 0 , D[a] = min</a:t>
            </a:r>
          </a:p>
          <a:p xmlns:a="http://schemas.openxmlformats.org/drawingml/2006/main">
            <a:r>
              <a:t>(a,b)∈E</a:t>
            </a:r>
          </a:p>
          <a:p xmlns:a="http://schemas.openxmlformats.org/drawingml/2006/main">
            <a:r>
              <a:t>{1 + λcT(a, b) + µcB(a, b) + D[b]}.</a:t>
            </a:r>
          </a:p>
          <a:p xmlns:a="http://schemas.openxmlformats.org/drawingml/2006/main">
            <a:r>
              <a:t>A byte trie enumerates matching dictionary edges. A stored best endpoint reconstructs</a:t>
            </a:r>
          </a:p>
          <a:p xmlns:a="http://schemas.openxmlformats.org/drawingml/2006/main">
            <a:r>
              <a:t>the token sequence. This is exact for the specified legal graph and additive objective.</a:t>
            </a:r>
          </a:p>
          <a:p xmlns:a="http://schemas.openxmlformats.org/drawingml/2006/main">
            <a:r>
              <a:t>Design Mechanism Reason</a:t>
            </a:r>
          </a:p>
          <a:p xmlns:a="http://schemas.openxmlformats.org/drawingml/2006/main">
            <a:r>
              <a:t>Lexical mask Suppress cuts inside covered</a:t>
            </a:r>
          </a:p>
          <a:p xmlns:a="http://schemas.openxmlformats.org/drawingml/2006/main">
            <a:r>
              <a:t>commands / codepoints.</a:t>
            </a:r>
          </a:p>
          <a:p xmlns:a="http://schemas.openxmlformats.org/drawingml/2006/main">
            <a:r>
              <a:t>Keep complete observed primitive</a:t>
            </a:r>
          </a:p>
          <a:p xmlns:a="http://schemas.openxmlformats.org/drawingml/2006/main">
            <a:r>
              <a:t>units.</a:t>
            </a:r>
          </a:p>
          <a:p xmlns:a="http://schemas.openxmlformats.org/drawingml/2006/main">
            <a:r>
              <a:t>Tree cost Endpoint sweeps detect partial span</a:t>
            </a:r>
          </a:p>
          <a:p xmlns:a="http://schemas.openxmlformats.org/drawingml/2006/main">
            <a:r>
              <a:t>crossings.</a:t>
            </a:r>
          </a:p>
          <a:p xmlns:a="http://schemas.openxmlformats.org/drawingml/2006/main">
            <a:r>
              <a:t>Avoid testing every token against</a:t>
            </a:r>
          </a:p>
          <a:p xmlns:a="http://schemas.openxmlformats.org/drawingml/2006/main">
            <a:r>
              <a:t>every span.</a:t>
            </a:r>
          </a:p>
          <a:p xmlns:a="http://schemas.openxmlformats.org/drawingml/2006/main">
            <a:r>
              <a:t>Boundary cost Prefix sums count hidden</a:t>
            </a:r>
          </a:p>
          <a:p xmlns:a="http://schemas.openxmlformats.org/drawingml/2006/main">
            <a:r>
              <a:t>brace-content endpoints.</a:t>
            </a:r>
          </a:p>
          <a:p xmlns:a="http://schemas.openxmlformats.org/drawingml/2006/main">
            <a:r>
              <a:t>Recover argument boundaries without</a:t>
            </a:r>
          </a:p>
          <a:p xmlns:a="http://schemas.openxmlformats.org/drawingml/2006/main">
            <a:r>
              <a:t>hard blocking all compression.</a:t>
            </a:r>
          </a:p>
          <a:p xmlns:a="http://schemas.openxmlformats.org/drawingml/2006/main">
            <a:r>
              <a:t>Scope of optimality</a:t>
            </a:r>
          </a:p>
          <a:p xmlns:a="http://schemas.openxmlformats.org/drawingml/2006/main">
            <a:r>
              <a:t>The result is not globally optimal vocabulary learning, and a low source-tree cost does</a:t>
            </a:r>
          </a:p>
          <a:p xmlns:a="http://schemas.openxmlformats.org/drawingml/2006/main">
            <a:r>
              <a:t>not imply low task loss. The shortest-path algorithm itself is established. (8) (12)</a:t>
            </a:r>
          </a:p>
          <a:p xmlns:a="http://schemas.openxmlformats.org/drawingml/2006/main">
            <a:r>
              <a:t>Department of Mathematics, Sun Yat-sen University Boundary AST October 10, 2026 13/29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2: Development Selection and Runtime Cost</a:t>
            </a:r>
          </a:p>
          <a:p xmlns:a="http://schemas.openxmlformats.org/drawingml/2006/main">
            <a:r>
              <a:t>Setting Values / behavior</a:t>
            </a:r>
          </a:p>
          <a:p xmlns:a="http://schemas.openxmlformats.org/drawingml/2006/main">
            <a:r>
              <a:t>Prespecified grid λ ∈ {0, .25, .75}; µ ∈ {0, .05, .15, .30}: 12 candidates.</a:t>
            </a:r>
          </a:p>
          <a:p xmlns:a="http://schemas.openxmlformats.org/drawingml/2006/main">
            <a:r>
              <a:t>Selection criterion Common old-dev utility plus .04 times missing parameter-boundary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Feasibility guard Compression regression at most 1%; boundary recall loss at most 1</a:t>
            </a:r>
          </a:p>
          <a:p xmlns:a="http://schemas.openxmlformats.org/drawingml/2006/main">
            <a:r>
              <a:t>percentage point vs. math-atom BPE.</a:t>
            </a:r>
          </a:p>
          <a:p xmlns:a="http://schemas.openxmlformats.org/drawingml/2006/main">
            <a:r>
              <a:t>Selected setting All four budget/scenario conditions selected .25 / .30 before v8</a:t>
            </a:r>
          </a:p>
          <a:p xmlns:a="http://schemas.openxmlformats.org/drawingml/2006/main">
            <a:r>
              <a:t>scoring.</a:t>
            </a:r>
          </a:p>
          <a:p xmlns:a="http://schemas.openxmlformats.org/drawingml/2006/main">
            <a:r>
              <a:t>Public encoder C frontend + trie + DP; all source parsing is included in throughput.</a:t>
            </a:r>
          </a:p>
          <a:p xmlns:a="http://schemas.openxmlformats.org/drawingml/2006/main">
            <a:r>
              <a:t>Engineering and trade-offs</a:t>
            </a:r>
          </a:p>
          <a:p xmlns:a="http://schemas.openxmlformats.org/drawingml/2006/main">
            <a:r>
              <a:t>Typical lattice work scales with input bytes, maximum piece length and source spans;</a:t>
            </a:r>
          </a:p>
          <a:p xmlns:a="http://schemas.openxmlformats.org/drawingml/2006/main">
            <a:r>
              <a:t>the dense byte trie uses more memory than a compact sparse trie.</a:t>
            </a:r>
          </a:p>
          <a:p xmlns:a="http://schemas.openxmlformats.org/drawingml/2006/main">
            <a:r>
              <a:t>Compared with the older length-first path, the boundary term costs some speed but</a:t>
            </a:r>
          </a:p>
          <a:p xmlns:a="http://schemas.openxmlformats.org/drawingml/2006/main">
            <a:r>
              <a:t>restores much of the parameter-boundary recall.</a:t>
            </a:r>
          </a:p>
          <a:p xmlns:a="http://schemas.openxmlformats.org/drawingml/2006/main">
            <a:r>
              <a:t>Deployment contract</a:t>
            </a:r>
          </a:p>
          <a:p xmlns:a="http://schemas.openxmlformats.org/drawingml/2006/main">
            <a:r>
              <a:t>A frozen dictionary and weights define deterministic IDs. Unknown lexical units use byte</a:t>
            </a:r>
          </a:p>
          <a:p xmlns:a="http://schemas.openxmlformats.org/drawingml/2006/main">
            <a:r>
              <a:t>coverage; supported source parsing has an explicit one-million-byte input limit.</a:t>
            </a:r>
          </a:p>
          <a:p xmlns:a="http://schemas.openxmlformats.org/drawingml/2006/main">
            <a:r>
              <a:t>Department of Mathematics, Sun Yat-sen University Boundary AST October 10, 2026 14/29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Common Inputs, Training Information and Timing</a:t>
            </a:r>
          </a:p>
          <a:p xmlns:a="http://schemas.openxmlformats.org/drawingml/2006/main">
            <a:r>
              <a:t>Axis Controlled implementation</a:t>
            </a:r>
          </a:p>
          <a:p xmlns:a="http://schemas.openxmlformats.org/drawingml/2006/main">
            <a:r>
              <a:t>Vocabulary budgets 1,024 / 2,048 for trained methods; all primitive and reserved IDs</a:t>
            </a:r>
          </a:p>
          <a:p xmlns:a="http://schemas.openxmlformats.org/drawingml/2006/main">
            <a:r>
              <a:t>count.</a:t>
            </a:r>
          </a:p>
          <a:p xmlns:a="http://schemas.openxmlformats.org/drawingml/2006/main">
            <a:r>
              <a:t>Allowed data Identical scenario fit/auxiliary pools; generic trainers receive</a:t>
            </a:r>
          </a:p>
          <a:p xmlns:a="http://schemas.openxmlformats.org/drawingml/2006/main">
            <a:r>
              <a:t>their union.</a:t>
            </a:r>
          </a:p>
          <a:p xmlns:a="http://schemas.openxmlformats.org/drawingml/2006/main">
            <a:r>
              <a:t>Test input Original accepted raw strings; no per-model filtering, truncation</a:t>
            </a:r>
          </a:p>
          <a:p xmlns:a="http://schemas.openxmlformats.org/drawingml/2006/main">
            <a:r>
              <a:t>or normalization.</a:t>
            </a:r>
          </a:p>
          <a:p xmlns:a="http://schemas.openxmlformats.org/drawingml/2006/main">
            <a:r>
              <a:t>Probability calibration Same fit IDs for each scenario; mature models recalibrated for</a:t>
            </a:r>
          </a:p>
          <a:p xmlns:a="http://schemas.openxmlformats.org/drawingml/2006/main">
            <a:r>
              <a:t>broad and specialized separately.</a:t>
            </a:r>
          </a:p>
          <a:p xmlns:a="http://schemas.openxmlformats.org/drawingml/2006/main">
            <a:r>
              <a:t>Timing Seven shuffled/interleaved full public encode/decode runs;</a:t>
            </a:r>
          </a:p>
          <a:p xmlns:a="http://schemas.openxmlformats.org/drawingml/2006/main">
            <a:r>
              <a:t>median throughput; caches cleared.</a:t>
            </a:r>
          </a:p>
          <a:p xmlns:a="http://schemas.openxmlformats.org/drawingml/2006/main">
            <a:r>
              <a:t>Statistical unit Paper groups, not individual formulas copied across seeds.</a:t>
            </a:r>
          </a:p>
          <a:p xmlns:a="http://schemas.openxmlformats.org/drawingml/2006/main">
            <a:r>
              <a:t>Remaining asymmetry</a:t>
            </a:r>
          </a:p>
          <a:p xmlns:a="http://schemas.openxmlformats.org/drawingml/2006/main">
            <a:r>
              <a:t>Historical tuning counts and training wall time differ. Mature vocabulary budgets differ.</a:t>
            </a:r>
          </a:p>
          <a:p xmlns:a="http://schemas.openxmlformats.org/drawingml/2006/main">
            <a:r>
              <a:t>These differences are disclosed rather than described as fully equal compute.</a:t>
            </a:r>
          </a:p>
          <a:p xmlns:a="http://schemas.openxmlformats.org/drawingml/2006/main">
            <a:r>
              <a:t>Department of Mathematics, Sun Yat-sen University Experimental Design October 10, 2026 15/29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Eﬀiciency, Fidelity and Information Measures</a:t>
            </a:r>
          </a:p>
          <a:p xmlns:a="http://schemas.openxmlformats.org/drawingml/2006/main">
            <a:r>
              <a:t>Metric Definition / interpretation</a:t>
            </a:r>
          </a:p>
          <a:p xmlns:a="http://schemas.openxmlformats.org/drawingml/2006/main">
            <a:r>
              <a:t>Paper-macro tokens/byte</a:t>
            </a:r>
          </a:p>
          <a:p xmlns:a="http://schemas.openxmlformats.org/drawingml/2006/main">
            <a:r>
              <a:t>↓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P</a:t>
            </a:r>
          </a:p>
          <a:p xmlns:a="http://schemas.openxmlformats.org/drawingml/2006/main">
            <a:r>
              <a:t>∑</a:t>
            </a:r>
          </a:p>
          <a:p xmlns:a="http://schemas.openxmlformats.org/drawingml/2006/main">
            <a:r>
              <a:t>p Tp/Bp; prevents long papers from dominating the primary</a:t>
            </a:r>
          </a:p>
          <a:p xmlns:a="http://schemas.openxmlformats.org/drawingml/2006/main">
            <a:r>
              <a:t>compression average.</a:t>
            </a:r>
          </a:p>
          <a:p xmlns:a="http://schemas.openxmlformats.org/drawingml/2006/main">
            <a:r>
              <a:t>Length distribution Tokens/formula and 50th/95th/99th percentiles; inspect long-tail</a:t>
            </a:r>
          </a:p>
          <a:p xmlns:a="http://schemas.openxmlformats.org/drawingml/2006/main">
            <a:r>
              <a:t>inflation.</a:t>
            </a:r>
          </a:p>
          <a:p xmlns:a="http://schemas.openxmlformats.org/drawingml/2006/main">
            <a:r>
              <a:t>Exact fidelity Both decoded strings and concatenated raw token payloads equal</a:t>
            </a:r>
          </a:p>
          <a:p xmlns:a="http://schemas.openxmlformats.org/drawingml/2006/main">
            <a:r>
              <a:t>the source.</a:t>
            </a:r>
          </a:p>
          <a:p xmlns:a="http://schemas.openxmlformats.org/drawingml/2006/main">
            <a:r>
              <a:t>Encode / decode speed Raw UTF-8 MiB/s through the complete public interface.</a:t>
            </a:r>
          </a:p>
          <a:p xmlns:a="http://schemas.openxmlformats.org/drawingml/2006/main">
            <a:r>
              <a:t>Fit unigram BPB ↓ −B−1 ∑</a:t>
            </a:r>
          </a:p>
          <a:p xmlns:a="http://schemas.openxmlformats.org/drawingml/2006/main">
            <a:r>
              <a:t>i log2[(ci + α)/(N + α|V|)]; fit-only count model, not LM</a:t>
            </a:r>
          </a:p>
          <a:p xmlns:a="http://schemas.openxmlformats.org/drawingml/2006/main">
            <a:r>
              <a:t>perplexity.</a:t>
            </a:r>
          </a:p>
          <a:p xmlns:a="http://schemas.openxmlformats.org/drawingml/2006/main">
            <a:r>
              <a:t>Information / utilization Renyi eﬀiciency at α = 1, 2, 2.5, 3; used IDs / actual vocabulary.</a:t>
            </a:r>
          </a:p>
          <a:p xmlns:a="http://schemas.openxmlformats.org/drawingml/2006/main">
            <a:r>
              <a:t>Sensitivity</a:t>
            </a:r>
          </a:p>
          <a:p xmlns:a="http://schemas.openxmlformats.org/drawingml/2006/main">
            <a:r>
              <a:t>Report smoothing at .01 / .1 / .5 / 1. Information eﬀiciency and token count measure</a:t>
            </a:r>
          </a:p>
          <a:p xmlns:a="http://schemas.openxmlformats.org/drawingml/2006/main">
            <a:r>
              <a:t>different properties; neither alone proves downstream quality. (12) (13)</a:t>
            </a:r>
          </a:p>
          <a:p xmlns:a="http://schemas.openxmlformats.org/drawingml/2006/main">
            <a:r>
              <a:t>Department of Mathematics, Sun Yat-sen University Evaluation Metrics October 10, 2026 16/29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Structure, Integrity and Robustness</a:t>
            </a:r>
          </a:p>
          <a:p xmlns:a="http://schemas.openxmlformats.org/drawingml/2006/main">
            <a:r>
              <a:t>Metric Definition Evidence boundary</a:t>
            </a:r>
          </a:p>
          <a:p xmlns:a="http://schemas.openxmlformats.org/drawingml/2006/main">
            <a:r>
              <a:t>Command / number</a:t>
            </a:r>
          </a:p>
          <a:p xmlns:a="http://schemas.openxmlformats.org/drawingml/2006/main">
            <a:r>
              <a:t>integrity</a:t>
            </a:r>
          </a:p>
          <a:p xmlns:a="http://schemas.openxmlformats.org/drawingml/2006/main">
            <a:r>
              <a:t>Fraction of reference lexemes with</a:t>
            </a:r>
          </a:p>
          <a:p xmlns:a="http://schemas.openxmlformats.org/drawingml/2006/main">
            <a:r>
              <a:t>no internal token cut.</a:t>
            </a:r>
          </a:p>
          <a:p xmlns:a="http://schemas.openxmlformats.org/drawingml/2006/main">
            <a:r>
              <a:t>Does not require isolation as a</a:t>
            </a:r>
          </a:p>
          <a:p xmlns:a="http://schemas.openxmlformats.org/drawingml/2006/main">
            <a:r>
              <a:t>standalone token.</a:t>
            </a:r>
          </a:p>
          <a:p xmlns:a="http://schemas.openxmlformats.org/drawingml/2006/main">
            <a:r>
              <a:t>Lexical boundary</a:t>
            </a:r>
          </a:p>
          <a:p xmlns:a="http://schemas.openxmlformats.org/drawingml/2006/main">
            <a:r>
              <a:t>P/R/F1</a:t>
            </a:r>
          </a:p>
          <a:p xmlns:a="http://schemas.openxmlformats.org/drawingml/2006/main">
            <a:r>
              <a:t>Token endpoints against reference</a:t>
            </a:r>
          </a:p>
          <a:p xmlns:a="http://schemas.openxmlformats.org/drawingml/2006/main">
            <a:r>
              <a:t>lexical endpoints.</a:t>
            </a:r>
          </a:p>
          <a:p xmlns:a="http://schemas.openxmlformats.org/drawingml/2006/main">
            <a:r>
              <a:t>A byte tokenizer can obtain high</a:t>
            </a:r>
          </a:p>
          <a:p xmlns:a="http://schemas.openxmlformats.org/drawingml/2006/main">
            <a:r>
              <a:t>recall.</a:t>
            </a:r>
          </a:p>
          <a:p xmlns:a="http://schemas.openxmlformats.org/drawingml/2006/main">
            <a:r>
              <a:t>KaTeX crossing rate Tokens partially overlapping a</a:t>
            </a:r>
          </a:p>
          <a:p xmlns:a="http://schemas.openxmlformats.org/drawingml/2006/main">
            <a:r>
              <a:t>reference syntax span / all tokens.</a:t>
            </a:r>
          </a:p>
          <a:p xmlns:a="http://schemas.openxmlformats.org/drawingml/2006/main">
            <a:r>
              <a:t>A whole-formula token can obtain</a:t>
            </a:r>
          </a:p>
          <a:p xmlns:a="http://schemas.openxmlformats.org/drawingml/2006/main">
            <a:r>
              <a:t>low crossing.</a:t>
            </a:r>
          </a:p>
          <a:p xmlns:a="http://schemas.openxmlformats.org/drawingml/2006/main">
            <a:r>
              <a:t>Parameter-boundary</a:t>
            </a:r>
          </a:p>
          <a:p xmlns:a="http://schemas.openxmlformats.org/drawingml/2006/main">
            <a:r>
              <a:t>recall</a:t>
            </a:r>
          </a:p>
          <a:p xmlns:a="http://schemas.openxmlformats.org/drawingml/2006/main">
            <a:r>
              <a:t>pylatexenc group-content</a:t>
            </a:r>
          </a:p>
          <a:p xmlns:a="http://schemas.openxmlformats.org/drawingml/2006/main">
            <a:r>
              <a:t>endpoints retained as token</a:t>
            </a:r>
          </a:p>
          <a:p xmlns:a="http://schemas.openxmlformats.org/drawingml/2006/main">
            <a:r>
              <a:t>boundaries.</a:t>
            </a:r>
          </a:p>
          <a:p xmlns:a="http://schemas.openxmlformats.org/drawingml/2006/main">
            <a:r>
              <a:t>Independent implementation;</a:t>
            </a:r>
          </a:p>
          <a:p xmlns:a="http://schemas.openxmlformats.org/drawingml/2006/main">
            <a:r>
              <a:t>syntax proxy, not semantic gold.</a:t>
            </a:r>
          </a:p>
          <a:p xmlns:a="http://schemas.openxmlformats.org/drawingml/2006/main">
            <a:r>
              <a:t>Robustness Layout token variation; local</a:t>
            </a:r>
          </a:p>
          <a:p xmlns:a="http://schemas.openxmlformats.org/drawingml/2006/main">
            <a:r>
              <a:t>symbol edit effects outside a</a:t>
            </a:r>
          </a:p>
          <a:p xmlns:a="http://schemas.openxmlformats.org/drawingml/2006/main">
            <a:r>
              <a:t>16-byte neighborhood.</a:t>
            </a:r>
          </a:p>
          <a:p xmlns:a="http://schemas.openxmlformats.org/drawingml/2006/main">
            <a:r>
              <a:t>The local edit is not mathematical</a:t>
            </a:r>
          </a:p>
          <a:p xmlns:a="http://schemas.openxmlformats.org/drawingml/2006/main">
            <a:r>
              <a:t>equivalence.</a:t>
            </a:r>
          </a:p>
          <a:p xmlns:a="http://schemas.openxmlformats.org/drawingml/2006/main">
            <a:r>
              <a:t>Coverage is part of the result</a:t>
            </a:r>
          </a:p>
          <a:p xmlns:a="http://schemas.openxmlformats.org/drawingml/2006/main">
            <a:r>
              <a:t>Unicode integrity, parser coverage and probe counts accompany the scores. No formula</a:t>
            </a:r>
          </a:p>
          <a:p xmlns:a="http://schemas.openxmlformats.org/drawingml/2006/main">
            <a:r>
              <a:t>disappears from the common test merely because a diagnostic parser cannot measure it.</a:t>
            </a:r>
          </a:p>
          <a:p xmlns:a="http://schemas.openxmlformats.org/drawingml/2006/main">
            <a:r>
              <a:t>(13) (11)</a:t>
            </a:r>
          </a:p>
          <a:p xmlns:a="http://schemas.openxmlformats.org/drawingml/2006/main">
            <a:r>
              <a:t>Department of Mathematics, Sun Yat-sen University Evaluation Metrics October 10, 2026 17/29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New Review Rounds of the Retained Release</a:t>
            </a:r>
          </a:p>
          <a:p xmlns:a="http://schemas.openxmlformats.org/drawingml/2006/main">
            <a:r>
              <a:t>Round Checks actually executed Scope</a:t>
            </a:r>
          </a:p>
          <a:p xmlns:a="http://schemas.openxmlformats.org/drawingml/2006/main">
            <a:r>
              <a:t>1. Data /</a:t>
            </a:r>
          </a:p>
          <a:p xmlns:a="http://schemas.openxmlformats.org/drawingml/2006/main">
            <a:r>
              <a:t>provenance</a:t>
            </a:r>
          </a:p>
          <a:p xmlns:a="http://schemas.openxmlformats.org/drawingml/2006/main">
            <a:r>
              <a:t>Reclassify every formula; verify file IDs, hash,</a:t>
            </a:r>
          </a:p>
          <a:p xmlns:a="http://schemas.openxmlformats.org/drawingml/2006/main">
            <a:r>
              <a:t>license/origin rules and source-disjoint pools.</a:t>
            </a:r>
          </a:p>
          <a:p xmlns:a="http://schemas.openxmlformats.org/drawingml/2006/main">
            <a:r>
              <a:t>56,000 catalog</a:t>
            </a:r>
          </a:p>
          <a:p xmlns:a="http://schemas.openxmlformats.org/drawingml/2006/main">
            <a:r>
              <a:t>records.</a:t>
            </a:r>
          </a:p>
          <a:p xmlns:a="http://schemas.openxmlformats.org/drawingml/2006/main">
            <a:r>
              <a:t>2. Public-encoder</a:t>
            </a:r>
          </a:p>
          <a:p xmlns:a="http://schemas.openxmlformats.org/drawingml/2006/main">
            <a:r>
              <a:t>replay</a:t>
            </a:r>
          </a:p>
          <a:p xmlns:a="http://schemas.openxmlformats.org/drawingml/2006/main">
            <a:r>
              <a:t>Reload every current model; reconstruct original</a:t>
            </a:r>
          </a:p>
          <a:p xmlns:a="http://schemas.openxmlformats.org/drawingml/2006/main">
            <a:r>
              <a:t>payload; replay length, reference crossings and</a:t>
            </a:r>
          </a:p>
          <a:p xmlns:a="http://schemas.openxmlformats.org/drawingml/2006/main">
            <a:r>
              <a:t>parameter boundaries.</a:t>
            </a:r>
          </a:p>
          <a:p xmlns:a="http://schemas.openxmlformats.org/drawingml/2006/main">
            <a:r>
              <a:t>234,556 formula-result</a:t>
            </a:r>
          </a:p>
          <a:p xmlns:a="http://schemas.openxmlformats.org/drawingml/2006/main">
            <a:r>
              <a:t>rows.</a:t>
            </a:r>
          </a:p>
          <a:p xmlns:a="http://schemas.openxmlformats.org/drawingml/2006/main">
            <a:r>
              <a:t>3. Independent</a:t>
            </a:r>
          </a:p>
          <a:p xmlns:a="http://schemas.openxmlformats.org/drawingml/2006/main">
            <a:r>
              <a:t>aggregation</a:t>
            </a:r>
          </a:p>
          <a:p xmlns:a="http://schemas.openxmlformats.org/drawingml/2006/main">
            <a:r>
              <a:t>Recompute paper averages, integrity and</a:t>
            </a:r>
          </a:p>
          <a:p xmlns:a="http://schemas.openxmlformats.org/drawingml/2006/main">
            <a:r>
              <a:t>fit-calibrated probability bits; check common</a:t>
            </a:r>
          </a:p>
          <a:p xmlns:a="http://schemas.openxmlformats.org/drawingml/2006/main">
            <a:r>
              <a:t>dictionary and seven timing repeats.</a:t>
            </a:r>
          </a:p>
          <a:p xmlns:a="http://schemas.openxmlformats.org/drawingml/2006/main">
            <a:r>
              <a:t>19 configurations, 109</a:t>
            </a:r>
          </a:p>
          <a:p xmlns:a="http://schemas.openxmlformats.org/drawingml/2006/main">
            <a:r>
              <a:t>metric records.</a:t>
            </a:r>
          </a:p>
          <a:p xmlns:a="http://schemas.openxmlformats.org/drawingml/2006/main">
            <a:r>
              <a:t>Status</a:t>
            </a:r>
          </a:p>
          <a:p xmlns:a="http://schemas.openxmlformats.org/drawingml/2006/main">
            <a:r>
              <a:t>All three new reviews passed. The earlier v8 freeze/evaluation additionally passed eight</a:t>
            </a:r>
          </a:p>
          <a:p xmlns:a="http://schemas.openxmlformats.org/drawingml/2006/main">
            <a:r>
              <a:t>protocol/result checks and 201 implementation tests.</a:t>
            </a:r>
          </a:p>
          <a:p xmlns:a="http://schemas.openxmlformats.org/drawingml/2006/main">
            <a:r>
              <a:t>Reorganization integrity</a:t>
            </a:r>
          </a:p>
          <a:p xmlns:a="http://schemas.openxmlformats.org/drawingml/2006/main">
            <a:r>
              <a:t>Selected checkpoints are byte-identical copies of the frozen v8 artifacts. Current results</a:t>
            </a:r>
          </a:p>
          <a:p xmlns:a="http://schemas.openxmlformats.org/drawingml/2006/main">
            <a:r>
              <a:t>are the seven-method subset, with no new training or test-based parameter changes.</a:t>
            </a:r>
          </a:p>
          <a:p xmlns:a="http://schemas.openxmlformats.org/drawingml/2006/main">
            <a:r>
              <a:t>Department of Mathematics, Sun Yat-sen University Experimental Audit October 10, 2026 18/29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1,024-ID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0.3900 18.43 64.36 99.76 97.41 29.68</a:t>
            </a:r>
          </a:p>
          <a:p xmlns:a="http://schemas.openxmlformats.org/drawingml/2006/main">
            <a:r>
              <a:t>Math-atom BPE (ours) 0.3943 19.26 62.83 99.76 97.41 10.20</a:t>
            </a:r>
          </a:p>
          <a:p xmlns:a="http://schemas.openxmlformats.org/drawingml/2006/main">
            <a:r>
              <a:t>Byte BPE 0.4121 25.51 67.62 62.28 97.43 8.59</a:t>
            </a:r>
          </a:p>
          <a:p xmlns:a="http://schemas.openxmlformats.org/drawingml/2006/main">
            <a:r>
              <a:t>SP Unigram 0.4912 22.34 68.64 2.49 98.08 23.42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19/29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New-Paper Results: 2,048-ID Trained Vocabulary</a:t>
            </a:r>
          </a:p>
          <a:p xmlns:a="http://schemas.openxmlformats.org/drawingml/2006/main">
            <a:r>
              <a:t>Common test: 4,294 formulas from 27 new source papers.</a:t>
            </a:r>
          </a:p>
          <a:p xmlns:a="http://schemas.openxmlformats.org/drawingml/2006/main">
            <a:r>
              <a:t>System T/B ↓ Cross% ↓ Scope% ↑ Cmd% ↑ Num% ↑ MiB/s ↑</a:t>
            </a:r>
          </a:p>
          <a:p xmlns:a="http://schemas.openxmlformats.org/drawingml/2006/main">
            <a:r>
              <a:t>Boundary AST (ours) 0.3296 24.17 53.87 99.76 97.89 28.65</a:t>
            </a:r>
          </a:p>
          <a:p xmlns:a="http://schemas.openxmlformats.org/drawingml/2006/main">
            <a:r>
              <a:t>Math-atom BPE (ours) 0.3372 24.87 51.18 99.76 97.57 9.56</a:t>
            </a:r>
          </a:p>
          <a:p xmlns:a="http://schemas.openxmlformats.org/drawingml/2006/main">
            <a:r>
              <a:t>Byte BPE 0.3504 31.46 59.79 74.75 97.61 8.81</a:t>
            </a:r>
          </a:p>
          <a:p xmlns:a="http://schemas.openxmlformats.org/drawingml/2006/main">
            <a:r>
              <a:t>SP Unigram 0.4625 24.03 67.07 4.16 98.71 23.54</a:t>
            </a:r>
          </a:p>
          <a:p xmlns:a="http://schemas.openxmlformats.org/drawingml/2006/main">
            <a:r>
              <a:t>Qwen2.5 0.5318 21.62 84.76 2.16 97.41 3.14</a:t>
            </a:r>
          </a:p>
          <a:p xmlns:a="http://schemas.openxmlformats.org/drawingml/2006/main">
            <a:r>
              <a:t>Llama 3 0.5279 21.74 84.76 2.16 99.28 8.94</a:t>
            </a:r>
          </a:p>
          <a:p xmlns:a="http://schemas.openxmlformats.org/drawingml/2006/main">
            <a:r>
              <a:t>o200k 0.5246 22.24 84.91 2.19 99.28 14.32</a:t>
            </a:r>
          </a:p>
          <a:p xmlns:a="http://schemas.openxmlformats.org/drawingml/2006/main">
            <a:r>
              <a:t>Reading the table</a:t>
            </a:r>
          </a:p>
          <a:p xmlns:a="http://schemas.openxmlformats.org/drawingml/2006/main">
            <a:r>
              <a:t>T/B is paper-macro tokens per UTF-8 byte. Crossing and scope recall use different</a:t>
            </a:r>
          </a:p>
          <a:p xmlns:a="http://schemas.openxmlformats.org/drawingml/2006/main">
            <a:r>
              <a:t>external syntax references; improving one does not imply improving the other.</a:t>
            </a:r>
          </a:p>
          <a:p xmlns:a="http://schemas.openxmlformats.org/drawingml/2006/main">
            <a:r>
              <a:t>Comparison scope</a:t>
            </a:r>
          </a:p>
          <a:p xmlns:a="http://schemas.openxmlformats.org/drawingml/2006/main">
            <a:r>
              <a:t>The two proposed systems share a dictionary. Byte BPE and Unigram share the ID</a:t>
            </a:r>
          </a:p>
          <a:p xmlns:a="http://schemas.openxmlformats.org/drawingml/2006/main">
            <a:r>
              <a:t>budget and allowed data. Qwen2.5, Llama 3 and o200k retain their full vocabularies.</a:t>
            </a:r>
          </a:p>
          <a:p xmlns:a="http://schemas.openxmlformats.org/drawingml/2006/main">
            <a:r>
              <a:t>Department of Mathematics, Sun Yat-sen University Results October 10, 2026 20/29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Strict Source-Domain Generalization</a:t>
            </a:r>
          </a:p>
          <a:p xmlns:a="http://schemas.openxmlformats.org/drawingml/2006/main">
            <a:r>
              <a:t>Common holdout: 1,428 formulas. Specialized training excludes target and adjacent</a:t>
            </a:r>
          </a:p>
          <a:p xmlns:a="http://schemas.openxmlformats.org/drawingml/2006/main">
            <a:r>
              <a:t>source categories.</a:t>
            </a:r>
          </a:p>
          <a:p xmlns:a="http://schemas.openxmlformats.org/drawingml/2006/main">
            <a:r>
              <a:t>System T/B: 1,024 T/B: 2,048 Scope%: 1,024 Scope%: 2,048</a:t>
            </a:r>
          </a:p>
          <a:p xmlns:a="http://schemas.openxmlformats.org/drawingml/2006/main">
            <a:r>
              <a:t>Boundary AST (ours) 0.4372 0.4010 61.27 53.43</a:t>
            </a:r>
          </a:p>
          <a:p xmlns:a="http://schemas.openxmlformats.org/drawingml/2006/main">
            <a:r>
              <a:t>Math-atom BPE (ours) 0.4470 0.4118 60.70 53.72</a:t>
            </a:r>
          </a:p>
          <a:p xmlns:a="http://schemas.openxmlformats.org/drawingml/2006/main">
            <a:r>
              <a:t>Byte BPE 0.4726 0.4188 66.29 61.13</a:t>
            </a:r>
          </a:p>
          <a:p xmlns:a="http://schemas.openxmlformats.org/drawingml/2006/main">
            <a:r>
              <a:t>SP Unigram 0.5325 0.5011 70.89 70.10</a:t>
            </a:r>
          </a:p>
          <a:p xmlns:a="http://schemas.openxmlformats.org/drawingml/2006/main">
            <a:r>
              <a:t>Qwen2.5 0.5415 0.5415 86.87 86.87</a:t>
            </a:r>
          </a:p>
          <a:p xmlns:a="http://schemas.openxmlformats.org/drawingml/2006/main">
            <a:r>
              <a:t>Llama 3 0.5353 0.5353 86.87 86.87</a:t>
            </a:r>
          </a:p>
          <a:p xmlns:a="http://schemas.openxmlformats.org/drawingml/2006/main">
            <a:r>
              <a:t>o200k 0.5335 0.5335 86.63 86.63</a:t>
            </a:r>
          </a:p>
          <a:p xmlns:a="http://schemas.openxmlformats.org/drawingml/2006/main">
            <a:r>
              <a:t>What generalizes</a:t>
            </a:r>
          </a:p>
          <a:p xmlns:a="http://schemas.openxmlformats.org/drawingml/2006/main">
            <a:r>
              <a:t>Boundary AST compresses more than the same-dictionary BPE in both budgets. Scope</a:t>
            </a:r>
          </a:p>
          <a:p xmlns:a="http://schemas.openxmlformats.org/drawingml/2006/main">
            <a:r>
              <a:t>recall changes by +0.57 pp / -0.28 pp; not every structural diagnostic improves.</a:t>
            </a:r>
          </a:p>
          <a:p xmlns:a="http://schemas.openxmlformats.org/drawingml/2006/main">
            <a:r>
              <a:t>What remains uncertain</a:t>
            </a:r>
          </a:p>
          <a:p xmlns:a="http://schemas.openxmlformats.org/drawingml/2006/main">
            <a:r>
              <a:t>Source categories are disjoint by construction, but mathematical concepts can overlap.</a:t>
            </a:r>
          </a:p>
          <a:p xmlns:a="http://schemas.openxmlformats.org/drawingml/2006/main">
            <a:r>
              <a:t>Few source papers and uneven domains produce wide uncertainty intervals.</a:t>
            </a:r>
          </a:p>
          <a:p xmlns:a="http://schemas.openxmlformats.org/drawingml/2006/main">
            <a:r>
              <a:t>Department of Mathematics, Sun Yat-sen University Results October 10, 2026 21/29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Compression Across Vocabulary Budgets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(a) New-paper test: 4,294 formulas</a:t>
            </a:r>
          </a:p>
          <a:p xmlns:a="http://schemas.openxmlformats.org/drawingml/2006/main">
            <a:r>
              <a:t>1,024 2,048</a:t>
            </a:r>
          </a:p>
          <a:p xmlns:a="http://schemas.openxmlformats.org/drawingml/2006/main">
            <a:r>
              <a:t>Trained vocabulary budget (IDs)</a:t>
            </a:r>
          </a:p>
          <a:p xmlns:a="http://schemas.openxmlformats.org/drawingml/2006/main">
            <a:r>
              <a:t>0.30</a:t>
            </a:r>
          </a:p>
          <a:p xmlns:a="http://schemas.openxmlformats.org/drawingml/2006/main">
            <a:r>
              <a:t>0.35</a:t>
            </a:r>
          </a:p>
          <a:p xmlns:a="http://schemas.openxmlformats.org/drawingml/2006/main">
            <a:r>
              <a:t>0.40</a:t>
            </a:r>
          </a:p>
          <a:p xmlns:a="http://schemas.openxmlformats.org/drawingml/2006/main">
            <a:r>
              <a:t>0.45</a:t>
            </a:r>
          </a:p>
          <a:p xmlns:a="http://schemas.openxmlformats.org/drawingml/2006/main">
            <a:r>
              <a:t>0.50</a:t>
            </a:r>
          </a:p>
          <a:p xmlns:a="http://schemas.openxmlformats.org/drawingml/2006/main">
            <a:r>
              <a:t>0.55</a:t>
            </a:r>
          </a:p>
          <a:p xmlns:a="http://schemas.openxmlformats.org/drawingml/2006/main">
            <a:r>
              <a:t>0.60Paper-macro tokens / UTF-8 byte (lower is better)</a:t>
            </a:r>
          </a:p>
          <a:p xmlns:a="http://schemas.openxmlformats.org/drawingml/2006/main">
            <a:r>
              <a:t>(b) Source-domain holdout: 1,428 formulas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Solid lines: trained 1,024/2,048-ID systems. Dashed lines: fixed full-vocabulary general</a:t>
            </a:r>
          </a:p>
          <a:p xmlns:a="http://schemas.openxmlformats.org/drawingml/2006/main">
            <a:r>
              <a:t>tokenizers. Lower is shorter; this is not a downstream-accuracy curve.</a:t>
            </a:r>
          </a:p>
          <a:p xmlns:a="http://schemas.openxmlformats.org/drawingml/2006/main">
            <a:r>
              <a:t>Department of Mathematics, Sun Yat-sen University Results October 10, 2026 22/29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Runtime and Source-Tree Crossing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(a) 1,024 IDs: new-paper test</a:t>
            </a:r>
          </a:p>
          <a:p xmlns:a="http://schemas.openxmlformats.org/drawingml/2006/main">
            <a:r>
              <a:t>2 5 10 20 40</a:t>
            </a:r>
          </a:p>
          <a:p xmlns:a="http://schemas.openxmlformats.org/drawingml/2006/main">
            <a:r>
              <a:t>Full encode throughput (MiB/s; log scale)</a:t>
            </a:r>
          </a:p>
          <a:p xmlns:a="http://schemas.openxmlformats.org/drawingml/2006/main">
            <a:r>
              <a:t>10</a:t>
            </a:r>
          </a:p>
          <a:p xmlns:a="http://schemas.openxmlformats.org/drawingml/2006/main">
            <a:r>
              <a:t>15</a:t>
            </a:r>
          </a:p>
          <a:p xmlns:a="http://schemas.openxmlformats.org/drawingml/2006/main">
            <a:r>
              <a:t>20</a:t>
            </a:r>
          </a:p>
          <a:p xmlns:a="http://schemas.openxmlformats.org/drawingml/2006/main">
            <a:r>
              <a:t>25</a:t>
            </a:r>
          </a:p>
          <a:p xmlns:a="http://schemas.openxmlformats.org/drawingml/2006/main">
            <a:r>
              <a:t>30</a:t>
            </a:r>
          </a:p>
          <a:p xmlns:a="http://schemas.openxmlformats.org/drawingml/2006/main">
            <a:r>
              <a:t>35KaT eX partial-crossing tokens (%)</a:t>
            </a:r>
          </a:p>
          <a:p xmlns:a="http://schemas.openxmlformats.org/drawingml/2006/main">
            <a:r>
              <a:t>Boundary AST</a:t>
            </a:r>
          </a:p>
          <a:p xmlns:a="http://schemas.openxmlformats.org/drawingml/2006/main">
            <a:r>
              <a:t>Math-atom BPE</a:t>
            </a:r>
          </a:p>
          <a:p xmlns:a="http://schemas.openxmlformats.org/drawingml/2006/main">
            <a:r>
              <a:t>Byte BPE</a:t>
            </a:r>
          </a:p>
          <a:p xmlns:a="http://schemas.openxmlformats.org/drawingml/2006/main">
            <a:r>
              <a:t>SP Unigram</a:t>
            </a:r>
          </a:p>
          <a:p xmlns:a="http://schemas.openxmlformats.org/drawingml/2006/main">
            <a:r>
              <a:t>Qwen2.5</a:t>
            </a:r>
          </a:p>
          <a:p xmlns:a="http://schemas.openxmlformats.org/drawingml/2006/main">
            <a:r>
              <a:t>Llama 3</a:t>
            </a:r>
          </a:p>
          <a:p xmlns:a="http://schemas.openxmlformats.org/drawingml/2006/main">
            <a:r>
              <a:t>o200k</a:t>
            </a:r>
          </a:p>
          <a:p xmlns:a="http://schemas.openxmlformats.org/drawingml/2006/main">
            <a:r>
              <a:t>Lower and farther right is better</a:t>
            </a:r>
          </a:p>
          <a:p xmlns:a="http://schemas.openxmlformats.org/drawingml/2006/main">
            <a:r>
              <a:t>(b) 2,048 IDs: new-paper test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Boundary AST is about 2.65–3.00 times faster than math-atom BPE across the four</a:t>
            </a:r>
          </a:p>
          <a:p xmlns:a="http://schemas.openxmlformats.org/drawingml/2006/main">
            <a:r>
              <a:t>principal conditions. All parser/codec work is included. The result is from one Mac and</a:t>
            </a:r>
          </a:p>
          <a:p xmlns:a="http://schemas.openxmlformats.org/drawingml/2006/main">
            <a:r>
              <a:t>a single-input public interface.</a:t>
            </a:r>
          </a:p>
          <a:p xmlns:a="http://schemas.openxmlformats.org/drawingml/2006/main">
            <a:r>
              <a:t>Department of Mathematics, Sun Yat-sen University Results October 10, 2026 23/29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Paired Paper-Cluster Statistical Evidence</a:t>
            </a:r>
          </a:p>
          <a:p xmlns:a="http://schemas.openxmlformats.org/drawingml/2006/main">
            <a:r>
              <a:t>Difference: Boundary AST minus math-atom BPE. Negative compression differences</a:t>
            </a:r>
          </a:p>
          <a:p xmlns:a="http://schemas.openxmlformats.org/drawingml/2006/main">
            <a:r>
              <a:t>favor AST.</a:t>
            </a:r>
          </a:p>
          <a:p xmlns:a="http://schemas.openxmlformats.org/drawingml/2006/main">
            <a:r>
              <a:t>Condition T/B difference Family 95% CI Scope difference CI (pp)</a:t>
            </a:r>
          </a:p>
          <a:p xmlns:a="http://schemas.openxmlformats.org/drawingml/2006/main">
            <a:r>
              <a:t>1,024 / broad -0.00428 [-0.00601, -0.00270] [-2.36, +6.06]</a:t>
            </a:r>
          </a:p>
          <a:p xmlns:a="http://schemas.openxmlformats.org/drawingml/2006/main">
            <a:r>
              <a:t>1,024 / domain -0.00976 [-0.02916, -0.00197] [-4.44, +9.88]</a:t>
            </a:r>
          </a:p>
          <a:p xmlns:a="http://schemas.openxmlformats.org/drawingml/2006/main">
            <a:r>
              <a:t>2,048 / broad -0.00760 [-0.01106, -0.00535] [+0.49, +6.59]</a:t>
            </a:r>
          </a:p>
          <a:p xmlns:a="http://schemas.openxmlformats.org/drawingml/2006/main">
            <a:r>
              <a:t>2,048 / domain -0.01088 [-0.03025, -0.00344] [-5.78, +12.17]</a:t>
            </a:r>
          </a:p>
          <a:p xmlns:a="http://schemas.openxmlformats.org/drawingml/2006/main">
            <a:r>
              <a:t>Design</a:t>
            </a:r>
          </a:p>
          <a:p xmlns:a="http://schemas.openxmlformats.org/drawingml/2006/main">
            <a:r>
              <a:t>200,000 paper-cluster resamples; Bonferroni intervals retain the original family of 144</a:t>
            </a:r>
          </a:p>
          <a:p xmlns:a="http://schemas.openxmlformats.org/drawingml/2006/main">
            <a:r>
              <a:t>comparisons. We did not shrink the family after choosing seven systems.</a:t>
            </a:r>
          </a:p>
          <a:p xmlns:a="http://schemas.openxmlformats.org/drawingml/2006/main">
            <a:r>
              <a:t>All four adjusted compression intervals exclude zero in favor of Boundary AST.</a:t>
            </a:r>
          </a:p>
          <a:p xmlns:a="http://schemas.openxmlformats.org/drawingml/2006/main">
            <a:r>
              <a:t>Scope and crossing intervals do not all exclude zero; point estimates are not</a:t>
            </a:r>
          </a:p>
          <a:p xmlns:a="http://schemas.openxmlformats.org/drawingml/2006/main">
            <a:r>
              <a:t>universal structural gains.</a:t>
            </a:r>
          </a:p>
          <a:p xmlns:a="http://schemas.openxmlformats.org/drawingml/2006/main">
            <a:r>
              <a:t>Intervals condition on the realized vocabulary and observed training seeds. They</a:t>
            </a:r>
          </a:p>
          <a:p xmlns:a="http://schemas.openxmlformats.org/drawingml/2006/main">
            <a:r>
              <a:t>do not cover all possible retraining outcomes.</a:t>
            </a:r>
          </a:p>
          <a:p xmlns:a="http://schemas.openxmlformats.org/drawingml/2006/main">
            <a:r>
              <a:t>Department of Mathematics, Sun Yat-sen University Results October 10, 2026 24/29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Probability Coding and Vocabulary Utilization</a:t>
            </a:r>
          </a:p>
          <a:p xmlns:a="http://schemas.openxmlformats.org/drawingml/2006/main">
            <a:r>
              <a:t>System Fit BPB: 1,024 Fit BPB: 2,048 Used%: 1,024 Used%: 2,048</a:t>
            </a:r>
          </a:p>
          <a:p xmlns:a="http://schemas.openxmlformats.org/drawingml/2006/main">
            <a:r>
              <a:t>Boundary AST (ours) 3.131 3.008 67.3 72.0</a:t>
            </a:r>
          </a:p>
          <a:p xmlns:a="http://schemas.openxmlformats.org/drawingml/2006/main">
            <a:r>
              <a:t>Math-atom BPE (ours) 3.153 3.028 66.8 70.9</a:t>
            </a:r>
          </a:p>
          <a:p xmlns:a="http://schemas.openxmlformats.org/drawingml/2006/main">
            <a:r>
              <a:t>Byte BPE 3.413 3.209 76.3 76.3</a:t>
            </a:r>
          </a:p>
          <a:p xmlns:a="http://schemas.openxmlformats.org/drawingml/2006/main">
            <a:r>
              <a:t>SP Unigram 3.709 3.634 69.5 67.2</a:t>
            </a:r>
          </a:p>
          <a:p xmlns:a="http://schemas.openxmlformats.org/drawingml/2006/main">
            <a:r>
              <a:t>Qwen2.5 4.063 4.063 0.8 0.8</a:t>
            </a:r>
          </a:p>
          <a:p xmlns:a="http://schemas.openxmlformats.org/drawingml/2006/main">
            <a:r>
              <a:t>Llama 3 4.056 4.056 1.1 1.1</a:t>
            </a:r>
          </a:p>
          <a:p xmlns:a="http://schemas.openxmlformats.org/drawingml/2006/main">
            <a:r>
              <a:t>o200k 4.060 4.060 0.7 0.7</a:t>
            </a:r>
          </a:p>
          <a:p xmlns:a="http://schemas.openxmlformats.org/drawingml/2006/main">
            <a:r>
              <a:t>Interpretation</a:t>
            </a:r>
          </a:p>
          <a:p xmlns:a="http://schemas.openxmlformats.org/drawingml/2006/main">
            <a:r>
              <a:t>Fit BPB uses the same scenario fit records and actual vocabulary size. The much larger</a:t>
            </a:r>
          </a:p>
          <a:p xmlns:a="http://schemas.openxmlformats.org/drawingml/2006/main">
            <a:r>
              <a:t>general vocabularies incur a different smoothing term and utilization denominator.</a:t>
            </a:r>
          </a:p>
          <a:p xmlns:a="http://schemas.openxmlformats.org/drawingml/2006/main">
            <a:r>
              <a:t>Why several measures are necessary</a:t>
            </a:r>
          </a:p>
          <a:p xmlns:a="http://schemas.openxmlformats.org/drawingml/2006/main">
            <a:r>
              <a:t>Low token count can coexist with sparse usage or unstable boundaries. These</a:t>
            </a:r>
          </a:p>
          <a:p xmlns:a="http://schemas.openxmlformats.org/drawingml/2006/main">
            <a:r>
              <a:t>probability readouts are descriptive token statistics; no trained language-model</a:t>
            </a:r>
          </a:p>
          <a:p xmlns:a="http://schemas.openxmlformats.org/drawingml/2006/main">
            <a:r>
              <a:t>perplexity is reported. (12) (13)</a:t>
            </a:r>
          </a:p>
          <a:p xmlns:a="http://schemas.openxmlformats.org/drawingml/2006/main">
            <a:r>
              <a:t>Department of Mathematics, Sun Yat-sen University Results October 10, 2026 25/29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Seven-System Composite Ranking</a:t>
            </a:r>
          </a:p>
          <a:p xmlns:a="http://schemas.openxmlformats.org/drawingml/2006/main">
            <a:r>
              <a:t>System Rank: 1,024 Rank: 2,048 Score: 1,024 Score: 2,048</a:t>
            </a:r>
          </a:p>
          <a:p xmlns:a="http://schemas.openxmlformats.org/drawingml/2006/main">
            <a:r>
              <a:t>Boundary AST (ours) 1 1 0.042 0.100</a:t>
            </a:r>
          </a:p>
          <a:p xmlns:a="http://schemas.openxmlformats.org/drawingml/2006/main">
            <a:r>
              <a:t>Math-atom BPE (ours) 2 2 0.271 0.342</a:t>
            </a:r>
          </a:p>
          <a:p xmlns:a="http://schemas.openxmlformats.org/drawingml/2006/main">
            <a:r>
              <a:t>Byte BPE 5 5 0.610 0.608</a:t>
            </a:r>
          </a:p>
          <a:p xmlns:a="http://schemas.openxmlformats.org/drawingml/2006/main">
            <a:r>
              <a:t>SP Unigram 3 3 0.433 0.450</a:t>
            </a:r>
          </a:p>
          <a:p xmlns:a="http://schemas.openxmlformats.org/drawingml/2006/main">
            <a:r>
              <a:t>Qwen2.5 7 7 0.860 0.817</a:t>
            </a:r>
          </a:p>
          <a:p xmlns:a="http://schemas.openxmlformats.org/drawingml/2006/main">
            <a:r>
              <a:t>Llama 3 6 6 0.696 0.646</a:t>
            </a:r>
          </a:p>
          <a:p xmlns:a="http://schemas.openxmlformats.org/drawingml/2006/main">
            <a:r>
              <a:t>o200k 4 4 0.587 0.537</a:t>
            </a:r>
          </a:p>
          <a:p xmlns:a="http://schemas.openxmlformats.org/drawingml/2006/main">
            <a:r>
              <a:t>Frozen metric preferences</a:t>
            </a:r>
          </a:p>
          <a:p xmlns:a="http://schemas.openxmlformats.org/drawingml/2006/main">
            <a:r>
              <a:t>Compression 30%; encode speed 25%; KaTeX crossing 20%; command integrity 10%;</a:t>
            </a:r>
          </a:p>
          <a:p xmlns:a="http://schemas.openxmlformats.org/drawingml/2006/main">
            <a:r>
              <a:t>number integrity 5%; fit BPB 10%. Broad and specialized scenarios each receive 50%.</a:t>
            </a:r>
          </a:p>
          <a:p xmlns:a="http://schemas.openxmlformats.org/drawingml/2006/main">
            <a:r>
              <a:t>How to use the ranking</a:t>
            </a:r>
          </a:p>
          <a:p xmlns:a="http://schemas.openxmlformats.org/drawingml/2006/main">
            <a:r>
              <a:t>The ranking favors our complete specialized systems under this preference. It is relative</a:t>
            </a:r>
          </a:p>
          <a:p xmlns:a="http://schemas.openxmlformats.org/drawingml/2006/main">
            <a:r>
              <a:t>to the seven retained methods, omits scope recall from its weighted score and cannot</a:t>
            </a:r>
          </a:p>
          <a:p xmlns:a="http://schemas.openxmlformats.org/drawingml/2006/main">
            <a:r>
              <a:t>establish downstream superiority.</a:t>
            </a:r>
          </a:p>
          <a:p xmlns:a="http://schemas.openxmlformats.org/drawingml/2006/main">
            <a:r>
              <a:t>Department of Mathematics, Sun Yat-sen University Results October 10, 2026 26/29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and Next Steps</a:t>
            </a:r>
          </a:p>
          <a:p xmlns:a="http://schemas.openxmlformats.org/drawingml/2006/main">
            <a:r>
              <a:t>Downstream tasks</a:t>
            </a:r>
          </a:p>
          <a:p xmlns:a="http://schemas.openxmlformats.org/drawingml/2006/main">
            <a:r>
              <a:t>Validate the tokenizers on PDE solving, ODE solving, and mathematical reasoning</a:t>
            </a:r>
          </a:p>
          <a:p xmlns:a="http://schemas.openxmlformats.org/drawingml/2006/main">
            <a:r>
              <a:t>beyond equation solving.</a:t>
            </a:r>
          </a:p>
          <a:p xmlns:a="http://schemas.openxmlformats.org/drawingml/2006/main">
            <a:r>
              <a:t>Step Experimental procedure</a:t>
            </a:r>
          </a:p>
          <a:p xmlns:a="http://schemas.openxmlformats.org/drawingml/2006/main">
            <a:r>
              <a:t>1. Architecture Select a suitable model architecture.</a:t>
            </a:r>
          </a:p>
          <a:p xmlns:a="http://schemas.openxmlformats.org/drawingml/2006/main">
            <a:r>
              <a:t>2. Tokenizer</a:t>
            </a:r>
          </a:p>
          <a:p xmlns:a="http://schemas.openxmlformats.org/drawingml/2006/main">
            <a:r>
              <a:t>integration</a:t>
            </a:r>
          </a:p>
          <a:p xmlns:a="http://schemas.openxmlformats.org/drawingml/2006/main">
            <a:r>
              <a:t>Connect each tokenizer to the same architecture.</a:t>
            </a:r>
          </a:p>
          <a:p xmlns:a="http://schemas.openxmlformats.org/drawingml/2006/main">
            <a:r>
              <a:t>3. Training Train each model fully from scratch.</a:t>
            </a:r>
          </a:p>
          <a:p xmlns:a="http://schemas.openxmlformats.org/drawingml/2006/main">
            <a:r>
              <a:t>4. Evaluation Select suitable benchmarks and evaluate downstream task</a:t>
            </a:r>
          </a:p>
          <a:p xmlns:a="http://schemas.openxmlformats.org/drawingml/2006/main">
            <a:r>
              <a:t>performance.</a:t>
            </a:r>
          </a:p>
          <a:p xmlns:a="http://schemas.openxmlformats.org/drawingml/2006/main">
            <a:r>
              <a:t>Open issues</a:t>
            </a:r>
          </a:p>
          <a:p xmlns:a="http://schemas.openxmlformats.org/drawingml/2006/main">
            <a:r>
              <a:t>Benchmarks: identify suitable benchmarks for each mathematical task.</a:t>
            </a:r>
          </a:p>
          <a:p xmlns:a="http://schemas.openxmlformats.org/drawingml/2006/main">
            <a:r>
              <a:t>Compute: full training from scratch requires substantial computational resources.</a:t>
            </a:r>
          </a:p>
          <a:p xmlns:a="http://schemas.openxmlformats.org/drawingml/2006/main">
            <a:r>
              <a:t>Department of Mathematics, Sun Yat-sen University Next Work October 10, 2026 27/29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(1/2)</a:t>
            </a:r>
          </a:p>
          <a:p xmlns:a="http://schemas.openxmlformats.org/drawingml/2006/main">
            <a:r>
              <a:t>(1) Sennrich, Haddow and Birch (2016). Neural Machine Translation of Rare Words with</a:t>
            </a:r>
          </a:p>
          <a:p xmlns:a="http://schemas.openxmlformats.org/drawingml/2006/main">
            <a:r>
              <a:t>Subword Units. ACL.</a:t>
            </a:r>
          </a:p>
          <a:p xmlns:a="http://schemas.openxmlformats.org/drawingml/2006/main">
            <a:r>
              <a:t>(2) Kudo and Richardson (2018). SentencePiece: A Simple and Language Independent</a:t>
            </a:r>
          </a:p>
          <a:p xmlns:a="http://schemas.openxmlformats.org/drawingml/2006/main">
            <a:r>
              <a:t>Subword Tokenizer and Detokenizer for Neural Text Processing . EMNLP Demonstrations.</a:t>
            </a:r>
          </a:p>
          <a:p xmlns:a="http://schemas.openxmlformats.org/drawingml/2006/main">
            <a:r>
              <a:t>(3) Qwen Team (2024). Qwen2.5 Technical Report . Technical report.</a:t>
            </a:r>
          </a:p>
          <a:p xmlns:a="http://schemas.openxmlformats.org/drawingml/2006/main">
            <a:r>
              <a:t>(4) Dubey et al. (2024). The Llama 3 Herd of Models . Technical report.</a:t>
            </a:r>
          </a:p>
          <a:p xmlns:a="http://schemas.openxmlformats.org/drawingml/2006/main">
            <a:r>
              <a:t>(5) OpenAI (2026). tiktoken: BPE Tokenizer Library . Oﬀicial software; accessed 2026-10-13.</a:t>
            </a:r>
          </a:p>
          <a:p xmlns:a="http://schemas.openxmlformats.org/drawingml/2006/main">
            <a:r>
              <a:t>(6) Kudo (2018). Subword Regularization: Improving Neural Network Translation Models with</a:t>
            </a:r>
          </a:p>
          <a:p xmlns:a="http://schemas.openxmlformats.org/drawingml/2006/main">
            <a:r>
              <a:t>Multiple Subword Candidates . ACL.</a:t>
            </a:r>
          </a:p>
          <a:p xmlns:a="http://schemas.openxmlformats.org/drawingml/2006/main">
            <a:r>
              <a:t>(7) Bai et al. (2026). Complex Mathematical Expression Recognition: Benchmark, Large-Scale</a:t>
            </a:r>
          </a:p>
          <a:p xmlns:a="http://schemas.openxmlformats.org/drawingml/2006/main">
            <a:r>
              <a:t>Dataset and Strong Baseline . AAAI.</a:t>
            </a:r>
          </a:p>
          <a:p xmlns:a="http://schemas.openxmlformats.org/drawingml/2006/main">
            <a:r>
              <a:t>Department of Mathematics, Sun Yat-sen University References October 10, 2026 28/29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(2/2)</a:t>
            </a:r>
          </a:p>
          <a:p xmlns:a="http://schemas.openxmlformats.org/drawingml/2006/main">
            <a:r>
              <a:t>(8) Schmidt et al. (2024). Tokenization Is More Than Compression . EMNLP.</a:t>
            </a:r>
          </a:p>
          <a:p xmlns:a="http://schemas.openxmlformats.org/drawingml/2006/main">
            <a:r>
              <a:t>(9) Scarlatos and Lan (2023). Tree-Based Representation and Generation of Natural and</a:t>
            </a:r>
          </a:p>
          <a:p xmlns:a="http://schemas.openxmlformats.org/drawingml/2006/main">
            <a:r>
              <a:t>Mathematical Language . ACL.</a:t>
            </a:r>
          </a:p>
          <a:p xmlns:a="http://schemas.openxmlformats.org/drawingml/2006/main">
            <a:r>
              <a:t>(10) Golkar et al. (2023). xVal: A Continuous Numerical Tokenization for Scientific Language</a:t>
            </a:r>
          </a:p>
          <a:p xmlns:a="http://schemas.openxmlformats.org/drawingml/2006/main">
            <a:r>
              <a:t>Models. Preprint.</a:t>
            </a:r>
          </a:p>
          <a:p xmlns:a="http://schemas.openxmlformats.org/drawingml/2006/main">
            <a:r>
              <a:t>(11) Jung et al. (2024). TeXBLEU: Automatic Metric for Evaluate LaTeX Format . Preprint.</a:t>
            </a:r>
          </a:p>
          <a:p xmlns:a="http://schemas.openxmlformats.org/drawingml/2006/main">
            <a:r>
              <a:t>(12) Uzan et al. (2024). Greed Is All You Need: An Evaluation of Tokenizer Inference Methods .</a:t>
            </a:r>
          </a:p>
          <a:p xmlns:a="http://schemas.openxmlformats.org/drawingml/2006/main">
            <a:r>
              <a:t>ACL.</a:t>
            </a:r>
          </a:p>
          <a:p xmlns:a="http://schemas.openxmlformats.org/drawingml/2006/main">
            <a:r>
              <a:t>(13) Meister (2026). TokEval: A Tokenizer Evaluation Suite . COLM.</a:t>
            </a:r>
          </a:p>
          <a:p xmlns:a="http://schemas.openxmlformats.org/drawingml/2006/main">
            <a:r>
              <a:t>Department of Mathematics, Sun Yat-sen University References October 10, 2026 29/29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Editable master: mathematical_tokenizer.tex in companion source bundle; this page preserves the Beamer rendering.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18d110b5b4f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8ad8e3e4645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9fcc2263646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3cc800d1f4b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addf58c784f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f0af8256f4d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00317D-99B5-4506-B2B0-2D92284121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1FD7ED8-FD7D-4843-B418-F90ECD088A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E61129-5105-4C47-B29E-1AA54D8F5C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423FFB-D3B3-4492-9F63-0D50AA43CB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F7E3D86-9860-4844-9475-A5C4F3BC9C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CCC61A-37D6-4D8D-8A8C-8DC830F1E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DA68E6-7E63-4DE5-AEBF-C5CBC2F00D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6DB960-583A-4271-8B8C-14C15CCDDE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B930C0-7021-483E-89BA-DFBD04B5CD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22F2A7-BE6B-4AC1-8BBF-8B76F17426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60cad37ce4620" /><Relationship Type="http://schemas.openxmlformats.org/officeDocument/2006/relationships/slideLayout" Target="/ppt/slideLayouts/slideLayout1.xml" Id="R34d2c4fcfec04afc" /><Relationship Type="http://schemas.openxmlformats.org/officeDocument/2006/relationships/slideLayout" Target="/ppt/slideLayouts/slideLayout2.xml" Id="R5c0412d215894213" /><Relationship Type="http://schemas.openxmlformats.org/officeDocument/2006/relationships/slideLayout" Target="/ppt/slideLayouts/slideLayout3.xml" Id="Rec62fa5fa3fc4321" /><Relationship Type="http://schemas.openxmlformats.org/officeDocument/2006/relationships/slideLayout" Target="/ppt/slideLayouts/slideLayout4.xml" Id="Refa9bff54d7a42b6" /><Relationship Type="http://schemas.openxmlformats.org/officeDocument/2006/relationships/slideLayout" Target="/ppt/slideLayouts/slideLayout5.xml" Id="R505e9fde9ed244f4" /><Relationship Type="http://schemas.openxmlformats.org/officeDocument/2006/relationships/slideLayout" Target="/ppt/slideLayouts/slideLayout6.xml" Id="R4c491cd75f44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2c4fcfec04afc"/>
    <p:sldLayoutId xmlns:r="http://schemas.openxmlformats.org/officeDocument/2006/relationships" id="2147483650" r:id="R5c0412d215894213"/>
    <p:sldLayoutId xmlns:r="http://schemas.openxmlformats.org/officeDocument/2006/relationships" id="2147483651" r:id="Rec62fa5fa3fc4321"/>
    <p:sldLayoutId xmlns:r="http://schemas.openxmlformats.org/officeDocument/2006/relationships" id="2147483652" r:id="Refa9bff54d7a42b6"/>
    <p:sldLayoutId xmlns:r="http://schemas.openxmlformats.org/officeDocument/2006/relationships" id="2147483653" r:id="R505e9fde9ed244f4"/>
    <p:sldLayoutId xmlns:r="http://schemas.openxmlformats.org/officeDocument/2006/relationships" id="2147483654" r:id="R4c491cd75f44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2f9e0dd64542cf" /><Relationship Type="http://schemas.openxmlformats.org/officeDocument/2006/relationships/image" Target="/ppt/media/image.png" Id="Rbd802805c03f4c75" /><Relationship Type="http://schemas.openxmlformats.org/officeDocument/2006/relationships/notesSlide" Target="/ppt/notesSlides/notesSlide1.xml" Id="Rff1431efa4414b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d11ef104b45f1" /><Relationship Type="http://schemas.openxmlformats.org/officeDocument/2006/relationships/image" Target="/ppt/media/image2.png" Id="Racb932f5da6146fe" /><Relationship Type="http://schemas.openxmlformats.org/officeDocument/2006/relationships/notesSlide" Target="/ppt/notesSlides/notesSlide2.xml" Id="R97ce13423b9748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3af3774e64b45" /><Relationship Type="http://schemas.openxmlformats.org/officeDocument/2006/relationships/image" Target="/ppt/media/image3.png" Id="R058f2c320abe4620" /><Relationship Type="http://schemas.openxmlformats.org/officeDocument/2006/relationships/notesSlide" Target="/ppt/notesSlides/notesSlide3.xml" Id="R5ed91311c391443d" /></Relationships>
</file>

<file path=ppt/slides/_rels/slide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9975d3af8fc4f78" /><ns0:Relationship Type="http://schemas.openxmlformats.org/officeDocument/2006/relationships/image" Target="/ppt/media/image4.png" Id="R065390a408ff43b1" /><ns0:Relationship Type="http://schemas.openxmlformats.org/officeDocument/2006/relationships/notesSlide" Target="/ppt/notesSlides/notesSlide4.xml" Id="R2382746f55ee48c1" /><ns0:Relationship Id="rId1" Type="http://schemas.openxmlformats.org/officeDocument/2006/relationships/slide" Target="slide29.xml" /><ns0:Relationship Id="rId2" Type="http://schemas.openxmlformats.org/officeDocument/2006/relationships/hyperlink" Target="https://github.com/huggingface/tokenizers" TargetMode="External" /><ns0:Relationship Id="rId3" Type="http://schemas.openxmlformats.org/officeDocument/2006/relationships/slide" Target="slide29.xml" /><ns0:Relationship Id="rId4" Type="http://schemas.openxmlformats.org/officeDocument/2006/relationships/hyperlink" Target="https://github.com/google/sentencepiece" TargetMode="External" /><ns0:Relationship Id="rId5" Type="http://schemas.openxmlformats.org/officeDocument/2006/relationships/slide" Target="slide29.xml" /><ns0:Relationship Id="rId6" Type="http://schemas.openxmlformats.org/officeDocument/2006/relationships/hyperlink" Target="https://huggingface.co/Qwen/Qwen2.5-0.5B/blob/main/tokenizer.json" TargetMode="External" /><ns0:Relationship Id="rId7" Type="http://schemas.openxmlformats.org/officeDocument/2006/relationships/slide" Target="slide29.xml" /><ns0:Relationship Id="rId8" Type="http://schemas.openxmlformats.org/officeDocument/2006/relationships/hyperlink" Target="https://github.com/meta-llama/llama3/blob/a0940f9cf7065d45bb6675660f80d305c041a754/llama/tokenizer.py" TargetMode="External" /><ns0:Relationship Id="rId9" Type="http://schemas.openxmlformats.org/officeDocument/2006/relationships/slide" Target="slide29.xml" /><ns0:Relationship Id="rId10" Type="http://schemas.openxmlformats.org/officeDocument/2006/relationships/hyperlink" Target="https://github.com/openai/tiktoken" TargetMode="External" /></ns0: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e9a71b420bb40f7" /><ns0:Relationship Type="http://schemas.openxmlformats.org/officeDocument/2006/relationships/image" Target="/ppt/media/image5.png" Id="Re4cba7493a13487e" /><ns0:Relationship Type="http://schemas.openxmlformats.org/officeDocument/2006/relationships/notesSlide" Target="/ppt/notesSlides/notesSlide5.xml" Id="R6e7cb93031d940a3" /><ns0:Relationship Id="rId1" Type="http://schemas.openxmlformats.org/officeDocument/2006/relationships/slide" Target="slide29.xml" /><ns0:Relationship Id="rId2" Type="http://schemas.openxmlformats.org/officeDocument/2006/relationships/slide" Target="slide29.xml" /></ns0:Relationships>
</file>

<file path=ppt/slides/_rels/slide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4624bd6780846cf" /><ns0:Relationship Type="http://schemas.openxmlformats.org/officeDocument/2006/relationships/image" Target="/ppt/media/image6.png" Id="Rd8e0895002eb4088" /><ns0:Relationship Type="http://schemas.openxmlformats.org/officeDocument/2006/relationships/notesSlide" Target="/ppt/notesSlides/notesSlide6.xml" Id="R495bc9ce277649f1" /><ns0:Relationship Id="rId1" Type="http://schemas.openxmlformats.org/officeDocument/2006/relationships/slide" Target="slide29.xml" /></ns0:Relationships>
</file>

<file path=ppt/slides/_rels/slide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5e0cb11b9ae482d" /><ns0:Relationship Type="http://schemas.openxmlformats.org/officeDocument/2006/relationships/image" Target="/ppt/media/image7.png" Id="Rf4425fec6c5249d4" /><ns0:Relationship Type="http://schemas.openxmlformats.org/officeDocument/2006/relationships/notesSlide" Target="/ppt/notesSlides/notesSlide7.xml" Id="Rbd1293a180f24c36" /><ns0:Relationship Id="rId1" Type="http://schemas.openxmlformats.org/officeDocument/2006/relationships/slide" Target="slide29.xml" /><ns0:Relationship Id="rId2" Type="http://schemas.openxmlformats.org/officeDocument/2006/relationships/slide" Target="slide30.xml" /><ns0:Relationship Id="rId3" Type="http://schemas.openxmlformats.org/officeDocument/2006/relationships/slide" Target="slide30.xml" /></ns0: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2f0a209fcb24ae8" /><ns0:Relationship Type="http://schemas.openxmlformats.org/officeDocument/2006/relationships/image" Target="/ppt/media/image8.png" Id="R5a12baafe35b44bd" /><ns0:Relationship Type="http://schemas.openxmlformats.org/officeDocument/2006/relationships/notesSlide" Target="/ppt/notesSlides/notesSlide8.xml" Id="R09047a6e540d4d37" /><ns0:Relationship Id="rId1" Type="http://schemas.openxmlformats.org/officeDocument/2006/relationships/hyperlink" Target="https://arxiv.org" TargetMode="External" /><ns0:Relationship Id="rId2" Type="http://schemas.openxmlformats.org/officeDocument/2006/relationships/hyperlink" Target="https://github.com/openai/math" TargetMode="External" /><ns0:Relationship Id="rId3" Type="http://schemas.openxmlformats.org/officeDocument/2006/relationships/hyperlink" Target="https://github.com/fredrik-johansson/fungrim" TargetMode="External" /><ns0:Relationship Id="rId4" Type="http://schemas.openxmlformats.org/officeDocument/2006/relationships/hyperlink" Target="https://github.com/sympy/sympy" TargetMode="External" /></ns0: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8d35f4ce642d6" /><Relationship Type="http://schemas.openxmlformats.org/officeDocument/2006/relationships/image" Target="/ppt/media/image9.png" Id="Rb0d81f736b264e31" /><Relationship Type="http://schemas.openxmlformats.org/officeDocument/2006/relationships/notesSlide" Target="/ppt/notesSlides/notesSlide9.xml" Id="R99ca72cdfebd41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d6b8f362b4bd2" /><Relationship Type="http://schemas.openxmlformats.org/officeDocument/2006/relationships/image" Target="/ppt/media/image10.png" Id="R77f9361a9cc943f3" /><Relationship Type="http://schemas.openxmlformats.org/officeDocument/2006/relationships/notesSlide" Target="/ppt/notesSlides/notesSlide10.xml" Id="Rda1727602ce14051" /></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b2e74e2f777e49db" /><ns0:Relationship Type="http://schemas.openxmlformats.org/officeDocument/2006/relationships/image" Target="/ppt/media/image11.png" Id="R1d1baf49d23d4bc9" /><ns0:Relationship Type="http://schemas.openxmlformats.org/officeDocument/2006/relationships/notesSlide" Target="/ppt/notesSlides/notesSlide11.xml" Id="R2e5b689740b04e51" /><ns0:Relationship Id="rId1" Type="http://schemas.openxmlformats.org/officeDocument/2006/relationships/slide" Target="slide29.xml" /><ns0:Relationship Id="rId2" Type="http://schemas.openxmlformats.org/officeDocument/2006/relationships/slide" Target="slide29.xml" /></ns0:Relationships>
</file>

<file path=ppt/slides/_rels/slide1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981450fff2804955" /><ns0:Relationship Type="http://schemas.openxmlformats.org/officeDocument/2006/relationships/image" Target="/ppt/media/image12.png" Id="Rfe902c7c0e644c0b" /><ns0:Relationship Type="http://schemas.openxmlformats.org/officeDocument/2006/relationships/notesSlide" Target="/ppt/notesSlides/notesSlide12.xml" Id="R5fa0a5bd33574f36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a2ef2baaea8c4e2b" /><ns0:Relationship Type="http://schemas.openxmlformats.org/officeDocument/2006/relationships/image" Target="/ppt/media/image13.png" Id="R3259875192334f5e" /><ns0:Relationship Type="http://schemas.openxmlformats.org/officeDocument/2006/relationships/notesSlide" Target="/ppt/notesSlides/notesSlide13.xml" Id="R8676cc75c90a417a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14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85a3fe4a1f0940bc" /><ns0:Relationship Type="http://schemas.openxmlformats.org/officeDocument/2006/relationships/image" Target="/ppt/media/image14.png" Id="R14491f55dfda41b5" /><ns0:Relationship Type="http://schemas.openxmlformats.org/officeDocument/2006/relationships/notesSlide" Target="/ppt/notesSlides/notesSlide14.xml" Id="R87ffe8207a6740d0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25698b8c1044bc" /><Relationship Type="http://schemas.openxmlformats.org/officeDocument/2006/relationships/image" Target="/ppt/media/image15.png" Id="R77d682969de04cfd" /><Relationship Type="http://schemas.openxmlformats.org/officeDocument/2006/relationships/notesSlide" Target="/ppt/notesSlides/notesSlide15.xml" Id="R8b9c682827ca4b7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9f6ff96cc94877" /><Relationship Type="http://schemas.openxmlformats.org/officeDocument/2006/relationships/image" Target="/ppt/media/image16.png" Id="R29df7a3cd4da485b" /><Relationship Type="http://schemas.openxmlformats.org/officeDocument/2006/relationships/notesSlide" Target="/ppt/notesSlides/notesSlide16.xml" Id="Redc15d692ab1479d" /></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b5428c0099c4c76" /><ns0:Relationship Type="http://schemas.openxmlformats.org/officeDocument/2006/relationships/image" Target="/ppt/media/image17.png" Id="Rfc1823dd3a334ac2" /><ns0:Relationship Type="http://schemas.openxmlformats.org/officeDocument/2006/relationships/notesSlide" Target="/ppt/notesSlides/notesSlide17.xml" Id="R723cb41258aa435f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1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43980499d404c0d" /><ns0:Relationship Type="http://schemas.openxmlformats.org/officeDocument/2006/relationships/image" Target="/ppt/media/image18.png" Id="R5aea17b9890d4d97" /><ns0:Relationship Type="http://schemas.openxmlformats.org/officeDocument/2006/relationships/notesSlide" Target="/ppt/notesSlides/notesSlide18.xml" Id="R4c6d8b3692d34420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2db16d3014691" /><Relationship Type="http://schemas.openxmlformats.org/officeDocument/2006/relationships/image" Target="/ppt/media/image19.png" Id="R9067718135b84d29" /><Relationship Type="http://schemas.openxmlformats.org/officeDocument/2006/relationships/notesSlide" Target="/ppt/notesSlides/notesSlide19.xml" Id="R56876cab0c5c4c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5adc1abe04069" /><Relationship Type="http://schemas.openxmlformats.org/officeDocument/2006/relationships/image" Target="/ppt/media/image20.png" Id="R42cc35767b954609" /><Relationship Type="http://schemas.openxmlformats.org/officeDocument/2006/relationships/notesSlide" Target="/ppt/notesSlides/notesSlide20.xml" Id="Rd0d925dc04724c1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52d6ded37f4ac3" /><Relationship Type="http://schemas.openxmlformats.org/officeDocument/2006/relationships/image" Target="/ppt/media/image21.png" Id="R7cbbcda5b6434302" /><Relationship Type="http://schemas.openxmlformats.org/officeDocument/2006/relationships/notesSlide" Target="/ppt/notesSlides/notesSlide21.xml" Id="Rac47cb4875b54f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7d408328434927" /><Relationship Type="http://schemas.openxmlformats.org/officeDocument/2006/relationships/image" Target="/ppt/media/image22.png" Id="Rb3eff813a6d8480d" /><Relationship Type="http://schemas.openxmlformats.org/officeDocument/2006/relationships/notesSlide" Target="/ppt/notesSlides/notesSlide22.xml" Id="R16bffd907a0444a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3bc91af0d4b6a" /><Relationship Type="http://schemas.openxmlformats.org/officeDocument/2006/relationships/image" Target="/ppt/media/image23.png" Id="Re92be69d96a04d2f" /><Relationship Type="http://schemas.openxmlformats.org/officeDocument/2006/relationships/notesSlide" Target="/ppt/notesSlides/notesSlide23.xml" Id="Rf295a0abbc5d4d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bf74f76594ad4" /><Relationship Type="http://schemas.openxmlformats.org/officeDocument/2006/relationships/image" Target="/ppt/media/image24.png" Id="Rb8f92cea5662476f" /><Relationship Type="http://schemas.openxmlformats.org/officeDocument/2006/relationships/notesSlide" Target="/ppt/notesSlides/notesSlide24.xml" Id="R8eda14c7dd7c4c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e0071eb904318" /><Relationship Type="http://schemas.openxmlformats.org/officeDocument/2006/relationships/image" Target="/ppt/media/image25.png" Id="R10161ec8a8d840e3" /><Relationship Type="http://schemas.openxmlformats.org/officeDocument/2006/relationships/notesSlide" Target="/ppt/notesSlides/notesSlide25.xml" Id="Rae70e91ea7f6443c" /></Relationships>
</file>

<file path=ppt/slides/_rels/slide26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e0d645b70ff74813" /><ns0:Relationship Type="http://schemas.openxmlformats.org/officeDocument/2006/relationships/image" Target="/ppt/media/image26.png" Id="Rd960aa3f3db74440" /><ns0:Relationship Type="http://schemas.openxmlformats.org/officeDocument/2006/relationships/notesSlide" Target="/ppt/notesSlides/notesSlide26.xml" Id="R8d334889957042fa" /><ns0:Relationship Id="rId1" Type="http://schemas.openxmlformats.org/officeDocument/2006/relationships/slide" Target="slide30.xml" /><ns0:Relationship Id="rId2" Type="http://schemas.openxmlformats.org/officeDocument/2006/relationships/slide" Target="slide30.xml" /></ns0: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059924bd84610" /><Relationship Type="http://schemas.openxmlformats.org/officeDocument/2006/relationships/image" Target="/ppt/media/image27.png" Id="R59eb694ea0eb4f04" /><Relationship Type="http://schemas.openxmlformats.org/officeDocument/2006/relationships/notesSlide" Target="/ppt/notesSlides/notesSlide27.xml" Id="R5f61b238c4444e4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999e606cb4573" /><Relationship Type="http://schemas.openxmlformats.org/officeDocument/2006/relationships/image" Target="/ppt/media/image28.png" Id="R23a83a3c3ebf4973" /><Relationship Type="http://schemas.openxmlformats.org/officeDocument/2006/relationships/notesSlide" Target="/ppt/notesSlides/notesSlide28.xml" Id="R7aa7623e289f4826" /></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0460da5f2eb14139" /><ns0:Relationship Type="http://schemas.openxmlformats.org/officeDocument/2006/relationships/image" Target="/ppt/media/image29.png" Id="Rcf261889bc85482b" /><ns0:Relationship Type="http://schemas.openxmlformats.org/officeDocument/2006/relationships/notesSlide" Target="/ppt/notesSlides/notesSlide29.xml" Id="Re92dafa1b62847df" /><ns0:Relationship Id="rId1" Type="http://schemas.openxmlformats.org/officeDocument/2006/relationships/hyperlink" Target="https://aclanthology.org/P16-1162/" TargetMode="External" /><ns0:Relationship Id="rId2" Type="http://schemas.openxmlformats.org/officeDocument/2006/relationships/hyperlink" Target="https://aclanthology.org/P16-1162/" TargetMode="External" /><ns0:Relationship Id="rId3" Type="http://schemas.openxmlformats.org/officeDocument/2006/relationships/hyperlink" Target="https://aclanthology.org/D18-2012/" TargetMode="External" /><ns0:Relationship Id="rId4" Type="http://schemas.openxmlformats.org/officeDocument/2006/relationships/hyperlink" Target="https://aclanthology.org/D18-2012/" TargetMode="External" /><ns0:Relationship Id="rId5" Type="http://schemas.openxmlformats.org/officeDocument/2006/relationships/hyperlink" Target="https://arxiv.org/abs/2412.15115" TargetMode="External" /><ns0:Relationship Id="rId6" Type="http://schemas.openxmlformats.org/officeDocument/2006/relationships/hyperlink" Target="https://arxiv.org/abs/2407.21783" TargetMode="External" /><ns0:Relationship Id="rId7" Type="http://schemas.openxmlformats.org/officeDocument/2006/relationships/hyperlink" Target="https://github.com/openai/tiktoken" TargetMode="External" /><ns0:Relationship Id="rId8" Type="http://schemas.openxmlformats.org/officeDocument/2006/relationships/hyperlink" Target="https://aclanthology.org/P18-1007/" TargetMode="External" /><ns0:Relationship Id="rId9" Type="http://schemas.openxmlformats.org/officeDocument/2006/relationships/hyperlink" Target="https://aclanthology.org/P18-1007/" TargetMode="External" /><ns0:Relationship Id="rId10" Type="http://schemas.openxmlformats.org/officeDocument/2006/relationships/hyperlink" Target="https://ojs.aaai.org/index.php/AAAI/article/view/37224" TargetMode="External" /><ns0:Relationship Id="rId11" Type="http://schemas.openxmlformats.org/officeDocument/2006/relationships/hyperlink" Target="https://ojs.aaai.org/index.php/AAAI/article/view/37224" TargetMode="External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d4227ca619b04ada" /><ns0:Relationship Type="http://schemas.openxmlformats.org/officeDocument/2006/relationships/image" Target="/ppt/media/image30.png" Id="Rcb7438a72ed9473a" /><ns0:Relationship Type="http://schemas.openxmlformats.org/officeDocument/2006/relationships/notesSlide" Target="/ppt/notesSlides/notesSlide30.xml" Id="R4bf4326723a84a26" /><ns0:Relationship Id="rId1" Type="http://schemas.openxmlformats.org/officeDocument/2006/relationships/hyperlink" Target="https://aclanthology.org/2024.emnlp-main.40/" TargetMode="External" /><ns0:Relationship Id="rId2" Type="http://schemas.openxmlformats.org/officeDocument/2006/relationships/hyperlink" Target="https://aclanthology.org/2023.acl-long.205/" TargetMode="External" /><ns0:Relationship Id="rId3" Type="http://schemas.openxmlformats.org/officeDocument/2006/relationships/hyperlink" Target="https://aclanthology.org/2023.acl-long.205/" TargetMode="External" /><ns0:Relationship Id="rId4" Type="http://schemas.openxmlformats.org/officeDocument/2006/relationships/hyperlink" Target="https://arxiv.org/abs/2310.02989" TargetMode="External" /><ns0:Relationship Id="rId5" Type="http://schemas.openxmlformats.org/officeDocument/2006/relationships/hyperlink" Target="https://arxiv.org/abs/2310.02989" TargetMode="External" /><ns0:Relationship Id="rId6" Type="http://schemas.openxmlformats.org/officeDocument/2006/relationships/hyperlink" Target="https://arxiv.org/abs/2409.06639" TargetMode="External" /><ns0:Relationship Id="rId7" Type="http://schemas.openxmlformats.org/officeDocument/2006/relationships/hyperlink" Target="https://aclanthology.org/2024.acl-short.73/" TargetMode="External" /><ns0:Relationship Id="rId8" Type="http://schemas.openxmlformats.org/officeDocument/2006/relationships/hyperlink" Target="https://arxiv.org/abs/2608.18062" TargetMode="External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1E73B-9F3C-4FE2-A8FF-9B9C8D604F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802805c03f4c75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041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5878-A91A-42D4-B1AE-80B8C2B32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932f5da6146fe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1215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61677-6C20-4281-943D-4A5A80712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f2c320abe4620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140681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A6F5F43-F91F-448D-966D-5E004DCEB16F}"/>
              </a:ext>
            </a:extLst>
          </p:cNvPr>
          <p:cNvPicPr>
            <a:picLocks noChangeAspect="1"/>
          </p:cNvPicPr>
          <p:nvPr/>
        </p:nvPicPr>
        <p:blipFill>
          <a:blip r:embed="R065390a408ff43b1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2150905" y="1859823"/>
            <a:ext cx="272584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r:id="rId2"/>
          </p:cNvPr>
          <p:cNvSpPr/>
          <p:nvPr/>
        </p:nvSpPr>
        <p:spPr>
          <a:xfrm>
            <a:off x="4738232" y="1621293"/>
            <a:ext cx="2045788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Link 5">
            <a:hlinkClick action="ppaction://hlinksldjump" r:id="rId3"/>
          </p:cNvPr>
          <p:cNvSpPr/>
          <p:nvPr/>
        </p:nvSpPr>
        <p:spPr>
          <a:xfrm>
            <a:off x="2150905" y="2766183"/>
            <a:ext cx="272584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Link 6">
            <a:hlinkClick r:id="rId4"/>
          </p:cNvPr>
          <p:cNvSpPr/>
          <p:nvPr/>
        </p:nvSpPr>
        <p:spPr>
          <a:xfrm>
            <a:off x="4738232" y="2289150"/>
            <a:ext cx="1889108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" name="Link 7">
            <a:hlinkClick action="ppaction://hlinksldjump" r:id="rId5"/>
          </p:cNvPr>
          <p:cNvSpPr/>
          <p:nvPr/>
        </p:nvSpPr>
        <p:spPr>
          <a:xfrm>
            <a:off x="2150905" y="3434040"/>
            <a:ext cx="272584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" name="Link 8">
            <a:hlinkClick r:id="rId6"/>
          </p:cNvPr>
          <p:cNvSpPr/>
          <p:nvPr/>
        </p:nvSpPr>
        <p:spPr>
          <a:xfrm>
            <a:off x="4738232" y="3195511"/>
            <a:ext cx="2580875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" name="Link 9">
            <a:hlinkClick action="ppaction://hlinksldjump" r:id="rId7"/>
          </p:cNvPr>
          <p:cNvSpPr/>
          <p:nvPr/>
        </p:nvSpPr>
        <p:spPr>
          <a:xfrm>
            <a:off x="2941110" y="3863368"/>
            <a:ext cx="272558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" name="Link 10">
            <a:hlinkClick r:id="rId8"/>
          </p:cNvPr>
          <p:cNvSpPr/>
          <p:nvPr/>
        </p:nvSpPr>
        <p:spPr>
          <a:xfrm>
            <a:off x="4738232" y="3863368"/>
            <a:ext cx="2847410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" name="Link 11">
            <a:hlinkClick action="ppaction://hlinksldjump" r:id="rId9"/>
          </p:cNvPr>
          <p:cNvSpPr/>
          <p:nvPr/>
        </p:nvSpPr>
        <p:spPr>
          <a:xfrm>
            <a:off x="2752903" y="4531199"/>
            <a:ext cx="272558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Link 12">
            <a:hlinkClick r:id="rId10"/>
          </p:cNvPr>
          <p:cNvSpPr/>
          <p:nvPr/>
        </p:nvSpPr>
        <p:spPr>
          <a:xfrm>
            <a:off x="4738232" y="4531199"/>
            <a:ext cx="1407248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57643952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8CC39765-5A6F-4113-ADEB-2357B5CF2A38}"/>
              </a:ext>
            </a:extLst>
          </p:cNvPr>
          <p:cNvPicPr>
            <a:picLocks noChangeAspect="1"/>
          </p:cNvPicPr>
          <p:nvPr/>
        </p:nvPicPr>
        <p:blipFill>
          <a:blip r:embed="Re4cba7493a13487e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7463059" y="5233027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7837509" y="5233027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370389815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8DF3394-090B-48F7-90F9-D2FEF7A8E024}"/>
              </a:ext>
            </a:extLst>
          </p:cNvPr>
          <p:cNvPicPr>
            <a:picLocks noChangeAspect="1"/>
          </p:cNvPicPr>
          <p:nvPr/>
        </p:nvPicPr>
        <p:blipFill>
          <a:blip r:embed="Rd8e0895002eb4088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1360095" y="5998539"/>
            <a:ext cx="296903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984979066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0EA29D3D-A0AB-4B87-9E68-2ECAED85ED18}"/>
              </a:ext>
            </a:extLst>
          </p:cNvPr>
          <p:cNvPicPr>
            <a:picLocks noChangeAspect="1"/>
          </p:cNvPicPr>
          <p:nvPr/>
        </p:nvPicPr>
        <p:blipFill>
          <a:blip r:embed="Rf4425fec6c5249d4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285739" y="5429017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660189" y="5429017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Link 5">
            <a:hlinkClick action="ppaction://hlinksldjump" r:id="rId3"/>
          </p:cNvPr>
          <p:cNvSpPr/>
          <p:nvPr/>
        </p:nvSpPr>
        <p:spPr>
          <a:xfrm>
            <a:off x="1034613" y="5429017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403907175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EB48B34F-EFB3-4304-BD5D-84F880399972}"/>
              </a:ext>
            </a:extLst>
          </p:cNvPr>
          <p:cNvPicPr>
            <a:picLocks noChangeAspect="1"/>
          </p:cNvPicPr>
          <p:nvPr/>
        </p:nvPicPr>
        <p:blipFill>
          <a:blip r:embed="R5a12baafe35b44bd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r:id="rId1"/>
          </p:cNvPr>
          <p:cNvSpPr/>
          <p:nvPr/>
        </p:nvSpPr>
        <p:spPr>
          <a:xfrm>
            <a:off x="4301836" y="1745006"/>
            <a:ext cx="823648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r:id="rId2"/>
          </p:cNvPr>
          <p:cNvSpPr/>
          <p:nvPr/>
        </p:nvSpPr>
        <p:spPr>
          <a:xfrm>
            <a:off x="4301836" y="2518305"/>
            <a:ext cx="2448842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Link 5">
            <a:hlinkClick r:id="rId3"/>
          </p:cNvPr>
          <p:cNvSpPr/>
          <p:nvPr/>
        </p:nvSpPr>
        <p:spPr>
          <a:xfrm>
            <a:off x="4301836" y="3291603"/>
            <a:ext cx="3705232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Link 6">
            <a:hlinkClick r:id="rId4"/>
          </p:cNvPr>
          <p:cNvSpPr/>
          <p:nvPr/>
        </p:nvSpPr>
        <p:spPr>
          <a:xfrm>
            <a:off x="4301836" y="3788722"/>
            <a:ext cx="2518198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8367143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DF21F-6BD1-4FCB-B0D6-6E93B60CF3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d81f736b264e31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276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376BA-931B-4D0C-B845-A3EB196EC1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9361a9cc943f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552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6D99E93-194A-46BF-9120-2D4F3C587A83}"/>
              </a:ext>
            </a:extLst>
          </p:cNvPr>
          <p:cNvPicPr>
            <a:picLocks noChangeAspect="1"/>
          </p:cNvPicPr>
          <p:nvPr/>
        </p:nvPicPr>
        <p:blipFill>
          <a:blip r:embed="R1d1baf49d23d4bc9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7936099" y="5613061"/>
            <a:ext cx="296929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8310523" y="5613061"/>
            <a:ext cx="296929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946289271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027DBDD-67B5-4847-AF02-B660AAF19BF2}"/>
              </a:ext>
            </a:extLst>
          </p:cNvPr>
          <p:cNvPicPr>
            <a:picLocks noChangeAspect="1"/>
          </p:cNvPicPr>
          <p:nvPr/>
        </p:nvPicPr>
        <p:blipFill>
          <a:blip r:embed="Rfe902c7c0e644c0b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5751347" y="5492045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6241927" y="5492045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540163613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6E4F8C91-3C8C-471A-B4FD-10FD50449102}"/>
              </a:ext>
            </a:extLst>
          </p:cNvPr>
          <p:cNvPicPr>
            <a:picLocks noChangeAspect="1"/>
          </p:cNvPicPr>
          <p:nvPr/>
        </p:nvPicPr>
        <p:blipFill>
          <a:blip r:embed="R3259875192334f5e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5365406" y="5206314"/>
            <a:ext cx="296903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5739830" y="5206314"/>
            <a:ext cx="296929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96211539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0F8A9F6A-F5B8-4640-8B23-D388F0DDA5CD}"/>
              </a:ext>
            </a:extLst>
          </p:cNvPr>
          <p:cNvPicPr>
            <a:picLocks noChangeAspect="1"/>
          </p:cNvPicPr>
          <p:nvPr/>
        </p:nvPicPr>
        <p:blipFill>
          <a:blip r:embed="R14491f55dfda41b5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7453886" y="5615682"/>
            <a:ext cx="296929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7828310" y="5615682"/>
            <a:ext cx="413084" cy="331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8154733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BF267-1969-4E08-8D98-9CB5623CD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d682969de04cf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886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E57C-1596-4C0B-AAED-46F1C330C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f7a3cd4da485b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62549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AB47389-5928-41D5-89A5-4EDA3CF49D5E}"/>
              </a:ext>
            </a:extLst>
          </p:cNvPr>
          <p:cNvPicPr>
            <a:picLocks noChangeAspect="1"/>
          </p:cNvPicPr>
          <p:nvPr/>
        </p:nvPicPr>
        <p:blipFill>
          <a:blip r:embed="Rfc1823dd3a334ac2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6300219" y="4912745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6790799" y="4912745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338829433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A2A83B25-1F6B-4993-936D-0014068A62FF}"/>
              </a:ext>
            </a:extLst>
          </p:cNvPr>
          <p:cNvPicPr>
            <a:picLocks noChangeAspect="1"/>
          </p:cNvPicPr>
          <p:nvPr/>
        </p:nvPicPr>
        <p:blipFill>
          <a:blip r:embed="R5aea17b9890d4d97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285739" y="5431713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776319" y="5431713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5662337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4550EB-9B03-4786-B253-0781239B1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7718135b84d29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7135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44287-83CF-4DAA-87EB-8A60509597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c35767b954609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93205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CBCF1-E1F2-4D28-8A68-79F9203A6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bcda5b6434302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8773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67403-5E22-4A6B-8CC1-AAD13BCC14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ff813a6d8480d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0430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C07C3-E26A-4125-97E5-8818FEB41F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be69d96a04d2f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888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CFD58-69AA-4784-B35C-A57FB46B01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92cea5662476f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314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BD23C-3E40-4A21-8EB8-AEEF65FB9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61ec8a8d840e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278423"/>
      </p:ext>
    </p:extLst>
  </p:cSld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D9973E10-4637-4E86-9D99-3141241F0512}"/>
              </a:ext>
            </a:extLst>
          </p:cNvPr>
          <p:cNvPicPr>
            <a:picLocks noChangeAspect="1"/>
          </p:cNvPicPr>
          <p:nvPr/>
        </p:nvPicPr>
        <p:blipFill>
          <a:blip r:embed="Rd960aa3f3db74440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action="ppaction://hlinksldjump" r:id="rId1"/>
          </p:cNvPr>
          <p:cNvSpPr/>
          <p:nvPr/>
        </p:nvSpPr>
        <p:spPr>
          <a:xfrm>
            <a:off x="2492870" y="5621378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action="ppaction://hlinksldjump" r:id="rId2"/>
          </p:cNvPr>
          <p:cNvSpPr/>
          <p:nvPr/>
        </p:nvSpPr>
        <p:spPr>
          <a:xfrm>
            <a:off x="2983450" y="5621378"/>
            <a:ext cx="413084" cy="33172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64736815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F0937-4E78-4E5C-9053-1713B6046D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b694ea0eb4f04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4587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A82B6-1C3D-436E-BDF5-34333F187A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83a3c3ebf4973"/>
          <a:stretch xmlns:a="http://schemas.openxmlformats.org/drawingml/2006/main"/>
        </p:blipFill>
        <p:spPr>
          <a:xfrm xmlns:a="http://schemas.openxmlformats.org/drawingml/2006/main">
            <a:off x="3046" y="0"/>
            <a:ext cx="9137908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90359"/>
      </p:ext>
    </p:extLst>
  </p:cSld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F0B8C63E-47F6-434A-B2B0-F86F5C657ABA}"/>
              </a:ext>
            </a:extLst>
          </p:cNvPr>
          <p:cNvPicPr>
            <a:picLocks noChangeAspect="1"/>
          </p:cNvPicPr>
          <p:nvPr/>
        </p:nvPicPr>
        <p:blipFill>
          <a:blip r:embed="Rcf261889bc85482b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r:id="rId1"/>
          </p:cNvPr>
          <p:cNvSpPr/>
          <p:nvPr/>
        </p:nvSpPr>
        <p:spPr>
          <a:xfrm>
            <a:off x="4006318" y="623074"/>
            <a:ext cx="4271115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r:id="rId2"/>
          </p:cNvPr>
          <p:cNvSpPr/>
          <p:nvPr/>
        </p:nvSpPr>
        <p:spPr>
          <a:xfrm>
            <a:off x="285739" y="861604"/>
            <a:ext cx="1294167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Link 5">
            <a:hlinkClick r:id="rId3"/>
          </p:cNvPr>
          <p:cNvSpPr/>
          <p:nvPr/>
        </p:nvSpPr>
        <p:spPr>
          <a:xfrm>
            <a:off x="3369971" y="1476714"/>
            <a:ext cx="4703604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Link 6">
            <a:hlinkClick r:id="rId4"/>
          </p:cNvPr>
          <p:cNvSpPr/>
          <p:nvPr/>
        </p:nvSpPr>
        <p:spPr>
          <a:xfrm>
            <a:off x="285739" y="1715243"/>
            <a:ext cx="5635797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" name="Link 7">
            <a:hlinkClick r:id="rId5"/>
          </p:cNvPr>
          <p:cNvSpPr/>
          <p:nvPr/>
        </p:nvSpPr>
        <p:spPr>
          <a:xfrm>
            <a:off x="2525355" y="2330354"/>
            <a:ext cx="2354310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" name="Link 8">
            <a:hlinkClick r:id="rId6"/>
          </p:cNvPr>
          <p:cNvSpPr/>
          <p:nvPr/>
        </p:nvSpPr>
        <p:spPr>
          <a:xfrm>
            <a:off x="2581202" y="2945490"/>
            <a:ext cx="2591510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" name="Link 9">
            <a:hlinkClick r:id="rId7"/>
          </p:cNvPr>
          <p:cNvSpPr/>
          <p:nvPr/>
        </p:nvSpPr>
        <p:spPr>
          <a:xfrm>
            <a:off x="2137498" y="3560601"/>
            <a:ext cx="2883171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" name="Link 10">
            <a:hlinkClick r:id="rId8"/>
          </p:cNvPr>
          <p:cNvSpPr/>
          <p:nvPr/>
        </p:nvSpPr>
        <p:spPr>
          <a:xfrm>
            <a:off x="1932405" y="4175736"/>
            <a:ext cx="6807231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" name="Link 11">
            <a:hlinkClick r:id="rId9"/>
          </p:cNvPr>
          <p:cNvSpPr/>
          <p:nvPr/>
        </p:nvSpPr>
        <p:spPr>
          <a:xfrm>
            <a:off x="285739" y="4414241"/>
            <a:ext cx="2606606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Link 12">
            <a:hlinkClick r:id="rId10"/>
          </p:cNvPr>
          <p:cNvSpPr/>
          <p:nvPr/>
        </p:nvSpPr>
        <p:spPr>
          <a:xfrm>
            <a:off x="2302797" y="5029376"/>
            <a:ext cx="6474994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" name="Link 13">
            <a:hlinkClick r:id="rId11"/>
          </p:cNvPr>
          <p:cNvSpPr/>
          <p:nvPr/>
        </p:nvSpPr>
        <p:spPr>
          <a:xfrm>
            <a:off x="285739" y="5267880"/>
            <a:ext cx="2546146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1772722376"/>
      </p:ext>
    </p:extLst>
  </p:cSld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2" name="">
            <a:extLst>
              <a:ext uri="{FF2B5EF4-FFF2-40B4-BE49-F238E27FC236}">
                <ns2:creationId id="{7DC01726-3965-4599-A69F-D4BA05FCBA66}"/>
              </a:ext>
            </a:extLst>
          </p:cNvPr>
          <p:cNvPicPr>
            <a:picLocks noChangeAspect="1"/>
          </p:cNvPicPr>
          <p:nvPr/>
        </p:nvPicPr>
        <p:blipFill>
          <a:blip r:embed="Rcb7438a72ed9473a"/>
          <a:stretch/>
        </p:blipFill>
        <p:spPr>
          <a:xfrm>
            <a:off x="3046" y="0"/>
            <a:ext cx="9137908" cy="6858000"/>
          </a:xfrm>
          <a:prstGeom prst="rect">
            <a:avLst/>
          </a:prstGeom>
        </p:spPr>
      </p:pic>
      <p:sp>
        <p:nvSpPr>
          <p:cNvPr id="3" name="Link 3">
            <a:hlinkClick r:id="rId1"/>
          </p:cNvPr>
          <p:cNvSpPr/>
          <p:nvPr/>
        </p:nvSpPr>
        <p:spPr>
          <a:xfrm>
            <a:off x="2738664" y="623074"/>
            <a:ext cx="3593436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" name="Link 4">
            <a:hlinkClick r:id="rId2"/>
          </p:cNvPr>
          <p:cNvSpPr/>
          <p:nvPr/>
        </p:nvSpPr>
        <p:spPr>
          <a:xfrm>
            <a:off x="3052427" y="1238210"/>
            <a:ext cx="5182843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Link 5">
            <a:hlinkClick r:id="rId3"/>
          </p:cNvPr>
          <p:cNvSpPr/>
          <p:nvPr/>
        </p:nvSpPr>
        <p:spPr>
          <a:xfrm>
            <a:off x="285739" y="1476714"/>
            <a:ext cx="2139590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Link 6">
            <a:hlinkClick r:id="rId4"/>
          </p:cNvPr>
          <p:cNvSpPr/>
          <p:nvPr/>
        </p:nvSpPr>
        <p:spPr>
          <a:xfrm>
            <a:off x="2691083" y="2091850"/>
            <a:ext cx="6031870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" name="Link 7">
            <a:hlinkClick r:id="rId5"/>
          </p:cNvPr>
          <p:cNvSpPr/>
          <p:nvPr/>
        </p:nvSpPr>
        <p:spPr>
          <a:xfrm>
            <a:off x="285739" y="2330354"/>
            <a:ext cx="636549" cy="29487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" name="Link 8">
            <a:hlinkClick r:id="rId6"/>
          </p:cNvPr>
          <p:cNvSpPr/>
          <p:nvPr/>
        </p:nvSpPr>
        <p:spPr>
          <a:xfrm>
            <a:off x="2545844" y="2945490"/>
            <a:ext cx="5110539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" name="Link 9">
            <a:hlinkClick r:id="rId7"/>
          </p:cNvPr>
          <p:cNvSpPr/>
          <p:nvPr/>
        </p:nvSpPr>
        <p:spPr>
          <a:xfrm>
            <a:off x="2569761" y="3560601"/>
            <a:ext cx="6266877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" name="Link 10">
            <a:hlinkClick r:id="rId8"/>
          </p:cNvPr>
          <p:cNvSpPr/>
          <p:nvPr/>
        </p:nvSpPr>
        <p:spPr>
          <a:xfrm>
            <a:off x="2225881" y="4414241"/>
            <a:ext cx="3466066" cy="294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</p:spTree>
    <p:extLst>
      <p:ext uri="{BB962C8B-B14F-4D97-AF65-F5344CB8AC3E}">
        <ns4:creationId val="2033170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2026-10-14T06:24:45.0400000Z</dcterms:created>
  <dcterms:modified xsi:type="dcterms:W3CDTF">2026-10-14T06:24:45.0400000Z</dcterms:modified>
</coreProperties>
</file>