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4b6c8f2e74224" /><Relationship Type="http://schemas.openxmlformats.org/officeDocument/2006/relationships/extended-properties" Target="/docProps/app.xml" Id="Rd16f7a1c65594f09" /><Relationship Type="http://schemas.openxmlformats.org/officeDocument/2006/relationships/officeDocument" Target="/ppt/presentation.xml" Id="Rcba607d72c1c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991f641fe4d97"/>
  </p:sldMasterIdLst>
  <p:notesMasterIdLst>
    <p:notesMasterId xmlns:r="http://schemas.openxmlformats.org/officeDocument/2006/relationships" r:id="R4e05fc7af9ed439c"/>
  </p:notesMasterIdLst>
  <p:sldIdLst>
    <p:sldId xmlns:r="http://schemas.openxmlformats.org/officeDocument/2006/relationships" id="256" r:id="R7de5f4a824f84bf9"/>
    <p:sldId xmlns:r="http://schemas.openxmlformats.org/officeDocument/2006/relationships" id="257" r:id="R8b1b552ca945408e"/>
    <p:sldId xmlns:r="http://schemas.openxmlformats.org/officeDocument/2006/relationships" id="258" r:id="R129d48a3b08d42d3"/>
    <p:sldId xmlns:r="http://schemas.openxmlformats.org/officeDocument/2006/relationships" id="259" r:id="R1bbd624983b141c6"/>
    <p:sldId xmlns:r="http://schemas.openxmlformats.org/officeDocument/2006/relationships" id="260" r:id="R1657b482aad84034"/>
    <p:sldId xmlns:r="http://schemas.openxmlformats.org/officeDocument/2006/relationships" id="261" r:id="R15da4e31d0b24cdb"/>
    <p:sldId xmlns:r="http://schemas.openxmlformats.org/officeDocument/2006/relationships" id="262" r:id="R9864388f455f4808"/>
    <p:sldId xmlns:r="http://schemas.openxmlformats.org/officeDocument/2006/relationships" id="263" r:id="R35defc42e7494f47"/>
    <p:sldId xmlns:r="http://schemas.openxmlformats.org/officeDocument/2006/relationships" id="264" r:id="R5fd196d363a442bc"/>
    <p:sldId xmlns:r="http://schemas.openxmlformats.org/officeDocument/2006/relationships" id="265" r:id="R95c6f806eb3541ff"/>
    <p:sldId xmlns:r="http://schemas.openxmlformats.org/officeDocument/2006/relationships" id="266" r:id="Rbcf01e86e5124e78"/>
    <p:sldId xmlns:r="http://schemas.openxmlformats.org/officeDocument/2006/relationships" id="267" r:id="Recd86069545b4680"/>
    <p:sldId xmlns:r="http://schemas.openxmlformats.org/officeDocument/2006/relationships" id="268" r:id="R9e6c3e9d6b6c40f0"/>
    <p:sldId xmlns:r="http://schemas.openxmlformats.org/officeDocument/2006/relationships" id="269" r:id="R81c0ce0d4db74a17"/>
    <p:sldId xmlns:r="http://schemas.openxmlformats.org/officeDocument/2006/relationships" id="270" r:id="R4c070c2451f54ab6"/>
    <p:sldId xmlns:r="http://schemas.openxmlformats.org/officeDocument/2006/relationships" id="271" r:id="Rb5c8b4ebd6ca4851"/>
    <p:sldId xmlns:r="http://schemas.openxmlformats.org/officeDocument/2006/relationships" id="272" r:id="R54be55c9e6a046a8"/>
    <p:sldId xmlns:r="http://schemas.openxmlformats.org/officeDocument/2006/relationships" id="273" r:id="R13e170dcc7374a21"/>
    <p:sldId xmlns:r="http://schemas.openxmlformats.org/officeDocument/2006/relationships" id="274" r:id="Rfd88e297467b4d9f"/>
    <p:sldId xmlns:r="http://schemas.openxmlformats.org/officeDocument/2006/relationships" id="275" r:id="R6e053df1d9444822"/>
    <p:sldId xmlns:r="http://schemas.openxmlformats.org/officeDocument/2006/relationships" id="276" r:id="R9557d86b07d24949"/>
    <p:sldId xmlns:r="http://schemas.openxmlformats.org/officeDocument/2006/relationships" id="277" r:id="R5a48a61fc9da4fce"/>
    <p:sldId xmlns:r="http://schemas.openxmlformats.org/officeDocument/2006/relationships" id="278" r:id="Reebf1d3a642c457d"/>
    <p:sldId xmlns:r="http://schemas.openxmlformats.org/officeDocument/2006/relationships" id="279" r:id="R8eaf1b7a88e2442f"/>
    <p:sldId xmlns:r="http://schemas.openxmlformats.org/officeDocument/2006/relationships" id="280" r:id="R03157187ece74506"/>
    <p:sldId xmlns:r="http://schemas.openxmlformats.org/officeDocument/2006/relationships" id="281" r:id="R6b42b9920f304015"/>
    <p:sldId xmlns:r="http://schemas.openxmlformats.org/officeDocument/2006/relationships" id="282" r:id="Rc57972ab1b7b4667"/>
    <p:sldId xmlns:r="http://schemas.openxmlformats.org/officeDocument/2006/relationships" id="283" r:id="R5b5f0d3ba7214d1b"/>
    <p:sldId xmlns:r="http://schemas.openxmlformats.org/officeDocument/2006/relationships" id="284" r:id="Rdc9e04af59864582"/>
    <p:sldId xmlns:r="http://schemas.openxmlformats.org/officeDocument/2006/relationships" id="285" r:id="R1a77fee3a79947ed"/>
    <p:sldId xmlns:r="http://schemas.openxmlformats.org/officeDocument/2006/relationships" id="286" r:id="R63f45ece62f943e2"/>
    <p:sldId xmlns:r="http://schemas.openxmlformats.org/officeDocument/2006/relationships" id="287" r:id="R56c330405b4e4567"/>
    <p:sldId xmlns:r="http://schemas.openxmlformats.org/officeDocument/2006/relationships" id="288" r:id="R34d9e81955fb472e"/>
    <p:sldId xmlns:r="http://schemas.openxmlformats.org/officeDocument/2006/relationships" id="289" r:id="R8d2f6d208284439f"/>
    <p:sldId xmlns:r="http://schemas.openxmlformats.org/officeDocument/2006/relationships" id="290" r:id="R93fa03e7f2c84fc7"/>
    <p:sldId xmlns:r="http://schemas.openxmlformats.org/officeDocument/2006/relationships" id="291" r:id="R9febc4d997b74516"/>
    <p:sldId xmlns:r="http://schemas.openxmlformats.org/officeDocument/2006/relationships" id="292" r:id="R41111142048b4b70"/>
    <p:sldId xmlns:r="http://schemas.openxmlformats.org/officeDocument/2006/relationships" id="293" r:id="R1eb349efc86f42ec"/>
    <p:sldId xmlns:r="http://schemas.openxmlformats.org/officeDocument/2006/relationships" id="294" r:id="Rd4c56639aca7458b"/>
    <p:sldId xmlns:r="http://schemas.openxmlformats.org/officeDocument/2006/relationships" id="295" r:id="R365b09dfdd104b93"/>
    <p:sldId xmlns:r="http://schemas.openxmlformats.org/officeDocument/2006/relationships" id="296" r:id="R578b1e635ffe4a6c"/>
    <p:sldId xmlns:r="http://schemas.openxmlformats.org/officeDocument/2006/relationships" id="297" r:id="R31f97a387d994d4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b45a8a554144c8" /><Relationship Type="http://schemas.openxmlformats.org/officeDocument/2006/relationships/slideMaster" Target="/ppt/slideMasters/slideMaster1.xml" Id="R0b8991f641fe4d97" /><Relationship Type="http://schemas.openxmlformats.org/officeDocument/2006/relationships/notesMaster" Target="/ppt/notesMasters/notesMaster1.xml" Id="R4e05fc7af9ed439c" /><Relationship Type="http://schemas.openxmlformats.org/officeDocument/2006/relationships/presProps" Target="/ppt/presProps.xml" Id="R17fab68805e74d6c" /><Relationship Type="http://schemas.openxmlformats.org/officeDocument/2006/relationships/tableStyles" Target="/ppt/tableStyles.xml" Id="R938f3b080e6f4675" /><Relationship Type="http://schemas.openxmlformats.org/officeDocument/2006/relationships/slide" Target="/ppt/slides/slide1.xml" Id="R7de5f4a824f84bf9" /><Relationship Type="http://schemas.openxmlformats.org/officeDocument/2006/relationships/slide" Target="/ppt/slides/slide2.xml" Id="R8b1b552ca945408e" /><Relationship Type="http://schemas.openxmlformats.org/officeDocument/2006/relationships/slide" Target="/ppt/slides/slide3.xml" Id="R129d48a3b08d42d3" /><Relationship Type="http://schemas.openxmlformats.org/officeDocument/2006/relationships/slide" Target="/ppt/slides/slide4.xml" Id="R1bbd624983b141c6" /><Relationship Type="http://schemas.openxmlformats.org/officeDocument/2006/relationships/slide" Target="/ppt/slides/slide5.xml" Id="R1657b482aad84034" /><Relationship Type="http://schemas.openxmlformats.org/officeDocument/2006/relationships/slide" Target="/ppt/slides/slide6.xml" Id="R15da4e31d0b24cdb" /><Relationship Type="http://schemas.openxmlformats.org/officeDocument/2006/relationships/slide" Target="/ppt/slides/slide7.xml" Id="R9864388f455f4808" /><Relationship Type="http://schemas.openxmlformats.org/officeDocument/2006/relationships/slide" Target="/ppt/slides/slide8.xml" Id="R35defc42e7494f47" /><Relationship Type="http://schemas.openxmlformats.org/officeDocument/2006/relationships/slide" Target="/ppt/slides/slide9.xml" Id="R5fd196d363a442bc" /><Relationship Type="http://schemas.openxmlformats.org/officeDocument/2006/relationships/slide" Target="/ppt/slides/slide10.xml" Id="R95c6f806eb3541ff" /><Relationship Type="http://schemas.openxmlformats.org/officeDocument/2006/relationships/slide" Target="/ppt/slides/slide11.xml" Id="Rbcf01e86e5124e78" /><Relationship Type="http://schemas.openxmlformats.org/officeDocument/2006/relationships/slide" Target="/ppt/slides/slide12.xml" Id="Recd86069545b4680" /><Relationship Type="http://schemas.openxmlformats.org/officeDocument/2006/relationships/slide" Target="/ppt/slides/slide13.xml" Id="R9e6c3e9d6b6c40f0" /><Relationship Type="http://schemas.openxmlformats.org/officeDocument/2006/relationships/slide" Target="/ppt/slides/slide14.xml" Id="R81c0ce0d4db74a17" /><Relationship Type="http://schemas.openxmlformats.org/officeDocument/2006/relationships/slide" Target="/ppt/slides/slide15.xml" Id="R4c070c2451f54ab6" /><Relationship Type="http://schemas.openxmlformats.org/officeDocument/2006/relationships/slide" Target="/ppt/slides/slide16.xml" Id="Rb5c8b4ebd6ca4851" /><Relationship Type="http://schemas.openxmlformats.org/officeDocument/2006/relationships/slide" Target="/ppt/slides/slide17.xml" Id="R54be55c9e6a046a8" /><Relationship Type="http://schemas.openxmlformats.org/officeDocument/2006/relationships/slide" Target="/ppt/slides/slide18.xml" Id="R13e170dcc7374a21" /><Relationship Type="http://schemas.openxmlformats.org/officeDocument/2006/relationships/slide" Target="/ppt/slides/slide19.xml" Id="Rfd88e297467b4d9f" /><Relationship Type="http://schemas.openxmlformats.org/officeDocument/2006/relationships/slide" Target="/ppt/slides/slide20.xml" Id="R6e053df1d9444822" /><Relationship Type="http://schemas.openxmlformats.org/officeDocument/2006/relationships/slide" Target="/ppt/slides/slide21.xml" Id="R9557d86b07d24949" /><Relationship Type="http://schemas.openxmlformats.org/officeDocument/2006/relationships/slide" Target="/ppt/slides/slide22.xml" Id="R5a48a61fc9da4fce" /><Relationship Type="http://schemas.openxmlformats.org/officeDocument/2006/relationships/slide" Target="/ppt/slides/slide23.xml" Id="Reebf1d3a642c457d" /><Relationship Type="http://schemas.openxmlformats.org/officeDocument/2006/relationships/slide" Target="/ppt/slides/slide24.xml" Id="R8eaf1b7a88e2442f" /><Relationship Type="http://schemas.openxmlformats.org/officeDocument/2006/relationships/slide" Target="/ppt/slides/slide25.xml" Id="R03157187ece74506" /><Relationship Type="http://schemas.openxmlformats.org/officeDocument/2006/relationships/slide" Target="/ppt/slides/slide26.xml" Id="R6b42b9920f304015" /><Relationship Type="http://schemas.openxmlformats.org/officeDocument/2006/relationships/slide" Target="/ppt/slides/slide27.xml" Id="Rc57972ab1b7b4667" /><Relationship Type="http://schemas.openxmlformats.org/officeDocument/2006/relationships/slide" Target="/ppt/slides/slide28.xml" Id="R5b5f0d3ba7214d1b" /><Relationship Type="http://schemas.openxmlformats.org/officeDocument/2006/relationships/slide" Target="/ppt/slides/slide29.xml" Id="Rdc9e04af59864582" /><Relationship Type="http://schemas.openxmlformats.org/officeDocument/2006/relationships/slide" Target="/ppt/slides/slide30.xml" Id="R1a77fee3a79947ed" /><Relationship Type="http://schemas.openxmlformats.org/officeDocument/2006/relationships/slide" Target="/ppt/slides/slide31.xml" Id="R63f45ece62f943e2" /><Relationship Type="http://schemas.openxmlformats.org/officeDocument/2006/relationships/slide" Target="/ppt/slides/slide32.xml" Id="R56c330405b4e4567" /><Relationship Type="http://schemas.openxmlformats.org/officeDocument/2006/relationships/slide" Target="/ppt/slides/slide33.xml" Id="R34d9e81955fb472e" /><Relationship Type="http://schemas.openxmlformats.org/officeDocument/2006/relationships/slide" Target="/ppt/slides/slide34.xml" Id="R8d2f6d208284439f" /><Relationship Type="http://schemas.openxmlformats.org/officeDocument/2006/relationships/slide" Target="/ppt/slides/slide35.xml" Id="R93fa03e7f2c84fc7" /><Relationship Type="http://schemas.openxmlformats.org/officeDocument/2006/relationships/slide" Target="/ppt/slides/slide36.xml" Id="R9febc4d997b74516" /><Relationship Type="http://schemas.openxmlformats.org/officeDocument/2006/relationships/slide" Target="/ppt/slides/slide37.xml" Id="R41111142048b4b70" /><Relationship Type="http://schemas.openxmlformats.org/officeDocument/2006/relationships/slide" Target="/ppt/slides/slide38.xml" Id="R1eb349efc86f42ec" /><Relationship Type="http://schemas.openxmlformats.org/officeDocument/2006/relationships/slide" Target="/ppt/slides/slide39.xml" Id="Rd4c56639aca7458b" /><Relationship Type="http://schemas.openxmlformats.org/officeDocument/2006/relationships/slide" Target="/ppt/slides/slide40.xml" Id="R365b09dfdd104b93" /><Relationship Type="http://schemas.openxmlformats.org/officeDocument/2006/relationships/slide" Target="/ppt/slides/slide41.xml" Id="R578b1e635ffe4a6c" /><Relationship Type="http://schemas.openxmlformats.org/officeDocument/2006/relationships/slide" Target="/ppt/slides/slide42.xml" Id="R31f97a387d99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1be3e0000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b6f8a0e7e46b7" /><Relationship Type="http://schemas.openxmlformats.org/officeDocument/2006/relationships/notesMaster" Target="/ppt/notesMasters/notesMaster1.xml" Id="R3dc050723adc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82da4f5874a2b" /><Relationship Type="http://schemas.openxmlformats.org/officeDocument/2006/relationships/notesMaster" Target="/ppt/notesMasters/notesMaster1.xml" Id="Raca3775c4a914f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bc670431c34018" /><Relationship Type="http://schemas.openxmlformats.org/officeDocument/2006/relationships/notesMaster" Target="/ppt/notesMasters/notesMaster1.xml" Id="R984c1c58fc4848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92ce9e98847cc" /><Relationship Type="http://schemas.openxmlformats.org/officeDocument/2006/relationships/notesMaster" Target="/ppt/notesMasters/notesMaster1.xml" Id="R85fb7838cdd046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2de46dec334f8d" /><Relationship Type="http://schemas.openxmlformats.org/officeDocument/2006/relationships/notesMaster" Target="/ppt/notesMasters/notesMaster1.xml" Id="Rc89cfa58b320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c6bd18bc9345ad" /><Relationship Type="http://schemas.openxmlformats.org/officeDocument/2006/relationships/notesMaster" Target="/ppt/notesMasters/notesMaster1.xml" Id="R5d53608db9614d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3f280c86724406" /><Relationship Type="http://schemas.openxmlformats.org/officeDocument/2006/relationships/notesMaster" Target="/ppt/notesMasters/notesMaster1.xml" Id="Rb603bc863897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1e66f417164774" /><Relationship Type="http://schemas.openxmlformats.org/officeDocument/2006/relationships/notesMaster" Target="/ppt/notesMasters/notesMaster1.xml" Id="R7d096a5da57c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beeed3c3b04534" /><Relationship Type="http://schemas.openxmlformats.org/officeDocument/2006/relationships/notesMaster" Target="/ppt/notesMasters/notesMaster1.xml" Id="Ra9925534378a4b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cdbbd31ab449a1" /><Relationship Type="http://schemas.openxmlformats.org/officeDocument/2006/relationships/notesMaster" Target="/ppt/notesMasters/notesMaster1.xml" Id="R20c057c8eb14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e874b19884a0f" /><Relationship Type="http://schemas.openxmlformats.org/officeDocument/2006/relationships/notesMaster" Target="/ppt/notesMasters/notesMaster1.xml" Id="R9de7f70224da4f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57abef73d84cc2" /><Relationship Type="http://schemas.openxmlformats.org/officeDocument/2006/relationships/notesMaster" Target="/ppt/notesMasters/notesMaster1.xml" Id="Ra8756470edd443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5a526186dd4835" /><Relationship Type="http://schemas.openxmlformats.org/officeDocument/2006/relationships/notesMaster" Target="/ppt/notesMasters/notesMaster1.xml" Id="R7adac1f16ddd48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5204a2f99a46b5" /><Relationship Type="http://schemas.openxmlformats.org/officeDocument/2006/relationships/notesMaster" Target="/ppt/notesMasters/notesMaster1.xml" Id="R320181c9e4e141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067ce4be98415a" /><Relationship Type="http://schemas.openxmlformats.org/officeDocument/2006/relationships/notesMaster" Target="/ppt/notesMasters/notesMaster1.xml" Id="Rdae8a4456d0a4b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e99892a17f40a0" /><Relationship Type="http://schemas.openxmlformats.org/officeDocument/2006/relationships/notesMaster" Target="/ppt/notesMasters/notesMaster1.xml" Id="R3ce659f5069840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f07bd32df2430d" /><Relationship Type="http://schemas.openxmlformats.org/officeDocument/2006/relationships/notesMaster" Target="/ppt/notesMasters/notesMaster1.xml" Id="Rede67a3934e944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6b1e4e5f554fac" /><Relationship Type="http://schemas.openxmlformats.org/officeDocument/2006/relationships/notesMaster" Target="/ppt/notesMasters/notesMaster1.xml" Id="R21022732c57147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2e7010a1134ba6" /><Relationship Type="http://schemas.openxmlformats.org/officeDocument/2006/relationships/notesMaster" Target="/ppt/notesMasters/notesMaster1.xml" Id="Rab265c97d3c64c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4c4043b02a4a26" /><Relationship Type="http://schemas.openxmlformats.org/officeDocument/2006/relationships/notesMaster" Target="/ppt/notesMasters/notesMaster1.xml" Id="R8430b4b7033d4c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37623f51c24ca0" /><Relationship Type="http://schemas.openxmlformats.org/officeDocument/2006/relationships/notesMaster" Target="/ppt/notesMasters/notesMaster1.xml" Id="Ra4fb8ec601c740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d484f1a5d04e9c" /><Relationship Type="http://schemas.openxmlformats.org/officeDocument/2006/relationships/notesMaster" Target="/ppt/notesMasters/notesMaster1.xml" Id="R5c7a91b1a9cf41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2f358dceb3415b" /><Relationship Type="http://schemas.openxmlformats.org/officeDocument/2006/relationships/notesMaster" Target="/ppt/notesMasters/notesMaster1.xml" Id="Rb87dd0a6ab5145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c47e34830a4a79" /><Relationship Type="http://schemas.openxmlformats.org/officeDocument/2006/relationships/notesMaster" Target="/ppt/notesMasters/notesMaster1.xml" Id="Rc8c76bb020e549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fcd7c9ea334701" /><Relationship Type="http://schemas.openxmlformats.org/officeDocument/2006/relationships/notesMaster" Target="/ppt/notesMasters/notesMaster1.xml" Id="Ra08264f542c243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c123145ab44f1a" /><Relationship Type="http://schemas.openxmlformats.org/officeDocument/2006/relationships/notesMaster" Target="/ppt/notesMasters/notesMaster1.xml" Id="R2ae77da2e65c41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e7197cfc2b4092" /><Relationship Type="http://schemas.openxmlformats.org/officeDocument/2006/relationships/notesMaster" Target="/ppt/notesMasters/notesMaster1.xml" Id="Rcfbb66d6f2cb46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cde2061cbbe4ace" /><Relationship Type="http://schemas.openxmlformats.org/officeDocument/2006/relationships/notesMaster" Target="/ppt/notesMasters/notesMaster1.xml" Id="R452fa13bbaca4a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b3712a9a1a43f0" /><Relationship Type="http://schemas.openxmlformats.org/officeDocument/2006/relationships/notesMaster" Target="/ppt/notesMasters/notesMaster1.xml" Id="R16c2ff58ab8048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13e48fc68c45db" /><Relationship Type="http://schemas.openxmlformats.org/officeDocument/2006/relationships/notesMaster" Target="/ppt/notesMasters/notesMaster1.xml" Id="Rd5e5d7b968834cd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66f9d0ab204481c" /><Relationship Type="http://schemas.openxmlformats.org/officeDocument/2006/relationships/notesMaster" Target="/ppt/notesMasters/notesMaster1.xml" Id="R975798195e2b446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acab0ceeb445e3" /><Relationship Type="http://schemas.openxmlformats.org/officeDocument/2006/relationships/notesMaster" Target="/ppt/notesMasters/notesMaster1.xml" Id="R570eae2377ae4f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070cdf9c6845e5" /><Relationship Type="http://schemas.openxmlformats.org/officeDocument/2006/relationships/notesMaster" Target="/ppt/notesMasters/notesMaster1.xml" Id="R25414054e0fd4d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20df225fa0b41db" /><Relationship Type="http://schemas.openxmlformats.org/officeDocument/2006/relationships/notesMaster" Target="/ppt/notesMasters/notesMaster1.xml" Id="R328e07cc8deb40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e1ad1fc209a412d" /><Relationship Type="http://schemas.openxmlformats.org/officeDocument/2006/relationships/notesMaster" Target="/ppt/notesMasters/notesMaster1.xml" Id="Rb689e95012944c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a3442199a84983" /><Relationship Type="http://schemas.openxmlformats.org/officeDocument/2006/relationships/notesMaster" Target="/ppt/notesMasters/notesMaster1.xml" Id="R47fa64230cb449d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1fe35fbf97c448b" /><Relationship Type="http://schemas.openxmlformats.org/officeDocument/2006/relationships/notesMaster" Target="/ppt/notesMasters/notesMaster1.xml" Id="R34e71504aaae459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72035d476af482c" /><Relationship Type="http://schemas.openxmlformats.org/officeDocument/2006/relationships/notesMaster" Target="/ppt/notesMasters/notesMaster1.xml" Id="R00581a913baa4fa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c1512633b624064" /><Relationship Type="http://schemas.openxmlformats.org/officeDocument/2006/relationships/notesMaster" Target="/ppt/notesMasters/notesMaster1.xml" Id="Rc0ba0777e7df41c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d99791965c4b19" /><Relationship Type="http://schemas.openxmlformats.org/officeDocument/2006/relationships/notesMaster" Target="/ppt/notesMasters/notesMaster1.xml" Id="R2e16a778469641e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0d3c06cf1b041df" /><Relationship Type="http://schemas.openxmlformats.org/officeDocument/2006/relationships/notesMaster" Target="/ppt/notesMasters/notesMaster1.xml" Id="R2afc07e138504a9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457ca3eb1b94dfc" /><Relationship Type="http://schemas.openxmlformats.org/officeDocument/2006/relationships/notesMaster" Target="/ppt/notesMasters/notesMaster1.xml" Id="R95cfdf89f323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of a Specialized Tokenizer</a:t>
            </a:r>
          </a:p>
          <a:p xmlns:a="http://schemas.openxmlformats.org/drawingml/2006/main">
            <a:r>
              <a:t>for Mathematical Text</a:t>
            </a:r>
          </a:p>
          <a:p xmlns:a="http://schemas.openxmlformats.org/drawingml/2006/main">
            <a:r>
              <a:t>Tongren Xiao</a:t>
            </a:r>
          </a:p>
          <a:p xmlns:a="http://schemas.openxmlformats.org/drawingml/2006/main">
            <a:r>
              <a:t>tongrenxiao7@gmail.com</a:t>
            </a:r>
          </a:p>
          <a:p xmlns:a="http://schemas.openxmlformats.org/drawingml/2006/main">
            <a:r>
              <a:t>Department of Mathematics, Sun Yat-sen University</a:t>
            </a:r>
          </a:p>
          <a:p xmlns:a="http://schemas.openxmlformats.org/drawingml/2006/main">
            <a:r>
              <a:t>October 10, 2026</a:t>
            </a:r>
          </a:p>
          <a:p xmlns:a="http://schemas.openxmlformats.org/drawingml/2006/main">
            <a:r>
              <a:t>Department of Mathematics, Sun Yat-sen University Research Presentation October 10, 2026 0/41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 Mathematical Tokenization Improve Model Capability?</a:t>
            </a:r>
          </a:p>
          <a:p xmlns:a="http://schemas.openxmlformats.org/drawingml/2006/main">
            <a:r>
              <a:t>Research question</a:t>
            </a:r>
          </a:p>
          <a:p xmlns:a="http://schemas.openxmlformats.org/drawingml/2006/main">
            <a:r>
              <a:t>Can we train tokenizers specifically for mathematical text that improve both intrinsic</a:t>
            </a:r>
          </a:p>
          <a:p xmlns:a="http://schemas.openxmlformats.org/drawingml/2006/main">
            <a:r>
              <a:t>tokenization and downstream mathematical capability ?</a:t>
            </a:r>
          </a:p>
          <a:p xmlns:a="http://schemas.openxmlformats.org/drawingml/2006/main">
            <a:r>
              <a:t>Question What would count as evidence?</a:t>
            </a:r>
          </a:p>
          <a:p xmlns:a="http://schemas.openxmlformats.org/drawingml/2006/main">
            <a:r>
              <a:t>RQ1: tokenizer</a:t>
            </a:r>
          </a:p>
          <a:p xmlns:a="http://schemas.openxmlformats.org/drawingml/2006/main">
            <a:r>
              <a:t>quality</a:t>
            </a:r>
          </a:p>
          <a:p xmlns:a="http://schemas.openxmlformats.org/drawingml/2006/main">
            <a:r>
              <a:t>Lossless compression, robustness, speed, etc.</a:t>
            </a:r>
          </a:p>
          <a:p xmlns:a="http://schemas.openxmlformats.org/drawingml/2006/main">
            <a:r>
              <a:t>RQ2: model</a:t>
            </a:r>
          </a:p>
          <a:p xmlns:a="http://schemas.openxmlformats.org/drawingml/2006/main">
            <a:r>
              <a:t>capability</a:t>
            </a:r>
          </a:p>
          <a:p xmlns:a="http://schemas.openxmlformats.org/drawingml/2006/main">
            <a:r>
              <a:t>Mathematical tasks such as PDE/ODE solving.</a:t>
            </a:r>
          </a:p>
          <a:p xmlns:a="http://schemas.openxmlformats.org/drawingml/2006/main">
            <a:r>
              <a:t>Current status Tokenizer experiments completed; downstream evaluation to</a:t>
            </a:r>
          </a:p>
          <a:p xmlns:a="http://schemas.openxmlformats.org/drawingml/2006/main">
            <a:r>
              <a:t>follow.</a:t>
            </a:r>
          </a:p>
          <a:p xmlns:a="http://schemas.openxmlformats.org/drawingml/2006/main">
            <a:r>
              <a:t>Department of Mathematics, Sun Yat-sen University Research Question October 10, 2026 1/41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Overview</a:t>
            </a:r>
          </a:p>
          <a:p xmlns:a="http://schemas.openxmlformats.org/drawingml/2006/main">
            <a:r>
              <a:t>Component Summary</a:t>
            </a:r>
          </a:p>
          <a:p xmlns:a="http://schemas.openxmlformats.org/drawingml/2006/main">
            <a:r>
              <a:t>Dataset We constructed and classified a dataset of mathematical formulas</a:t>
            </a:r>
          </a:p>
          <a:p xmlns:a="http://schemas.openxmlformats.org/drawingml/2006/main">
            <a:r>
              <a:t>from multiple mathematical fields.</a:t>
            </a:r>
          </a:p>
          <a:p xmlns:a="http://schemas.openxmlformats.org/drawingml/2006/main">
            <a:r>
              <a:t>Models We proposed two specialized mathematical tokenizers.</a:t>
            </a:r>
          </a:p>
          <a:p xmlns:a="http://schemas.openxmlformats.org/drawingml/2006/main">
            <a:r>
              <a:t>Baselines We selected five tokenizers: classical BPE and Unigram methods,</a:t>
            </a:r>
          </a:p>
          <a:p xmlns:a="http://schemas.openxmlformats.org/drawingml/2006/main">
            <a:r>
              <a:t>and tokenizers used by mature large language models.</a:t>
            </a:r>
          </a:p>
          <a:p xmlns:a="http://schemas.openxmlformats.org/drawingml/2006/main">
            <a:r>
              <a:t>Results Our two tokenizers achieve leading performance on core intrinsic</a:t>
            </a:r>
          </a:p>
          <a:p xmlns:a="http://schemas.openxmlformats.org/drawingml/2006/main">
            <a:r>
              <a:t>metrics and in the overall comparison.</a:t>
            </a:r>
          </a:p>
          <a:p xmlns:a="http://schemas.openxmlformats.org/drawingml/2006/main">
            <a:r>
              <a:t>Department of Mathematics, Sun Yat-sen University Research Question October 10, 2026 2/41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Tokenizers</a:t>
            </a:r>
          </a:p>
          <a:p xmlns:a="http://schemas.openxmlformats.org/drawingml/2006/main">
            <a:r>
              <a:t>Category Tokenizer Actual ID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Code / tokenizer source</a:t>
            </a:r>
          </a:p>
          <a:p xmlns:a="http://schemas.openxmlformats.org/drawingml/2006/main">
            <a:r>
              <a:t>Classical tokenizers Byte BPE 1,024 / 2,048 huggingface/tokenizers</a:t>
            </a:r>
          </a:p>
          <a:p xmlns:a="http://schemas.openxmlformats.org/drawingml/2006/main">
            <a:r>
              <a:t>Classical tokenizers SP</a:t>
            </a:r>
          </a:p>
          <a:p xmlns:a="http://schemas.openxmlformats.org/drawingml/2006/main">
            <a:r>
              <a:t>Unigram</a:t>
            </a:r>
          </a:p>
          <a:p xmlns:a="http://schemas.openxmlformats.org/drawingml/2006/main">
            <a:r>
              <a:t>1,024 / 2,048 google/sentencepiece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Qwen2.5 151,665 Qwen2.5-0.5B/tokenizer.json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Llama 3 128,256 meta-llama/llama3/tokenizer.py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o200k 200,019 openai/tiktoken</a:t>
            </a:r>
          </a:p>
          <a:p xmlns:a="http://schemas.openxmlformats.org/drawingml/2006/main">
            <a:r>
              <a:t>Qwen2.5: used by the Qwen2.5 model family.</a:t>
            </a:r>
          </a:p>
          <a:p xmlns:a="http://schemas.openxmlformats.org/drawingml/2006/main">
            <a:r>
              <a:t>Llama 3: used by the Meta Llama 3 model family.</a:t>
            </a:r>
          </a:p>
          <a:p xmlns:a="http://schemas.openxmlformats.org/drawingml/2006/main">
            <a:r>
              <a:t>o200k_base: used by GPT-4o and GPT-4.1.</a:t>
            </a:r>
          </a:p>
          <a:p xmlns:a="http://schemas.openxmlformats.org/drawingml/2006/main">
            <a:r>
              <a:t>Department of Mathematics, Sun Yat-sen University Baseline October 10, 2026 3/41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Unigram: Training and Inference</a:t>
            </a:r>
          </a:p>
          <a:p xmlns:a="http://schemas.openxmlformats.org/drawingml/2006/main">
            <a:r>
              <a:t>Training step Procedure</a:t>
            </a:r>
          </a:p>
          <a:p xmlns:a="http://schemas.openxmlformats.org/drawingml/2006/main">
            <a:r>
              <a:t>Preparation Use raw strings without language-specific word segmentation; represent</a:t>
            </a:r>
          </a:p>
          <a:p xmlns:a="http://schemas.openxmlformats.org/drawingml/2006/main">
            <a:r>
              <a:t>spaces as a symbol, usually ▁.</a:t>
            </a:r>
          </a:p>
          <a:p xmlns:a="http://schemas.openxmlformats.org/drawingml/2006/main">
            <a:r>
              <a:t>1. Initialize Create a large seed vocabulary of characters, frequent substrings and symbols;</a:t>
            </a:r>
          </a:p>
          <a:p xmlns:a="http://schemas.openxmlformats.org/drawingml/2006/main">
            <a:r>
              <a:t>assign initial piece probabilities.</a:t>
            </a:r>
          </a:p>
          <a:p xmlns:a="http://schemas.openxmlformats.org/drawingml/2006/main">
            <a:r>
              <a:t>2. EM iterations E: sum over possible segmentations to obtain expected piece counts. M:</a:t>
            </a:r>
          </a:p>
          <a:p xmlns:a="http://schemas.openxmlformats.org/drawingml/2006/main">
            <a:r>
              <a:t>re-estimate probabilities from those counts.</a:t>
            </a:r>
          </a:p>
          <a:p xmlns:a="http://schemas.openxmlformats.org/drawingml/2006/main">
            <a:r>
              <a:t>3. Prune Remove pieces with low contribution to corpus likelihood; repeat EM and</a:t>
            </a:r>
          </a:p>
          <a:p xmlns:a="http://schemas.openxmlformats.org/drawingml/2006/main">
            <a:r>
              <a:t>pruning to reach 1,024 or 2,048 IDs.</a:t>
            </a:r>
          </a:p>
          <a:p xmlns:a="http://schemas.openxmlformats.org/drawingml/2006/main">
            <a:r>
              <a:t>4. Final model A piece vocabulary and probabilities; an optional byte fallback table.</a:t>
            </a:r>
          </a:p>
          <a:p xmlns:a="http://schemas.openxmlformats.org/drawingml/2006/main">
            <a:r>
              <a:t>Inference</a:t>
            </a:r>
          </a:p>
          <a:p xmlns:a="http://schemas.openxmlformats.org/drawingml/2006/main">
            <a:r>
              <a:t>Build a segmentation lattice; for abc: a + b + c, ab + c, a + bc, or abc.</a:t>
            </a:r>
          </a:p>
          <a:p xmlns:a="http://schemas.openxmlformats.org/drawingml/2006/main">
            <a:r>
              <a:t>P(s) =</a:t>
            </a:r>
          </a:p>
          <a:p xmlns:a="http://schemas.openxmlformats.org/drawingml/2006/main">
            <a:r>
              <a:t>∏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p(si), s∗ = arg max</a:t>
            </a:r>
          </a:p>
          <a:p xmlns:a="http://schemas.openxmlformats.org/drawingml/2006/main">
            <a:r>
              <a:t>s∈S(x)</a:t>
            </a:r>
          </a:p>
          <a:p xmlns:a="http://schemas.openxmlformats.org/drawingml/2006/main">
            <a:r>
              <a:t>P(s).</a:t>
            </a:r>
          </a:p>
          <a:p xmlns:a="http://schemas.openxmlformats.org/drawingml/2006/main">
            <a:r>
              <a:t>Viterbi dynamic programming returns the most probable token sequence.</a:t>
            </a:r>
          </a:p>
          <a:p xmlns:a="http://schemas.openxmlformats.org/drawingml/2006/main">
            <a:r>
              <a:t>Department of Mathematics, Sun Yat-sen University Baseline October 10, 2026 4/41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Unigram: A Two-Round EM Example</a:t>
            </a:r>
          </a:p>
          <a:p xmlns:a="http://schemas.openxmlformats.org/drawingml/2006/main">
            <a:r>
              <a:t>Setup: one training string ab; pieces a, b, ab; initially p(a) = p(b) = p(ab) = 1/3 .</a:t>
            </a:r>
          </a:p>
          <a:p xmlns:a="http://schemas.openxmlformats.org/drawingml/2006/main">
            <a:r>
              <a:t>E step: segmentation likelihoods and posteriors</a:t>
            </a:r>
          </a:p>
          <a:p xmlns:a="http://schemas.openxmlformats.org/drawingml/2006/main">
            <a:r>
              <a:t>Round (a, b) likelihood ab</a:t>
            </a:r>
          </a:p>
          <a:p xmlns:a="http://schemas.openxmlformats.org/drawingml/2006/main">
            <a:r>
              <a:t>likelihood</a:t>
            </a:r>
          </a:p>
          <a:p xmlns:a="http://schemas.openxmlformats.org/drawingml/2006/main">
            <a:r>
              <a:t>P(x) Posterior: (a, b) / ab</a:t>
            </a:r>
          </a:p>
          <a:p xmlns:a="http://schemas.openxmlformats.org/drawingml/2006/main">
            <a:r>
              <a:t>1 1/3 × 1/3 = 1/9 1/3 = 3/9 4/9 1/4 = 0 .25 / 3/4 = 0 .75</a:t>
            </a:r>
          </a:p>
          <a:p xmlns:a="http://schemas.openxmlformats.org/drawingml/2006/main">
            <a:r>
              <a:t>2 0.2 × 0.2 = 0 .04 0 .6 0.64 0 .0625 / 0.9375</a:t>
            </a:r>
          </a:p>
          <a:p xmlns:a="http://schemas.openxmlformats.org/drawingml/2006/main">
            <a:r>
              <a:t>M step: expected counts and normalized probabilities</a:t>
            </a:r>
          </a:p>
          <a:p xmlns:a="http://schemas.openxmlformats.org/drawingml/2006/main">
            <a:r>
              <a:t>Round E[na], E[nb], E[nab] Total p(a), p(b), p(ab)</a:t>
            </a:r>
          </a:p>
          <a:p xmlns:a="http://schemas.openxmlformats.org/drawingml/2006/main">
            <a:r>
              <a:t>1 0.25, 0.25, 0.75 1.25 0 .2, 0.2, 0.6</a:t>
            </a:r>
          </a:p>
          <a:p xmlns:a="http://schemas.openxmlformats.org/drawingml/2006/main">
            <a:r>
              <a:t>2 0.0625, 0.0625, 0.9375 1 .0625 1/17 , 1/17, 15/17</a:t>
            </a:r>
          </a:p>
          <a:p xmlns:a="http://schemas.openxmlformats.org/drawingml/2006/main">
            <a:r>
              <a:t>≈ 0.0588, 0.0588, 0.8824</a:t>
            </a:r>
          </a:p>
          <a:p xmlns:a="http://schemas.openxmlformats.org/drawingml/2006/main">
            <a:r>
              <a:t>P(x) =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s∈S(x)</a:t>
            </a:r>
          </a:p>
          <a:p xmlns:a="http://schemas.openxmlformats.org/drawingml/2006/main">
            <a:r>
              <a:t>∏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p(si), p(v) = E[nv]∑</a:t>
            </a:r>
          </a:p>
          <a:p xmlns:a="http://schemas.openxmlformats.org/drawingml/2006/main">
            <a:r>
              <a:t>u E[nu] .</a:t>
            </a:r>
          </a:p>
          <a:p xmlns:a="http://schemas.openxmlformats.org/drawingml/2006/main">
            <a:r>
              <a:t>For this one-string example, p(ab) → 1 and p(a), p(b) → 0: EM favors the whole piece</a:t>
            </a:r>
          </a:p>
          <a:p xmlns:a="http://schemas.openxmlformats.org/drawingml/2006/main">
            <a:r>
              <a:t>ab. Low-contribution pieces become pruning candidates; required characters remain</a:t>
            </a:r>
          </a:p>
          <a:p xmlns:a="http://schemas.openxmlformats.org/drawingml/2006/main">
            <a:r>
              <a:t>protected.</a:t>
            </a:r>
          </a:p>
          <a:p xmlns:a="http://schemas.openxmlformats.org/drawingml/2006/main">
            <a:r>
              <a:t>Department of Mathematics, Sun Yat-sen University Baseline October 10, 2026 5/41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Two Routes: Contribution and Prior Art</a:t>
            </a:r>
          </a:p>
          <a:p xmlns:a="http://schemas.openxmlformats.org/drawingml/2006/main">
            <a:r>
              <a:t>Dimension Math-atom BPE Boundary AST</a:t>
            </a:r>
          </a:p>
          <a:p xmlns:a="http://schemas.openxmlformats.org/drawingml/2006/main">
            <a:r>
              <a:t>Vocabulary Fit-derived</a:t>
            </a:r>
          </a:p>
          <a:p xmlns:a="http://schemas.openxmlformats.org/drawingml/2006/main">
            <a:r>
              <a:t>complete-command/Unicode atoms;</a:t>
            </a:r>
          </a:p>
          <a:p xmlns:a="http://schemas.openxmlformats.org/drawingml/2006/main">
            <a:r>
              <a:t>original BPE.</a:t>
            </a:r>
          </a:p>
          <a:p xmlns:a="http://schemas.openxmlformats.org/drawingml/2006/main">
            <a:r>
              <a:t>Exactly the same byte vocabulary</a:t>
            </a:r>
          </a:p>
          <a:p xmlns:a="http://schemas.openxmlformats.org/drawingml/2006/main">
            <a:r>
              <a:t>and ID budget.</a:t>
            </a:r>
          </a:p>
          <a:p xmlns:a="http://schemas.openxmlformats.org/drawingml/2006/main">
            <a:r>
              <a:t>Segmentation Original learned BPE merge order. Minimum additive</a:t>
            </a:r>
          </a:p>
          <a:p xmlns:a="http://schemas.openxmlformats.org/drawingml/2006/main">
            <a:r>
              <a:t>token/tree/boundary cost on a legal</a:t>
            </a:r>
          </a:p>
          <a:p xmlns:a="http://schemas.openxmlformats.org/drawingml/2006/main">
            <a:r>
              <a:t>source graph.</a:t>
            </a:r>
          </a:p>
          <a:p xmlns:a="http://schemas.openxmlformats.org/drawingml/2006/main">
            <a:r>
              <a:t>Mathematical</a:t>
            </a:r>
          </a:p>
          <a:p xmlns:a="http://schemas.openxmlformats.org/drawingml/2006/main">
            <a:r>
              <a:t>prior</a:t>
            </a:r>
          </a:p>
          <a:p xmlns:a="http://schemas.openxmlformats.org/drawingml/2006/main">
            <a:r>
              <a:t>Lexical units observed in training. Lexical units plus a restricted source</a:t>
            </a:r>
          </a:p>
          <a:p xmlns:a="http://schemas.openxmlformats.org/drawingml/2006/main">
            <a:r>
              <a:t>parser.</a:t>
            </a:r>
          </a:p>
          <a:p xmlns:a="http://schemas.openxmlformats.org/drawingml/2006/main">
            <a:r>
              <a:t>Deployment Native reversible codec +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Fused native trie traversal and</a:t>
            </a:r>
          </a:p>
          <a:p xmlns:a="http://schemas.openxmlformats.org/drawingml/2006/main">
            <a:r>
              <a:t>dynamic programming.</a:t>
            </a:r>
          </a:p>
          <a:p xmlns:a="http://schemas.openxmlformats.org/drawingml/2006/main">
            <a:r>
              <a:t>Novelty boundary A reproducible domain-specific</a:t>
            </a:r>
          </a:p>
          <a:p xmlns:a="http://schemas.openxmlformats.org/drawingml/2006/main">
            <a:r>
              <a:t>training recipe.</a:t>
            </a:r>
          </a:p>
          <a:p xmlns:a="http://schemas.openxmlformats.org/drawingml/2006/main">
            <a:r>
              <a:t>A tested structural trade-off; shortest</a:t>
            </a:r>
          </a:p>
          <a:p xmlns:a="http://schemas.openxmlformats.org/drawingml/2006/main">
            <a:r>
              <a:t>paths and AST ideas are not new.</a:t>
            </a:r>
          </a:p>
          <a:p xmlns:a="http://schemas.openxmlformats.org/drawingml/2006/main">
            <a:r>
              <a:t>Central comparison</a:t>
            </a:r>
          </a:p>
          <a:p xmlns:a="http://schemas.openxmlformats.org/drawingml/2006/main">
            <a:r>
              <a:t>Holding the dictionary fixed isolates the effect of the structural segmentation rule.</a:t>
            </a:r>
          </a:p>
          <a:p xmlns:a="http://schemas.openxmlformats.org/drawingml/2006/main">
            <a:r>
              <a:t>Comparing against generic tokenizers instead measures the complete specialized system.</a:t>
            </a:r>
          </a:p>
          <a:p xmlns:a="http://schemas.openxmlformats.org/drawingml/2006/main">
            <a:r>
              <a:t>Bai et al. (2026) ; Schmidt et al. (2024) ; Scarlatos and Lan (2023)</a:t>
            </a:r>
          </a:p>
          <a:p xmlns:a="http://schemas.openxmlformats.org/drawingml/2006/main">
            <a:r>
              <a:t>Department of Mathematics, Sun Yat-sen University Related Work October 10, 2026 6/41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Corpus Sources and Their Roles</a:t>
            </a:r>
          </a:p>
          <a:p xmlns:a="http://schemas.openxmlformats.org/drawingml/2006/main">
            <a:r>
              <a:t>Source Accepted</a:t>
            </a:r>
          </a:p>
          <a:p xmlns:a="http://schemas.openxmlformats.org/drawingml/2006/main">
            <a:r>
              <a:t>formulas</a:t>
            </a:r>
          </a:p>
          <a:p xmlns:a="http://schemas.openxmlformats.org/drawingml/2006/main">
            <a:r>
              <a:t>Provenance / role</a:t>
            </a:r>
          </a:p>
          <a:p xmlns:a="http://schemas.openxmlformats.org/drawingml/2006/main">
            <a:r>
              <a:t>arXiv, fixed pre-2020</a:t>
            </a:r>
          </a:p>
          <a:p xmlns:a="http://schemas.openxmlformats.org/drawingml/2006/main">
            <a:r>
              <a:t>versions</a:t>
            </a:r>
          </a:p>
          <a:p xmlns:a="http://schemas.openxmlformats.org/drawingml/2006/main">
            <a:r>
              <a:t>51,229 CC BY / CC0; 283 contributing source papers;</a:t>
            </a:r>
          </a:p>
          <a:p xmlns:a="http://schemas.openxmlformats.org/drawingml/2006/main">
            <a:r>
              <a:t>historical human-origin inference.</a:t>
            </a:r>
          </a:p>
          <a:p xmlns:a="http://schemas.openxmlformats.org/drawingml/2006/main">
            <a:r>
              <a:t>OpenAI math repository 2,810 Apache-2.0; conservatively labeled possible_mixed.</a:t>
            </a:r>
          </a:p>
          <a:p xmlns:a="http://schemas.openxmlformats.org/drawingml/2006/main">
            <a:r>
              <a:t>FunGrim 1,889 MIT; formula library, origin unknown.</a:t>
            </a:r>
          </a:p>
          <a:p xmlns:a="http://schemas.openxmlformats.org/drawingml/2006/main">
            <a:r>
              <a:t>SymPy 72 BSD-3-Clause; formula fixtures, origin unknown.</a:t>
            </a:r>
          </a:p>
          <a:p xmlns:a="http://schemas.openxmlformats.org/drawingml/2006/main">
            <a:r>
              <a:t>EqGPT structures / AI</a:t>
            </a:r>
          </a:p>
          <a:p xmlns:a="http://schemas.openxmlformats.org/drawingml/2006/main">
            <a:r>
              <a:t>templates</a:t>
            </a:r>
          </a:p>
          <a:p xmlns:a="http://schemas.openxmlformats.org/drawingml/2006/main">
            <a:r>
              <a:t>Supplement</a:t>
            </a:r>
          </a:p>
          <a:p xmlns:a="http://schemas.openxmlformats.org/drawingml/2006/main">
            <a:r>
              <a:t>only</a:t>
            </a:r>
          </a:p>
          <a:p xmlns:a="http://schemas.openxmlformats.org/drawingml/2006/main">
            <a:r>
              <a:t>Not counted as complete research-level LaTeX</a:t>
            </a:r>
          </a:p>
          <a:p xmlns:a="http://schemas.openxmlformats.org/drawingml/2006/main">
            <a:r>
              <a:t>formulas in the 56,000-string catalog.</a:t>
            </a:r>
          </a:p>
          <a:p xmlns:a="http://schemas.openxmlformats.org/drawingml/2006/main">
            <a:r>
              <a:t>Source-specific distinction</a:t>
            </a:r>
          </a:p>
          <a:p xmlns:a="http://schemas.openxmlformats.org/drawingml/2006/main">
            <a:r>
              <a:t>EqGPT reports 221 handbook PDE structures and an operator vocabulary. Its structure</a:t>
            </a:r>
          </a:p>
          <a:p xmlns:a="http://schemas.openxmlformats.org/drawingml/2006/main">
            <a:r>
              <a:t>strings are useful context, but are not automatically valid complete LaTeX equations.</a:t>
            </a:r>
          </a:p>
          <a:p xmlns:a="http://schemas.openxmlformats.org/drawingml/2006/main">
            <a:r>
              <a:t>Record-level traceability</a:t>
            </a:r>
          </a:p>
          <a:p xmlns:a="http://schemas.openxmlformats.org/drawingml/2006/main">
            <a:r>
              <a:t>Each accepted string retains its source revision, license and location. Formula text is</a:t>
            </a:r>
          </a:p>
          <a:p xmlns:a="http://schemas.openxmlformats.org/drawingml/2006/main">
            <a:r>
              <a:t>stored separately from this metadata; redistribution follows the upstream record license.</a:t>
            </a:r>
          </a:p>
          <a:p xmlns:a="http://schemas.openxmlformats.org/drawingml/2006/main">
            <a:r>
              <a:t>Xu et al. (2025) ; Gebru et al. (2021)</a:t>
            </a:r>
          </a:p>
          <a:p xmlns:a="http://schemas.openxmlformats.org/drawingml/2006/main">
            <a:r>
              <a:t>Department of Mathematics, Sun Yat-sen University Dataset October 10, 2026 7/41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Construction: From Licensed Source to Formula Record</a:t>
            </a:r>
          </a:p>
          <a:p xmlns:a="http://schemas.openxmlformats.org/drawingml/2006/main">
            <a:r>
              <a:t>Step Operation Retained evidence</a:t>
            </a:r>
          </a:p>
          <a:p xmlns:a="http://schemas.openxmlformats.org/drawingml/2006/main">
            <a:r>
              <a:t>1. Acquire Oﬀicial arXiv URLs; cache first, one</a:t>
            </a:r>
          </a:p>
          <a:p xmlns:a="http://schemas.openxmlformats.org/drawingml/2006/main">
            <a:r>
              <a:t>connection, at least 4 s between</a:t>
            </a:r>
          </a:p>
          <a:p xmlns:a="http://schemas.openxmlformats.org/drawingml/2006/main">
            <a:r>
              <a:t>requests.</a:t>
            </a:r>
          </a:p>
          <a:p xmlns:a="http://schemas.openxmlformats.org/drawingml/2006/main">
            <a:r>
              <a:t>Version date, license URL, source</a:t>
            </a:r>
          </a:p>
          <a:p xmlns:a="http://schemas.openxmlformats.org/drawingml/2006/main">
            <a:r>
              <a:t>archive hash.</a:t>
            </a:r>
          </a:p>
          <a:p xmlns:a="http://schemas.openxmlformats.org/drawingml/2006/main">
            <a:r>
              <a:t>2. Extract Find inline/display/multirow math;</a:t>
            </a:r>
          </a:p>
          <a:p xmlns:a="http://schemas.openxmlformats.org/drawingml/2006/main">
            <a:r>
              <a:t>bounded source-macro expansion.</a:t>
            </a:r>
          </a:p>
          <a:p xmlns:a="http://schemas.openxmlformats.org/drawingml/2006/main">
            <a:r>
              <a:t>Original LaTeX, member path and</a:t>
            </a:r>
          </a:p>
          <a:p xmlns:a="http://schemas.openxmlformats.org/drawingml/2006/main">
            <a:r>
              <a:t>source span.</a:t>
            </a:r>
          </a:p>
          <a:p xmlns:a="http://schemas.openxmlformats.org/drawingml/2006/main">
            <a:r>
              <a:t>3. Filter Reject prose, isolated labels, executable</a:t>
            </a:r>
          </a:p>
          <a:p xmlns:a="http://schemas.openxmlformats.org/drawingml/2006/main">
            <a:r>
              <a:t>commands and damaged/trivial</a:t>
            </a:r>
          </a:p>
          <a:p xmlns:a="http://schemas.openxmlformats.org/drawingml/2006/main">
            <a:r>
              <a:t>fragments.</a:t>
            </a:r>
          </a:p>
          <a:p xmlns:a="http://schemas.openxmlformats.org/drawingml/2006/main">
            <a:r>
              <a:t>Explicit rejection reason and quarantine</a:t>
            </a:r>
          </a:p>
          <a:p xmlns:a="http://schemas.openxmlformats.org/drawingml/2006/main">
            <a:r>
              <a:t>record.</a:t>
            </a:r>
          </a:p>
          <a:p xmlns:a="http://schemas.openxmlformats.org/drawingml/2006/main">
            <a:r>
              <a:t>4. Validate Independent KaTeX parse and</a:t>
            </a:r>
          </a:p>
          <a:p xmlns:a="http://schemas.openxmlformats.org/drawingml/2006/main">
            <a:r>
              <a:t>source/expanded rendering fidelity.</a:t>
            </a:r>
          </a:p>
          <a:p xmlns:a="http://schemas.openxmlformats.org/drawingml/2006/main">
            <a:r>
              <a:t>Reference spans and</a:t>
            </a:r>
          </a:p>
          <a:p xmlns:a="http://schemas.openxmlformats.org/drawingml/2006/main">
            <a:r>
              <a:t>rendered-equivalence hashes.</a:t>
            </a:r>
          </a:p>
          <a:p xmlns:a="http://schemas.openxmlformats.org/drawingml/2006/main">
            <a:r>
              <a:t>5. Partition Exact/template/render-equivalent</a:t>
            </a:r>
          </a:p>
          <a:p xmlns:a="http://schemas.openxmlformats.org/drawingml/2006/main">
            <a:r>
              <a:t>exclusion against earlier exposures.</a:t>
            </a:r>
          </a:p>
          <a:p xmlns:a="http://schemas.openxmlformats.org/drawingml/2006/main">
            <a:r>
              <a:t>Frozen formula IDs, source groups and</a:t>
            </a:r>
          </a:p>
          <a:p xmlns:a="http://schemas.openxmlformats.org/drawingml/2006/main">
            <a:r>
              <a:t>split hashes.</a:t>
            </a:r>
          </a:p>
          <a:p xmlns:a="http://schemas.openxmlformats.org/drawingml/2006/main">
            <a:r>
              <a:t>No hidden mathematical rewriting</a:t>
            </a:r>
          </a:p>
          <a:p xmlns:a="http://schemas.openxmlformats.org/drawingml/2006/main">
            <a:r>
              <a:t>The encoder is evaluated on the accepted stored string. Formula normalization is a</a:t>
            </a:r>
          </a:p>
          <a:p xmlns:a="http://schemas.openxmlformats.org/drawingml/2006/main">
            <a:r>
              <a:t>recorded dataset operation, not a model-specific test preprocessing step.</a:t>
            </a:r>
          </a:p>
          <a:p xmlns:a="http://schemas.openxmlformats.org/drawingml/2006/main">
            <a:r>
              <a:t>Gebru et al. (2021) ; Bai et al. (2026)</a:t>
            </a:r>
          </a:p>
          <a:p xmlns:a="http://schemas.openxmlformats.org/drawingml/2006/main">
            <a:r>
              <a:t>Department of Mathematics, Sun Yat-sen University Dataset October 10, 2026 8/41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Taxonomy: Formula Type Is Not Paper Topic</a:t>
            </a:r>
          </a:p>
          <a:p xmlns:a="http://schemas.openxmlformats.org/drawingml/2006/main">
            <a:r>
              <a:t>Formula domain Count Formula domain Count</a:t>
            </a:r>
          </a:p>
          <a:p xmlns:a="http://schemas.openxmlformats.org/drawingml/2006/main">
            <a:r>
              <a:t>analysis 20,233 geometry / topology 9,135</a:t>
            </a:r>
          </a:p>
          <a:p xmlns:a="http://schemas.openxmlformats.org/drawingml/2006/main">
            <a:r>
              <a:t>combinatorics 5,563 algebra 4,431</a:t>
            </a:r>
          </a:p>
          <a:p xmlns:a="http://schemas.openxmlformats.org/drawingml/2006/main">
            <a:r>
              <a:t>number / theory 4,273 mathematical / physics 3,850</a:t>
            </a:r>
          </a:p>
          <a:p xmlns:a="http://schemas.openxmlformats.org/drawingml/2006/main">
            <a:r>
              <a:t>optimization 3,211 probability 3,171</a:t>
            </a:r>
          </a:p>
          <a:p xmlns:a="http://schemas.openxmlformats.org/drawingml/2006/main">
            <a:r>
              <a:t>statistics 1,056 logic 662</a:t>
            </a:r>
          </a:p>
          <a:p xmlns:a="http://schemas.openxmlformats.org/drawingml/2006/main">
            <a:r>
              <a:t>pde 356 ode 46</a:t>
            </a:r>
          </a:p>
          <a:p xmlns:a="http://schemas.openxmlformats.org/drawingml/2006/main">
            <a:r>
              <a:t>linear / algebra 13</a:t>
            </a:r>
          </a:p>
          <a:p xmlns:a="http://schemas.openxmlformats.org/drawingml/2006/main">
            <a:r>
              <a:t>Separate axes</a:t>
            </a:r>
          </a:p>
          <a:p xmlns:a="http://schemas.openxmlformats.org/drawingml/2006/main">
            <a:r>
              <a:t>Formula domain : strict PDE vs. other mathematics.</a:t>
            </a:r>
          </a:p>
          <a:p xmlns:a="http://schemas.openxmlformats.org/drawingml/2006/main">
            <a:r>
              <a:t>Paper domain : source subject, stored independently.</a:t>
            </a:r>
          </a:p>
          <a:p xmlns:a="http://schemas.openxmlformats.org/drawingml/2006/main">
            <a:r>
              <a:t>Types: integral, sum/product, matrix, differential relation and system.</a:t>
            </a:r>
          </a:p>
          <a:p xmlns:a="http://schemas.openxmlformats.org/drawingml/2006/main">
            <a:r>
              <a:t>PDE limitation</a:t>
            </a:r>
          </a:p>
          <a:p xmlns:a="http://schemas.openxmlformats.org/drawingml/2006/main">
            <a:r>
              <a:t>Only 356 strings meet the strict PDE rule. Other formulas from PDE papers retain their</a:t>
            </a:r>
          </a:p>
          <a:p xmlns:a="http://schemas.openxmlformats.org/drawingml/2006/main">
            <a:r>
              <a:t>structural category; the catalog is not yet a large PDE-solver training set.</a:t>
            </a:r>
          </a:p>
          <a:p xmlns:a="http://schemas.openxmlformats.org/drawingml/2006/main">
            <a:r>
              <a:t>Department of Mathematics, Sun Yat-sen University Dataset October 10, 2026 9/41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Labels and Two Complexity Classes</a:t>
            </a:r>
          </a:p>
          <a:p xmlns:a="http://schemas.openxmlformats.org/drawingml/2006/main">
            <a:r>
              <a:t>Origin label Count Interpretation</a:t>
            </a:r>
          </a:p>
          <a:p xmlns:a="http://schemas.openxmlformats.org/drawingml/2006/main">
            <a:r>
              <a:t>Historical human 51,229 Fixed pre-2020 manuscripts; inference from source</a:t>
            </a:r>
          </a:p>
          <a:p xmlns:a="http://schemas.openxmlformats.org/drawingml/2006/main">
            <a:r>
              <a:t>history.</a:t>
            </a:r>
          </a:p>
          <a:p xmlns:a="http://schemas.openxmlformats.org/drawingml/2006/main">
            <a:r>
              <a:t>Possible mixed 2,810 Model-produced / edited manuscript sources; no</a:t>
            </a:r>
          </a:p>
          <a:p xmlns:a="http://schemas.openxmlformats.org/drawingml/2006/main">
            <a:r>
              <a:t>per-formula attribution.</a:t>
            </a:r>
          </a:p>
          <a:p xmlns:a="http://schemas.openxmlformats.org/drawingml/2006/main">
            <a:r>
              <a:t>Unknown 1,961 Library provenance does not establish who typed</a:t>
            </a:r>
          </a:p>
          <a:p xmlns:a="http://schemas.openxmlformats.org/drawingml/2006/main">
            <a:r>
              <a:t>each formula.</a:t>
            </a:r>
          </a:p>
          <a:p xmlns:a="http://schemas.openxmlformats.org/drawingml/2006/main">
            <a:r>
              <a:t>Fully AI generated 0 in main catalog Synthetic templates remain separate supplements.</a:t>
            </a:r>
          </a:p>
          <a:p xmlns:a="http://schemas.openxmlformats.org/drawingml/2006/main">
            <a:r>
              <a:t>Fixed syntax-complexity score</a:t>
            </a:r>
          </a:p>
          <a:p xmlns:a="http://schemas.openxmlformats.org/drawingml/2006/main">
            <a:r>
              <a:t>s = .40¯L + .20¯C + .15 ¯D + .15¯S + .10 ¯O, ¯z = min(z/z0, 2).</a:t>
            </a:r>
          </a:p>
          <a:p xmlns:a="http://schemas.openxmlformats.org/drawingml/2006/main">
            <a:r>
              <a:t>L: lexeme length; C: command types; D: nesting; S: symbol types; O: operators.</a:t>
            </a:r>
          </a:p>
          <a:p xmlns:a="http://schemas.openxmlformats.org/drawingml/2006/main">
            <a:r>
              <a:t>Normalizers: (60, 6, 3, 18, 12). Complex iff s ≥ .65.</a:t>
            </a:r>
          </a:p>
          <a:p xmlns:a="http://schemas.openxmlformats.org/drawingml/2006/main">
            <a:r>
              <a:t>Class balance</a:t>
            </a:r>
          </a:p>
          <a:p xmlns:a="http://schemas.openxmlformats.org/drawingml/2006/main">
            <a:r>
              <a:t>37,400 simple and 18,600 complex formulas. These are reproducible syntax strata, not</a:t>
            </a:r>
          </a:p>
          <a:p xmlns:a="http://schemas.openxmlformats.org/drawingml/2006/main">
            <a:r>
              <a:t>theorem diﬀiculty levels.</a:t>
            </a:r>
          </a:p>
          <a:p xmlns:a="http://schemas.openxmlformats.org/drawingml/2006/main">
            <a:r>
              <a:t>Department of Mathematics, Sun Yat-sen University Dataset October 10, 2026 10/41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Partitions and Generalization Protocol</a:t>
            </a:r>
          </a:p>
          <a:p xmlns:a="http://schemas.openxmlformats.org/drawingml/2006/main">
            <a:r>
              <a:t>Partition / scenario Formulas Use</a:t>
            </a:r>
          </a:p>
          <a:p xmlns:a="http://schemas.openxmlformats.org/drawingml/2006/main">
            <a:r>
              <a:t>v6 train / dev 36,615 / 7,693 Source-separated pools; active scenario</a:t>
            </a:r>
          </a:p>
          <a:p xmlns:a="http://schemas.openxmlformats.org/drawingml/2006/main">
            <a:r>
              <a:t>subsets below.</a:t>
            </a:r>
          </a:p>
          <a:p xmlns:a="http://schemas.openxmlformats.org/drawingml/2006/main">
            <a:r>
              <a:t>v6 new-paper test 3,465 Previously exposed; regression check only.</a:t>
            </a:r>
          </a:p>
          <a:p xmlns:a="http://schemas.openxmlformats.org/drawingml/2006/main">
            <a:r>
              <a:t>v7 new-paper / extreme 3,933 / 1,961 Previously exposed; regression and domain</a:t>
            </a:r>
          </a:p>
          <a:p xmlns:a="http://schemas.openxmlformats.org/drawingml/2006/main">
            <a:r>
              <a:t>checks.</a:t>
            </a:r>
          </a:p>
          <a:p xmlns:a="http://schemas.openxmlformats.org/drawingml/2006/main">
            <a:r>
              <a:t>v8 new-paper / extreme 4,294 / 1,428 Final sealed source test, scored after model</a:t>
            </a:r>
          </a:p>
          <a:p xmlns:a="http://schemas.openxmlformats.org/drawingml/2006/main">
            <a:r>
              <a:t>freeze.</a:t>
            </a:r>
          </a:p>
          <a:p xmlns:a="http://schemas.openxmlformats.org/drawingml/2006/main">
            <a:r>
              <a:t>Synthetic / long-input stress 521 Explicit stress diagnostics, outside the</a:t>
            </a:r>
          </a:p>
          <a:p xmlns:a="http://schemas.openxmlformats.org/drawingml/2006/main">
            <a:r>
              <a:t>natural catalog.</a:t>
            </a:r>
          </a:p>
          <a:p xmlns:a="http://schemas.openxmlformats.org/drawingml/2006/main">
            <a:r>
              <a:t>Broad: fit 30,100; auxiliary training/reward pool 512; dev 965.</a:t>
            </a:r>
          </a:p>
          <a:p xmlns:a="http://schemas.openxmlformats.org/drawingml/2006/main">
            <a:r>
              <a:t>Specialized: fit 8,124; auxiliary pool 512; dev 249. Target and adjacent source</a:t>
            </a:r>
          </a:p>
          <a:p xmlns:a="http://schemas.openxmlformats.org/drawingml/2006/main">
            <a:r>
              <a:t>categories excluded.</a:t>
            </a:r>
          </a:p>
          <a:p xmlns:a="http://schemas.openxmlformats.org/drawingml/2006/main">
            <a:r>
              <a:t>Extreme subsets overlap their parent test. They are not additional independent</a:t>
            </a:r>
          </a:p>
          <a:p xmlns:a="http://schemas.openxmlformats.org/drawingml/2006/main">
            <a:r>
              <a:t>samples.</a:t>
            </a:r>
          </a:p>
          <a:p xmlns:a="http://schemas.openxmlformats.org/drawingml/2006/main">
            <a:r>
              <a:t>Do not train on the whole catalog</a:t>
            </a:r>
          </a:p>
          <a:p xmlns:a="http://schemas.openxmlformats.org/drawingml/2006/main">
            <a:r>
              <a:t>56,000 is an organized library size. Its ID-only split manifests preserve the training/test</a:t>
            </a:r>
          </a:p>
          <a:p xmlns:a="http://schemas.openxmlformats.org/drawingml/2006/main">
            <a:r>
              <a:t>boundary.</a:t>
            </a:r>
          </a:p>
          <a:p xmlns:a="http://schemas.openxmlformats.org/drawingml/2006/main">
            <a:r>
              <a:t>Department of Mathematics, Sun Yat-sen University Dataset October 10, 2026 11/41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Corpus Composition and Coverage</a:t>
            </a:r>
          </a:p>
          <a:p xmlns:a="http://schemas.openxmlformats.org/drawingml/2006/main">
            <a:r>
              <a:t>0 5000 10000 15000 20000</a:t>
            </a:r>
          </a:p>
          <a:p xmlns:a="http://schemas.openxmlformats.org/drawingml/2006/main">
            <a:r>
              <a:t>Formula count</a:t>
            </a:r>
          </a:p>
          <a:p xmlns:a="http://schemas.openxmlformats.org/drawingml/2006/main">
            <a:r>
              <a:t>Analysis</a:t>
            </a:r>
          </a:p>
          <a:p xmlns:a="http://schemas.openxmlformats.org/drawingml/2006/main">
            <a:r>
              <a:t>Geometry / topology</a:t>
            </a:r>
          </a:p>
          <a:p xmlns:a="http://schemas.openxmlformats.org/drawingml/2006/main">
            <a:r>
              <a:t>Combinatorics</a:t>
            </a:r>
          </a:p>
          <a:p xmlns:a="http://schemas.openxmlformats.org/drawingml/2006/main">
            <a:r>
              <a:t>Algebra</a:t>
            </a:r>
          </a:p>
          <a:p xmlns:a="http://schemas.openxmlformats.org/drawingml/2006/main">
            <a:r>
              <a:t>Number theory</a:t>
            </a:r>
          </a:p>
          <a:p xmlns:a="http://schemas.openxmlformats.org/drawingml/2006/main">
            <a:r>
              <a:t>Math. physics</a:t>
            </a:r>
          </a:p>
          <a:p xmlns:a="http://schemas.openxmlformats.org/drawingml/2006/main">
            <a:r>
              <a:t>Optimization</a:t>
            </a:r>
          </a:p>
          <a:p xmlns:a="http://schemas.openxmlformats.org/drawingml/2006/main">
            <a:r>
              <a:t>Probability</a:t>
            </a:r>
          </a:p>
          <a:p xmlns:a="http://schemas.openxmlformats.org/drawingml/2006/main">
            <a:r>
              <a:t>Statistics</a:t>
            </a:r>
          </a:p>
          <a:p xmlns:a="http://schemas.openxmlformats.org/drawingml/2006/main">
            <a:r>
              <a:t>Logic</a:t>
            </a:r>
          </a:p>
          <a:p xmlns:a="http://schemas.openxmlformats.org/drawingml/2006/main">
            <a:r>
              <a:t>PDE</a:t>
            </a:r>
          </a:p>
          <a:p xmlns:a="http://schemas.openxmlformats.org/drawingml/2006/main">
            <a:r>
              <a:t>ODE</a:t>
            </a:r>
          </a:p>
          <a:p xmlns:a="http://schemas.openxmlformats.org/drawingml/2006/main">
            <a:r>
              <a:t>Linear algebra</a:t>
            </a:r>
          </a:p>
          <a:p xmlns:a="http://schemas.openxmlformats.org/drawingml/2006/main">
            <a:r>
              <a:t>20,233</a:t>
            </a:r>
          </a:p>
          <a:p xmlns:a="http://schemas.openxmlformats.org/drawingml/2006/main">
            <a:r>
              <a:t>9,135</a:t>
            </a:r>
          </a:p>
          <a:p xmlns:a="http://schemas.openxmlformats.org/drawingml/2006/main">
            <a:r>
              <a:t>5,563</a:t>
            </a:r>
          </a:p>
          <a:p xmlns:a="http://schemas.openxmlformats.org/drawingml/2006/main">
            <a:r>
              <a:t>4,431</a:t>
            </a:r>
          </a:p>
          <a:p xmlns:a="http://schemas.openxmlformats.org/drawingml/2006/main">
            <a:r>
              <a:t>4,273</a:t>
            </a:r>
          </a:p>
          <a:p xmlns:a="http://schemas.openxmlformats.org/drawingml/2006/main">
            <a:r>
              <a:t>3,850</a:t>
            </a:r>
          </a:p>
          <a:p xmlns:a="http://schemas.openxmlformats.org/drawingml/2006/main">
            <a:r>
              <a:t>3,211</a:t>
            </a:r>
          </a:p>
          <a:p xmlns:a="http://schemas.openxmlformats.org/drawingml/2006/main">
            <a:r>
              <a:t>3,171</a:t>
            </a:r>
          </a:p>
          <a:p xmlns:a="http://schemas.openxmlformats.org/drawingml/2006/main">
            <a:r>
              <a:t>1,056</a:t>
            </a:r>
          </a:p>
          <a:p xmlns:a="http://schemas.openxmlformats.org/drawingml/2006/main">
            <a:r>
              <a:t>662</a:t>
            </a:r>
          </a:p>
          <a:p xmlns:a="http://schemas.openxmlformats.org/drawingml/2006/main">
            <a:r>
              <a:t>356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>(a) Domains and syntax complexity</a:t>
            </a:r>
          </a:p>
          <a:p xmlns:a="http://schemas.openxmlformats.org/drawingml/2006/main">
            <a:r>
              <a:t>Simple</a:t>
            </a:r>
          </a:p>
          <a:p xmlns:a="http://schemas.openxmlformats.org/drawingml/2006/main">
            <a:r>
              <a:t>Complex</a:t>
            </a:r>
          </a:p>
          <a:p xmlns:a="http://schemas.openxmlformats.org/drawingml/2006/main">
            <a:r>
              <a:t>0 20000 40000 60000</a:t>
            </a:r>
          </a:p>
          <a:p xmlns:a="http://schemas.openxmlformats.org/drawingml/2006/main">
            <a:r>
              <a:t>Formula count</a:t>
            </a:r>
          </a:p>
          <a:p xmlns:a="http://schemas.openxmlformats.org/drawingml/2006/main">
            <a:r>
              <a:t>Historical human</a:t>
            </a:r>
          </a:p>
          <a:p xmlns:a="http://schemas.openxmlformats.org/drawingml/2006/main">
            <a:r>
              <a:t>Possible mixed</a:t>
            </a:r>
          </a:p>
          <a:p xmlns:a="http://schemas.openxmlformats.org/drawingml/2006/main">
            <a:r>
              <a:t>Unknown</a:t>
            </a:r>
          </a:p>
          <a:p xmlns:a="http://schemas.openxmlformats.org/drawingml/2006/main">
            <a:r>
              <a:t>51,229</a:t>
            </a:r>
          </a:p>
          <a:p xmlns:a="http://schemas.openxmlformats.org/drawingml/2006/main">
            <a:r>
              <a:t>2,810</a:t>
            </a:r>
          </a:p>
          <a:p xmlns:a="http://schemas.openxmlformats.org/drawingml/2006/main">
            <a:r>
              <a:t>1,961</a:t>
            </a:r>
          </a:p>
          <a:p xmlns:a="http://schemas.openxmlformats.org/drawingml/2006/main">
            <a:r>
              <a:t>(b) Source provenance</a:t>
            </a:r>
          </a:p>
          <a:p xmlns:a="http://schemas.openxmlformats.org/drawingml/2006/main">
            <a:r>
              <a:t>What the composition implies</a:t>
            </a:r>
          </a:p>
          <a:p xmlns:a="http://schemas.openxmlformats.org/drawingml/2006/main">
            <a:r>
              <a:t>Analysis and geometry dominate. PDE, ODE and linear algebra are sparse. Report</a:t>
            </a:r>
          </a:p>
          <a:p xmlns:a="http://schemas.openxmlformats.org/drawingml/2006/main">
            <a:r>
              <a:t>paper/domain/complexity strata and avoid interpreting an overall average as uniform</a:t>
            </a:r>
          </a:p>
          <a:p xmlns:a="http://schemas.openxmlformats.org/drawingml/2006/main">
            <a:r>
              <a:t>mathematical coverage.</a:t>
            </a:r>
          </a:p>
          <a:p xmlns:a="http://schemas.openxmlformats.org/drawingml/2006/main">
            <a:r>
              <a:t>Department of Mathematics, Sun Yat-sen University Dataset October 10, 2026 12/41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Learning a Mathematical Lexical Alphabet</a:t>
            </a:r>
          </a:p>
          <a:p xmlns:a="http://schemas.openxmlformats.org/drawingml/2006/main">
            <a:r>
              <a:t>Training alphabet</a:t>
            </a:r>
          </a:p>
          <a:p xmlns:a="http://schemas.openxmlformats.org/drawingml/2006/main">
            <a:r>
              <a:t>A = {all 256 bytes } ∪ Top384{observed complete commands / Unicode units }.</a:t>
            </a:r>
          </a:p>
          <a:p xmlns:a="http://schemas.openxmlformats.org/drawingml/2006/main">
            <a:r>
              <a:t>Atoms are derived from fit records only, ranked by frequency with deterministic tie rules.</a:t>
            </a:r>
          </a:p>
          <a:p xmlns:a="http://schemas.openxmlformats.org/drawingml/2006/main">
            <a:r>
              <a:t>The actual primitive counts are 596 (broad) and 495 (specialized).</a:t>
            </a:r>
          </a:p>
          <a:p xmlns:a="http://schemas.openxmlformats.org/drawingml/2006/main">
            <a:r>
              <a:t>Stage Implementation Budget accounting</a:t>
            </a:r>
          </a:p>
          <a:p xmlns:a="http://schemas.openxmlformats.org/drawingml/2006/main">
            <a:r>
              <a:t>Reversible codec Map observed lexical units to</a:t>
            </a:r>
          </a:p>
          <a:p xmlns:a="http://schemas.openxmlformats.org/drawingml/2006/main">
            <a:r>
              <a:t>private-use symbols.</a:t>
            </a:r>
          </a:p>
          <a:p xmlns:a="http://schemas.openxmlformats.org/drawingml/2006/main">
            <a:r>
              <a:t>One primitive ID per atom; unknown</a:t>
            </a:r>
          </a:p>
          <a:p xmlns:a="http://schemas.openxmlformats.org/drawingml/2006/main">
            <a:r>
              <a:t>strings retain byte coverage.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training</a:t>
            </a:r>
          </a:p>
          <a:p xmlns:a="http://schemas.openxmlformats.org/drawingml/2006/main">
            <a:r>
              <a:t>Original HF BPE on fit + the</a:t>
            </a:r>
          </a:p>
          <a:p xmlns:a="http://schemas.openxmlformats.org/drawingml/2006/main">
            <a:r>
              <a:t>allowed 512-record auxiliary pool.</a:t>
            </a:r>
          </a:p>
          <a:p xmlns:a="http://schemas.openxmlformats.org/drawingml/2006/main">
            <a:r>
              <a:t>Total IDs capped at 1,024 or 2,048.</a:t>
            </a:r>
          </a:p>
          <a:p xmlns:a="http://schemas.openxmlformats.org/drawingml/2006/main">
            <a:r>
              <a:t>Inference Native lexical codec, then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No AST path search and no policy</a:t>
            </a:r>
          </a:p>
          <a:p xmlns:a="http://schemas.openxmlformats.org/drawingml/2006/main">
            <a:r>
              <a:t>network.</a:t>
            </a:r>
          </a:p>
          <a:p xmlns:a="http://schemas.openxmlformats.org/drawingml/2006/main">
            <a:r>
              <a:t>Why this route remains</a:t>
            </a:r>
          </a:p>
          <a:p xmlns:a="http://schemas.openxmlformats.org/drawingml/2006/main">
            <a:r>
              <a:t>It is the simple, fast mathematical reference against which extra structural machinery</a:t>
            </a:r>
          </a:p>
          <a:p xmlns:a="http://schemas.openxmlformats.org/drawingml/2006/main">
            <a:r>
              <a:t>must justify itself. No manually enumerated command vocabulary is required.</a:t>
            </a:r>
          </a:p>
          <a:p xmlns:a="http://schemas.openxmlformats.org/drawingml/2006/main">
            <a:r>
              <a:t>Sennrich, Haddow and Birch (2016) ; Bai et al. (2026)</a:t>
            </a:r>
          </a:p>
          <a:p xmlns:a="http://schemas.openxmlformats.org/drawingml/2006/main">
            <a:r>
              <a:t>Department of Mathematics, Sun Yat-sen University Math-Atom BPE October 10, 2026 13/41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Exact Source Fidelity and Its Limits</a:t>
            </a:r>
          </a:p>
          <a:p xmlns:a="http://schemas.openxmlformats.org/drawingml/2006/main">
            <a:r>
              <a:t>Raw-string contract</a:t>
            </a:r>
          </a:p>
          <a:p xmlns:a="http://schemas.openxmlformats.org/drawingml/2006/main">
            <a:r>
              <a:t>For every evaluated x, decode(encode(x)) = x. The ordered token byte payloads also</a:t>
            </a:r>
          </a:p>
          <a:p xmlns:a="http://schemas.openxmlformats.org/drawingml/2006/main">
            <a:r>
              <a:t>concatenate to UTF8(x) exactly. No whitespace normalization is permitted.</a:t>
            </a:r>
          </a:p>
          <a:p xmlns:a="http://schemas.openxmlformats.org/drawingml/2006/main">
            <a:r>
              <a:t>Case Behavior What is not guaranteed</a:t>
            </a:r>
          </a:p>
          <a:p xmlns:a="http://schemas.openxmlformats.org/drawingml/2006/main">
            <a:r>
              <a:t>Seen command /</a:t>
            </a:r>
          </a:p>
          <a:p xmlns:a="http://schemas.openxmlformats.org/drawingml/2006/main">
            <a:r>
              <a:t>Unicode atom</a:t>
            </a:r>
          </a:p>
          <a:p xmlns:a="http://schemas.openxmlformats.org/drawingml/2006/main">
            <a:r>
              <a:t>Codec retains the complete observed</a:t>
            </a:r>
          </a:p>
          <a:p xmlns:a="http://schemas.openxmlformats.org/drawingml/2006/main">
            <a:r>
              <a:t>unit.</a:t>
            </a:r>
          </a:p>
          <a:p xmlns:a="http://schemas.openxmlformats.org/drawingml/2006/main">
            <a:r>
              <a:t>A larger token can still span an</a:t>
            </a:r>
          </a:p>
          <a:p xmlns:a="http://schemas.openxmlformats.org/drawingml/2006/main">
            <a:r>
              <a:t>argument boundary.</a:t>
            </a:r>
          </a:p>
          <a:p xmlns:a="http://schemas.openxmlformats.org/drawingml/2006/main">
            <a:r>
              <a:t>Unseen command Explicit byte coverage; no</a:t>
            </a:r>
          </a:p>
          <a:p xmlns:a="http://schemas.openxmlformats.org/drawingml/2006/main">
            <a:r>
              <a:t>unknown-token deletion.</a:t>
            </a:r>
          </a:p>
          <a:p xmlns:a="http://schemas.openxmlformats.org/drawingml/2006/main">
            <a:r>
              <a:t>Every novel command need not be a</a:t>
            </a:r>
          </a:p>
          <a:p xmlns:a="http://schemas.openxmlformats.org/drawingml/2006/main">
            <a:r>
              <a:t>single token.</a:t>
            </a:r>
          </a:p>
          <a:p xmlns:a="http://schemas.openxmlformats.org/drawingml/2006/main">
            <a:r>
              <a:t>Spacing / multiline</a:t>
            </a:r>
          </a:p>
          <a:p xmlns:a="http://schemas.openxmlformats.org/drawingml/2006/main">
            <a:r>
              <a:t>source</a:t>
            </a:r>
          </a:p>
          <a:p xmlns:a="http://schemas.openxmlformats.org/drawingml/2006/main">
            <a:r>
              <a:t>Bytes are preserved exactly. Layout variants need not receive</a:t>
            </a:r>
          </a:p>
          <a:p xmlns:a="http://schemas.openxmlformats.org/drawingml/2006/main">
            <a:r>
              <a:t>identical token sequences.</a:t>
            </a:r>
          </a:p>
          <a:p xmlns:a="http://schemas.openxmlformats.org/drawingml/2006/main">
            <a:r>
              <a:t>Numbers /</a:t>
            </a:r>
          </a:p>
          <a:p xmlns:a="http://schemas.openxmlformats.org/drawingml/2006/main">
            <a:r>
              <a:t>identifiers</a:t>
            </a:r>
          </a:p>
          <a:p xmlns:a="http://schemas.openxmlformats.org/drawingml/2006/main">
            <a:r>
              <a:t>BPE learns recurrent sequences. Numeric magnitude is not encoded</a:t>
            </a:r>
          </a:p>
          <a:p xmlns:a="http://schemas.openxmlformats.org/drawingml/2006/main">
            <a:r>
              <a:t>continuously.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High command integrity reflects observed alphabet coverage, not universal LaTeX</a:t>
            </a:r>
          </a:p>
          <a:p xmlns:a="http://schemas.openxmlformats.org/drawingml/2006/main">
            <a:r>
              <a:t>grammar coverage or a learned theorem representation.</a:t>
            </a:r>
          </a:p>
          <a:p xmlns:a="http://schemas.openxmlformats.org/drawingml/2006/main">
            <a:r>
              <a:t>Golkar et al. (2023) ; Jung et al. (2024)</a:t>
            </a:r>
          </a:p>
          <a:p xmlns:a="http://schemas.openxmlformats.org/drawingml/2006/main">
            <a:r>
              <a:t>Department of Mathematics, Sun Yat-sen University Math-Atom BPE October 10, 2026 14/41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Source Structure as a Segmentation Cost</a:t>
            </a:r>
          </a:p>
          <a:p xmlns:a="http://schemas.openxmlformats.org/drawingml/2006/main">
            <a:r>
              <a:t>Same vocabulary, different path</a:t>
            </a:r>
          </a:p>
          <a:p xmlns:a="http://schemas.openxmlformats.org/drawingml/2006/main">
            <a:r>
              <a:t>An edge (a, b) matches xa:b ∈ V at permitted lexical endpoints. The restricted parser</a:t>
            </a:r>
          </a:p>
          <a:p xmlns:a="http://schemas.openxmlformats.org/drawingml/2006/main">
            <a:r>
              <a:t>supplies source spans and matched brace-content endpoints.</a:t>
            </a:r>
          </a:p>
          <a:p xmlns:a="http://schemas.openxmlformats.org/drawingml/2006/main">
            <a:r>
              <a:t>Additive objective</a:t>
            </a:r>
          </a:p>
          <a:p xmlns:a="http://schemas.openxmlformats.org/drawingml/2006/main">
            <a:r>
              <a:t>z∗ = arg min</a:t>
            </a:r>
          </a:p>
          <a:p xmlns:a="http://schemas.openxmlformats.org/drawingml/2006/main">
            <a:r>
              <a:t>z∈P(x,V)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|z| + λ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cT(e) + µ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cB(e)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cT: token partially crosses a native source span.</a:t>
            </a:r>
          </a:p>
          <a:p xmlns:a="http://schemas.openxmlformats.org/drawingml/2006/main">
            <a:r>
              <a:t>cB: number of brace-content endpoints strictly inside the token.</a:t>
            </a:r>
          </a:p>
          <a:p xmlns:a="http://schemas.openxmlformats.org/drawingml/2006/main">
            <a:r>
              <a:t>Development selection: λ = .25, µ = .30.</a:t>
            </a:r>
          </a:p>
          <a:p xmlns:a="http://schemas.openxmlformats.org/drawingml/2006/main">
            <a:r>
              <a:t>A source-tree method</a:t>
            </a:r>
          </a:p>
          <a:p xmlns:a="http://schemas.openxmlformats.org/drawingml/2006/main">
            <a:r>
              <a:t>The parser is restricted and falls back to source syntax. It is not a full TeX interpreter or</a:t>
            </a:r>
          </a:p>
          <a:p xmlns:a="http://schemas.openxmlformats.org/drawingml/2006/main">
            <a:r>
              <a:t>a semantic operator tree for arbitrary mathematics.</a:t>
            </a:r>
          </a:p>
          <a:p xmlns:a="http://schemas.openxmlformats.org/drawingml/2006/main">
            <a:r>
              <a:t>Schmidt et al. (2024) ; Scarlatos and Lan (2023)</a:t>
            </a:r>
          </a:p>
          <a:p xmlns:a="http://schemas.openxmlformats.org/drawingml/2006/main">
            <a:r>
              <a:t>Department of Mathematics, Sun Yat-sen University Boundary AST October 10, 2026 15/41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Exact Dynamic Programming on a Fixed Graph</a:t>
            </a:r>
          </a:p>
          <a:p xmlns:a="http://schemas.openxmlformats.org/drawingml/2006/main">
            <a:r>
              <a:t>Backward recurrence</a:t>
            </a:r>
          </a:p>
          <a:p xmlns:a="http://schemas.openxmlformats.org/drawingml/2006/main">
            <a:r>
              <a:t>D[n] = 0 , D[a] = min</a:t>
            </a:r>
          </a:p>
          <a:p xmlns:a="http://schemas.openxmlformats.org/drawingml/2006/main">
            <a:r>
              <a:t>(a,b)∈E</a:t>
            </a:r>
          </a:p>
          <a:p xmlns:a="http://schemas.openxmlformats.org/drawingml/2006/main">
            <a:r>
              <a:t>{1 + λcT(a, b) + µcB(a, b) + D[b]}.</a:t>
            </a:r>
          </a:p>
          <a:p xmlns:a="http://schemas.openxmlformats.org/drawingml/2006/main">
            <a:r>
              <a:t>A byte trie enumerates matching dictionary edges. A stored best endpoint reconstructs</a:t>
            </a:r>
          </a:p>
          <a:p xmlns:a="http://schemas.openxmlformats.org/drawingml/2006/main">
            <a:r>
              <a:t>the token sequence. This is exact for the specified legal graph and additive objective.</a:t>
            </a:r>
          </a:p>
          <a:p xmlns:a="http://schemas.openxmlformats.org/drawingml/2006/main">
            <a:r>
              <a:t>Design Mechanism Reason</a:t>
            </a:r>
          </a:p>
          <a:p xmlns:a="http://schemas.openxmlformats.org/drawingml/2006/main">
            <a:r>
              <a:t>Lexical mask Suppress cuts inside covered</a:t>
            </a:r>
          </a:p>
          <a:p xmlns:a="http://schemas.openxmlformats.org/drawingml/2006/main">
            <a:r>
              <a:t>commands / codepoints.</a:t>
            </a:r>
          </a:p>
          <a:p xmlns:a="http://schemas.openxmlformats.org/drawingml/2006/main">
            <a:r>
              <a:t>Keep complete observed primitive</a:t>
            </a:r>
          </a:p>
          <a:p xmlns:a="http://schemas.openxmlformats.org/drawingml/2006/main">
            <a:r>
              <a:t>units.</a:t>
            </a:r>
          </a:p>
          <a:p xmlns:a="http://schemas.openxmlformats.org/drawingml/2006/main">
            <a:r>
              <a:t>Tree cost Endpoint sweeps detect partial span</a:t>
            </a:r>
          </a:p>
          <a:p xmlns:a="http://schemas.openxmlformats.org/drawingml/2006/main">
            <a:r>
              <a:t>crossings.</a:t>
            </a:r>
          </a:p>
          <a:p xmlns:a="http://schemas.openxmlformats.org/drawingml/2006/main">
            <a:r>
              <a:t>Avoid testing every token against</a:t>
            </a:r>
          </a:p>
          <a:p xmlns:a="http://schemas.openxmlformats.org/drawingml/2006/main">
            <a:r>
              <a:t>every span.</a:t>
            </a:r>
          </a:p>
          <a:p xmlns:a="http://schemas.openxmlformats.org/drawingml/2006/main">
            <a:r>
              <a:t>Boundary cost Prefix sums count hidden</a:t>
            </a:r>
          </a:p>
          <a:p xmlns:a="http://schemas.openxmlformats.org/drawingml/2006/main">
            <a:r>
              <a:t>brace-content endpoints.</a:t>
            </a:r>
          </a:p>
          <a:p xmlns:a="http://schemas.openxmlformats.org/drawingml/2006/main">
            <a:r>
              <a:t>Recover argument boundaries without</a:t>
            </a:r>
          </a:p>
          <a:p xmlns:a="http://schemas.openxmlformats.org/drawingml/2006/main">
            <a:r>
              <a:t>hard blocking all compression.</a:t>
            </a:r>
          </a:p>
          <a:p xmlns:a="http://schemas.openxmlformats.org/drawingml/2006/main">
            <a:r>
              <a:t>Scope of optimality</a:t>
            </a:r>
          </a:p>
          <a:p xmlns:a="http://schemas.openxmlformats.org/drawingml/2006/main">
            <a:r>
              <a:t>The result is not globally optimal vocabulary learning, and a low source-tree cost does</a:t>
            </a:r>
          </a:p>
          <a:p xmlns:a="http://schemas.openxmlformats.org/drawingml/2006/main">
            <a:r>
              <a:t>not imply low task loss. The shortest-path algorithm itself is established.</a:t>
            </a:r>
          </a:p>
          <a:p xmlns:a="http://schemas.openxmlformats.org/drawingml/2006/main">
            <a:r>
              <a:t>Schmidt et al. (2024) ; Uzan et al. (2024)</a:t>
            </a:r>
          </a:p>
          <a:p xmlns:a="http://schemas.openxmlformats.org/drawingml/2006/main">
            <a:r>
              <a:t>Department of Mathematics, Sun Yat-sen University Boundary AST October 10, 2026 16/41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Development Selection and Runtime Cost</a:t>
            </a:r>
          </a:p>
          <a:p xmlns:a="http://schemas.openxmlformats.org/drawingml/2006/main">
            <a:r>
              <a:t>Setting Values / behavior</a:t>
            </a:r>
          </a:p>
          <a:p xmlns:a="http://schemas.openxmlformats.org/drawingml/2006/main">
            <a:r>
              <a:t>Prespecified grid λ ∈ {0, .25, .75}; µ ∈ {0, .05, .15, .30}: 12 candidates.</a:t>
            </a:r>
          </a:p>
          <a:p xmlns:a="http://schemas.openxmlformats.org/drawingml/2006/main">
            <a:r>
              <a:t>Selection criterion Common old-dev utility plus .04 times missing parameter-boundary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Feasibility guard Compression regression at most 1%; boundary recall loss at most 1</a:t>
            </a:r>
          </a:p>
          <a:p xmlns:a="http://schemas.openxmlformats.org/drawingml/2006/main">
            <a:r>
              <a:t>percentage point vs. math-atom BPE.</a:t>
            </a:r>
          </a:p>
          <a:p xmlns:a="http://schemas.openxmlformats.org/drawingml/2006/main">
            <a:r>
              <a:t>Selected setting All four budget/scenario conditions selected .25 / .30 before v8</a:t>
            </a:r>
          </a:p>
          <a:p xmlns:a="http://schemas.openxmlformats.org/drawingml/2006/main">
            <a:r>
              <a:t>scoring.</a:t>
            </a:r>
          </a:p>
          <a:p xmlns:a="http://schemas.openxmlformats.org/drawingml/2006/main">
            <a:r>
              <a:t>Public encoder C frontend + trie + DP; all source parsing is included in throughput.</a:t>
            </a:r>
          </a:p>
          <a:p xmlns:a="http://schemas.openxmlformats.org/drawingml/2006/main">
            <a:r>
              <a:t>Engineering and trade-offs</a:t>
            </a:r>
          </a:p>
          <a:p xmlns:a="http://schemas.openxmlformats.org/drawingml/2006/main">
            <a:r>
              <a:t>Typical lattice work scales with input bytes, maximum piece length and source spans;</a:t>
            </a:r>
          </a:p>
          <a:p xmlns:a="http://schemas.openxmlformats.org/drawingml/2006/main">
            <a:r>
              <a:t>the dense byte trie uses more memory than a compact sparse trie.</a:t>
            </a:r>
          </a:p>
          <a:p xmlns:a="http://schemas.openxmlformats.org/drawingml/2006/main">
            <a:r>
              <a:t>Compared with the older length-first path, the boundary term costs some speed but</a:t>
            </a:r>
          </a:p>
          <a:p xmlns:a="http://schemas.openxmlformats.org/drawingml/2006/main">
            <a:r>
              <a:t>restores much of the parameter-boundary recall.</a:t>
            </a:r>
          </a:p>
          <a:p xmlns:a="http://schemas.openxmlformats.org/drawingml/2006/main">
            <a:r>
              <a:t>Deployment contract</a:t>
            </a:r>
          </a:p>
          <a:p xmlns:a="http://schemas.openxmlformats.org/drawingml/2006/main">
            <a:r>
              <a:t>A frozen dictionary and weights define deterministic IDs. Unknown lexical units use byte</a:t>
            </a:r>
          </a:p>
          <a:p xmlns:a="http://schemas.openxmlformats.org/drawingml/2006/main">
            <a:r>
              <a:t>coverage; supported source parsing has an explicit one-million-byte input limit.</a:t>
            </a:r>
          </a:p>
          <a:p xmlns:a="http://schemas.openxmlformats.org/drawingml/2006/main">
            <a:r>
              <a:t>Department of Mathematics, Sun Yat-sen University Boundary AST October 10, 2026 17/41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Exactly Two Routes and Five Baselines</a:t>
            </a:r>
          </a:p>
          <a:p xmlns:a="http://schemas.openxmlformats.org/drawingml/2006/main">
            <a:r>
              <a:t>System Vocabulary / training Role</a:t>
            </a:r>
          </a:p>
          <a:p xmlns:a="http://schemas.openxmlformats.org/drawingml/2006/main">
            <a:r>
              <a:t>Boundary AST (ours) Common math-atom BPE vocabulary; fixed</a:t>
            </a:r>
          </a:p>
          <a:p xmlns:a="http://schemas.openxmlformats.org/drawingml/2006/main">
            <a:r>
              <a:t>source-path objective.</a:t>
            </a:r>
          </a:p>
          <a:p xmlns:a="http://schemas.openxmlformats.org/drawingml/2006/main">
            <a:r>
              <a:t>Structure-aware route.</a:t>
            </a:r>
          </a:p>
          <a:p xmlns:a="http://schemas.openxmlformats.org/drawingml/2006/main">
            <a:r>
              <a:t>Math-atom BPE (ours) Fit-derived alphabet; original BPE on</a:t>
            </a:r>
          </a:p>
          <a:p xmlns:a="http://schemas.openxmlformats.org/drawingml/2006/main">
            <a:r>
              <a:t>allowed data.</a:t>
            </a:r>
          </a:p>
          <a:p xmlns:a="http://schemas.openxmlformats.org/drawingml/2006/main">
            <a:r>
              <a:t>Lexical domain route.</a:t>
            </a:r>
          </a:p>
          <a:p xmlns:a="http://schemas.openxmlformats.org/drawingml/2006/main">
            <a:r>
              <a:t>Byte BPE Original HF byte BPE; same allowed</a:t>
            </a:r>
          </a:p>
          <a:p xmlns:a="http://schemas.openxmlformats.org/drawingml/2006/main">
            <a:r>
              <a:t>training records.</a:t>
            </a:r>
          </a:p>
          <a:p xmlns:a="http://schemas.openxmlformats.org/drawingml/2006/main">
            <a:r>
              <a:t>Equal-capacity classical</a:t>
            </a:r>
          </a:p>
          <a:p xmlns:a="http://schemas.openxmlformats.org/drawingml/2006/main">
            <a:r>
              <a:t>control.</a:t>
            </a:r>
          </a:p>
          <a:p xmlns:a="http://schemas.openxmlformats.org/drawingml/2006/main">
            <a:r>
              <a:t>SP Unigram Original SentencePiece; identity</a:t>
            </a:r>
          </a:p>
          <a:p xmlns:a="http://schemas.openxmlformats.org/drawingml/2006/main">
            <a:r>
              <a:t>normalization, byte fallback.</a:t>
            </a:r>
          </a:p>
          <a:p xmlns:a="http://schemas.openxmlformats.org/drawingml/2006/main">
            <a:r>
              <a:t>Equal-capacity</a:t>
            </a:r>
          </a:p>
          <a:p xmlns:a="http://schemas.openxmlformats.org/drawingml/2006/main">
            <a:r>
              <a:t>probabilistic control.</a:t>
            </a:r>
          </a:p>
          <a:p xmlns:a="http://schemas.openxmlformats.org/drawingml/2006/main">
            <a:r>
              <a:t>Qwen2.5 Unmodified full oﬀicial vocabulary.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Llama 3 Unmodified Meta reference tokenizer.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o200k Original tiktoken encoding.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Current repository contract</a:t>
            </a:r>
          </a:p>
          <a:p xmlns:a="http://schemas.openxmlformats.org/drawingml/2006/main">
            <a:r>
              <a:t>Seven method names, 19 frozen configurations. Other models and experiments live only</a:t>
            </a:r>
          </a:p>
          <a:p xmlns:a="http://schemas.openxmlformats.org/drawingml/2006/main">
            <a:r>
              <a:t>in the historical archive and cannot be selected by the active loader.</a:t>
            </a:r>
          </a:p>
          <a:p xmlns:a="http://schemas.openxmlformats.org/drawingml/2006/main">
            <a:r>
              <a:t>Department of Mathematics, Sun Yat-sen University Experimental Design October 10, 2026 18/41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Inputs, Training Information and Timing</a:t>
            </a:r>
          </a:p>
          <a:p xmlns:a="http://schemas.openxmlformats.org/drawingml/2006/main">
            <a:r>
              <a:t>Axis Controlled implementation</a:t>
            </a:r>
          </a:p>
          <a:p xmlns:a="http://schemas.openxmlformats.org/drawingml/2006/main">
            <a:r>
              <a:t>Vocabulary budgets 1,024 / 2,048 for trained methods; all primitive and reserved IDs</a:t>
            </a:r>
          </a:p>
          <a:p xmlns:a="http://schemas.openxmlformats.org/drawingml/2006/main">
            <a:r>
              <a:t>count.</a:t>
            </a:r>
          </a:p>
          <a:p xmlns:a="http://schemas.openxmlformats.org/drawingml/2006/main">
            <a:r>
              <a:t>Allowed data Identical scenario fit/auxiliary pools; generic trainers receive</a:t>
            </a:r>
          </a:p>
          <a:p xmlns:a="http://schemas.openxmlformats.org/drawingml/2006/main">
            <a:r>
              <a:t>their union.</a:t>
            </a:r>
          </a:p>
          <a:p xmlns:a="http://schemas.openxmlformats.org/drawingml/2006/main">
            <a:r>
              <a:t>Test input Original accepted raw strings; no per-model filtering, truncation</a:t>
            </a:r>
          </a:p>
          <a:p xmlns:a="http://schemas.openxmlformats.org/drawingml/2006/main">
            <a:r>
              <a:t>or normalization.</a:t>
            </a:r>
          </a:p>
          <a:p xmlns:a="http://schemas.openxmlformats.org/drawingml/2006/main">
            <a:r>
              <a:t>Probability calibration Same fit IDs for each scenario; mature models recalibrated for</a:t>
            </a:r>
          </a:p>
          <a:p xmlns:a="http://schemas.openxmlformats.org/drawingml/2006/main">
            <a:r>
              <a:t>broad and specialized separately.</a:t>
            </a:r>
          </a:p>
          <a:p xmlns:a="http://schemas.openxmlformats.org/drawingml/2006/main">
            <a:r>
              <a:t>Timing Seven shuffled/interleaved full public encode/decode runs;</a:t>
            </a:r>
          </a:p>
          <a:p xmlns:a="http://schemas.openxmlformats.org/drawingml/2006/main">
            <a:r>
              <a:t>median throughput; caches cleared.</a:t>
            </a:r>
          </a:p>
          <a:p xmlns:a="http://schemas.openxmlformats.org/drawingml/2006/main">
            <a:r>
              <a:t>Statistical unit Paper groups, not individual formulas copied across seeds.</a:t>
            </a:r>
          </a:p>
          <a:p xmlns:a="http://schemas.openxmlformats.org/drawingml/2006/main">
            <a:r>
              <a:t>Remaining asymmetry</a:t>
            </a:r>
          </a:p>
          <a:p xmlns:a="http://schemas.openxmlformats.org/drawingml/2006/main">
            <a:r>
              <a:t>Historical tuning counts and training wall time differ. Mature vocabulary budgets differ.</a:t>
            </a:r>
          </a:p>
          <a:p xmlns:a="http://schemas.openxmlformats.org/drawingml/2006/main">
            <a:r>
              <a:t>These differences are disclosed rather than described as fully equal compute.</a:t>
            </a:r>
          </a:p>
          <a:p xmlns:a="http://schemas.openxmlformats.org/drawingml/2006/main">
            <a:r>
              <a:t>Department of Mathematics, Sun Yat-sen University Experimental Design October 10, 2026 19/41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Eﬀiciency, Fidelity and Information Measures</a:t>
            </a:r>
          </a:p>
          <a:p xmlns:a="http://schemas.openxmlformats.org/drawingml/2006/main">
            <a:r>
              <a:t>Metric Definition / interpretation</a:t>
            </a:r>
          </a:p>
          <a:p xmlns:a="http://schemas.openxmlformats.org/drawingml/2006/main">
            <a:r>
              <a:t>Paper-macro tokens/byte</a:t>
            </a:r>
          </a:p>
          <a:p xmlns:a="http://schemas.openxmlformats.org/drawingml/2006/main">
            <a:r>
              <a:t>↓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p Tp/Bp; prevents long papers from dominating the primary</a:t>
            </a:r>
          </a:p>
          <a:p xmlns:a="http://schemas.openxmlformats.org/drawingml/2006/main">
            <a:r>
              <a:t>compression average.</a:t>
            </a:r>
          </a:p>
          <a:p xmlns:a="http://schemas.openxmlformats.org/drawingml/2006/main">
            <a:r>
              <a:t>Length distribution Tokens/formula and 50th/95th/99th percentiles; inspect long-tail</a:t>
            </a:r>
          </a:p>
          <a:p xmlns:a="http://schemas.openxmlformats.org/drawingml/2006/main">
            <a:r>
              <a:t>inflation.</a:t>
            </a:r>
          </a:p>
          <a:p xmlns:a="http://schemas.openxmlformats.org/drawingml/2006/main">
            <a:r>
              <a:t>Exact fidelity Both decoded strings and concatenated raw token payloads equal</a:t>
            </a:r>
          </a:p>
          <a:p xmlns:a="http://schemas.openxmlformats.org/drawingml/2006/main">
            <a:r>
              <a:t>the source.</a:t>
            </a:r>
          </a:p>
          <a:p xmlns:a="http://schemas.openxmlformats.org/drawingml/2006/main">
            <a:r>
              <a:t>Encode / decode speed Raw UTF-8 MiB/s through the complete public interface.</a:t>
            </a:r>
          </a:p>
          <a:p xmlns:a="http://schemas.openxmlformats.org/drawingml/2006/main">
            <a:r>
              <a:t>Fit unigram BPB ↓ −B−1 ∑</a:t>
            </a:r>
          </a:p>
          <a:p xmlns:a="http://schemas.openxmlformats.org/drawingml/2006/main">
            <a:r>
              <a:t>i log2[(ci + α)/(N + α|V|)]; fit-only count model, not LM</a:t>
            </a:r>
          </a:p>
          <a:p xmlns:a="http://schemas.openxmlformats.org/drawingml/2006/main">
            <a:r>
              <a:t>perplexity.</a:t>
            </a:r>
          </a:p>
          <a:p xmlns:a="http://schemas.openxmlformats.org/drawingml/2006/main">
            <a:r>
              <a:t>Information / utilization Renyi eﬀiciency at α = 1, 2, 2.5, 3; used IDs / actual vocabulary.</a:t>
            </a:r>
          </a:p>
          <a:p xmlns:a="http://schemas.openxmlformats.org/drawingml/2006/main">
            <a:r>
              <a:t>Sensitivity</a:t>
            </a:r>
          </a:p>
          <a:p xmlns:a="http://schemas.openxmlformats.org/drawingml/2006/main">
            <a:r>
              <a:t>Report smoothing at .01 / .1 / .5 / 1. Information eﬀiciency and token count measure</a:t>
            </a:r>
          </a:p>
          <a:p xmlns:a="http://schemas.openxmlformats.org/drawingml/2006/main">
            <a:r>
              <a:t>different properties; neither alone proves downstream quality.</a:t>
            </a:r>
          </a:p>
          <a:p xmlns:a="http://schemas.openxmlformats.org/drawingml/2006/main">
            <a:r>
              <a:t>Uzan et al. (2024) ; Meister (2026)</a:t>
            </a:r>
          </a:p>
          <a:p xmlns:a="http://schemas.openxmlformats.org/drawingml/2006/main">
            <a:r>
              <a:t>Department of Mathematics, Sun Yat-sen University Evaluation Metrics October 10, 2026 20/41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Structure, Integrity and Robustness</a:t>
            </a:r>
          </a:p>
          <a:p xmlns:a="http://schemas.openxmlformats.org/drawingml/2006/main">
            <a:r>
              <a:t>Metric Definition Evidence boundary</a:t>
            </a:r>
          </a:p>
          <a:p xmlns:a="http://schemas.openxmlformats.org/drawingml/2006/main">
            <a:r>
              <a:t>Command / number</a:t>
            </a:r>
          </a:p>
          <a:p xmlns:a="http://schemas.openxmlformats.org/drawingml/2006/main">
            <a:r>
              <a:t>integrity</a:t>
            </a:r>
          </a:p>
          <a:p xmlns:a="http://schemas.openxmlformats.org/drawingml/2006/main">
            <a:r>
              <a:t>Fraction of reference lexemes with</a:t>
            </a:r>
          </a:p>
          <a:p xmlns:a="http://schemas.openxmlformats.org/drawingml/2006/main">
            <a:r>
              <a:t>no internal token cut.</a:t>
            </a:r>
          </a:p>
          <a:p xmlns:a="http://schemas.openxmlformats.org/drawingml/2006/main">
            <a:r>
              <a:t>Does not require isolation as a</a:t>
            </a:r>
          </a:p>
          <a:p xmlns:a="http://schemas.openxmlformats.org/drawingml/2006/main">
            <a:r>
              <a:t>standalone token.</a:t>
            </a:r>
          </a:p>
          <a:p xmlns:a="http://schemas.openxmlformats.org/drawingml/2006/main">
            <a:r>
              <a:t>Lexical boundary</a:t>
            </a:r>
          </a:p>
          <a:p xmlns:a="http://schemas.openxmlformats.org/drawingml/2006/main">
            <a:r>
              <a:t>P/R/F1</a:t>
            </a:r>
          </a:p>
          <a:p xmlns:a="http://schemas.openxmlformats.org/drawingml/2006/main">
            <a:r>
              <a:t>Token endpoints against reference</a:t>
            </a:r>
          </a:p>
          <a:p xmlns:a="http://schemas.openxmlformats.org/drawingml/2006/main">
            <a:r>
              <a:t>lexical endpoints.</a:t>
            </a:r>
          </a:p>
          <a:p xmlns:a="http://schemas.openxmlformats.org/drawingml/2006/main">
            <a:r>
              <a:t>A byte tokenizer can obtain high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KaTeX crossing rate Tokens partially overlapping a</a:t>
            </a:r>
          </a:p>
          <a:p xmlns:a="http://schemas.openxmlformats.org/drawingml/2006/main">
            <a:r>
              <a:t>reference syntax span / all tokens.</a:t>
            </a:r>
          </a:p>
          <a:p xmlns:a="http://schemas.openxmlformats.org/drawingml/2006/main">
            <a:r>
              <a:t>A whole-formula token can obtain</a:t>
            </a:r>
          </a:p>
          <a:p xmlns:a="http://schemas.openxmlformats.org/drawingml/2006/main">
            <a:r>
              <a:t>low crossing.</a:t>
            </a:r>
          </a:p>
          <a:p xmlns:a="http://schemas.openxmlformats.org/drawingml/2006/main">
            <a:r>
              <a:t>Parameter-boundary</a:t>
            </a:r>
          </a:p>
          <a:p xmlns:a="http://schemas.openxmlformats.org/drawingml/2006/main">
            <a:r>
              <a:t>recall</a:t>
            </a:r>
          </a:p>
          <a:p xmlns:a="http://schemas.openxmlformats.org/drawingml/2006/main">
            <a:r>
              <a:t>pylatexenc group-content</a:t>
            </a:r>
          </a:p>
          <a:p xmlns:a="http://schemas.openxmlformats.org/drawingml/2006/main">
            <a:r>
              <a:t>endpoints retained as token</a:t>
            </a:r>
          </a:p>
          <a:p xmlns:a="http://schemas.openxmlformats.org/drawingml/2006/main">
            <a:r>
              <a:t>boundaries.</a:t>
            </a:r>
          </a:p>
          <a:p xmlns:a="http://schemas.openxmlformats.org/drawingml/2006/main">
            <a:r>
              <a:t>Independent implementation;</a:t>
            </a:r>
          </a:p>
          <a:p xmlns:a="http://schemas.openxmlformats.org/drawingml/2006/main">
            <a:r>
              <a:t>syntax proxy, not semantic gold.</a:t>
            </a:r>
          </a:p>
          <a:p xmlns:a="http://schemas.openxmlformats.org/drawingml/2006/main">
            <a:r>
              <a:t>Robustness Layout token variation; local</a:t>
            </a:r>
          </a:p>
          <a:p xmlns:a="http://schemas.openxmlformats.org/drawingml/2006/main">
            <a:r>
              <a:t>symbol edit effects outside a</a:t>
            </a:r>
          </a:p>
          <a:p xmlns:a="http://schemas.openxmlformats.org/drawingml/2006/main">
            <a:r>
              <a:t>16-byte neighborhood.</a:t>
            </a:r>
          </a:p>
          <a:p xmlns:a="http://schemas.openxmlformats.org/drawingml/2006/main">
            <a:r>
              <a:t>The local edit is not mathematical</a:t>
            </a:r>
          </a:p>
          <a:p xmlns:a="http://schemas.openxmlformats.org/drawingml/2006/main">
            <a:r>
              <a:t>equivalence.</a:t>
            </a:r>
          </a:p>
          <a:p xmlns:a="http://schemas.openxmlformats.org/drawingml/2006/main">
            <a:r>
              <a:t>Coverage is part of the result</a:t>
            </a:r>
          </a:p>
          <a:p xmlns:a="http://schemas.openxmlformats.org/drawingml/2006/main">
            <a:r>
              <a:t>Unicode integrity, parser coverage and probe counts accompany the scores. No formula</a:t>
            </a:r>
          </a:p>
          <a:p xmlns:a="http://schemas.openxmlformats.org/drawingml/2006/main">
            <a:r>
              <a:t>disappears from the common test merely because a diagnostic parser cannot measure it.</a:t>
            </a:r>
          </a:p>
          <a:p xmlns:a="http://schemas.openxmlformats.org/drawingml/2006/main">
            <a:r>
              <a:t>Meister (2026) ; Jung et al. (2024)</a:t>
            </a:r>
          </a:p>
          <a:p xmlns:a="http://schemas.openxmlformats.org/drawingml/2006/main">
            <a:r>
              <a:t>Department of Mathematics, Sun Yat-sen University Evaluation Metrics October 10, 2026 21/41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New Review Rounds of the Retained Release</a:t>
            </a:r>
          </a:p>
          <a:p xmlns:a="http://schemas.openxmlformats.org/drawingml/2006/main">
            <a:r>
              <a:t>Round Checks actually executed Scope</a:t>
            </a:r>
          </a:p>
          <a:p xmlns:a="http://schemas.openxmlformats.org/drawingml/2006/main">
            <a:r>
              <a:t>1. Data /</a:t>
            </a:r>
          </a:p>
          <a:p xmlns:a="http://schemas.openxmlformats.org/drawingml/2006/main">
            <a:r>
              <a:t>provenance</a:t>
            </a:r>
          </a:p>
          <a:p xmlns:a="http://schemas.openxmlformats.org/drawingml/2006/main">
            <a:r>
              <a:t>Reclassify every formula; verify file IDs, hash,</a:t>
            </a:r>
          </a:p>
          <a:p xmlns:a="http://schemas.openxmlformats.org/drawingml/2006/main">
            <a:r>
              <a:t>license/origin rules and source-disjoint pools.</a:t>
            </a:r>
          </a:p>
          <a:p xmlns:a="http://schemas.openxmlformats.org/drawingml/2006/main">
            <a:r>
              <a:t>56,000 catalog</a:t>
            </a:r>
          </a:p>
          <a:p xmlns:a="http://schemas.openxmlformats.org/drawingml/2006/main">
            <a:r>
              <a:t>records.</a:t>
            </a:r>
          </a:p>
          <a:p xmlns:a="http://schemas.openxmlformats.org/drawingml/2006/main">
            <a:r>
              <a:t>2. Public-encoder</a:t>
            </a:r>
          </a:p>
          <a:p xmlns:a="http://schemas.openxmlformats.org/drawingml/2006/main">
            <a:r>
              <a:t>replay</a:t>
            </a:r>
          </a:p>
          <a:p xmlns:a="http://schemas.openxmlformats.org/drawingml/2006/main">
            <a:r>
              <a:t>Reload every current model; reconstruct original</a:t>
            </a:r>
          </a:p>
          <a:p xmlns:a="http://schemas.openxmlformats.org/drawingml/2006/main">
            <a:r>
              <a:t>payload; replay length, reference crossings and</a:t>
            </a:r>
          </a:p>
          <a:p xmlns:a="http://schemas.openxmlformats.org/drawingml/2006/main">
            <a:r>
              <a:t>parameter boundaries.</a:t>
            </a:r>
          </a:p>
          <a:p xmlns:a="http://schemas.openxmlformats.org/drawingml/2006/main">
            <a:r>
              <a:t>234,556 formula-result</a:t>
            </a:r>
          </a:p>
          <a:p xmlns:a="http://schemas.openxmlformats.org/drawingml/2006/main">
            <a:r>
              <a:t>rows.</a:t>
            </a:r>
          </a:p>
          <a:p xmlns:a="http://schemas.openxmlformats.org/drawingml/2006/main">
            <a:r>
              <a:t>3. Independent</a:t>
            </a:r>
          </a:p>
          <a:p xmlns:a="http://schemas.openxmlformats.org/drawingml/2006/main">
            <a:r>
              <a:t>aggregation</a:t>
            </a:r>
          </a:p>
          <a:p xmlns:a="http://schemas.openxmlformats.org/drawingml/2006/main">
            <a:r>
              <a:t>Recompute paper averages, integrity and</a:t>
            </a:r>
          </a:p>
          <a:p xmlns:a="http://schemas.openxmlformats.org/drawingml/2006/main">
            <a:r>
              <a:t>fit-calibrated probability bits; check common</a:t>
            </a:r>
          </a:p>
          <a:p xmlns:a="http://schemas.openxmlformats.org/drawingml/2006/main">
            <a:r>
              <a:t>dictionary and seven timing repeats.</a:t>
            </a:r>
          </a:p>
          <a:p xmlns:a="http://schemas.openxmlformats.org/drawingml/2006/main">
            <a:r>
              <a:t>19 configurations, 109</a:t>
            </a:r>
          </a:p>
          <a:p xmlns:a="http://schemas.openxmlformats.org/drawingml/2006/main">
            <a:r>
              <a:t>metric records.</a:t>
            </a:r>
          </a:p>
          <a:p xmlns:a="http://schemas.openxmlformats.org/drawingml/2006/main">
            <a:r>
              <a:t>Status</a:t>
            </a:r>
          </a:p>
          <a:p xmlns:a="http://schemas.openxmlformats.org/drawingml/2006/main">
            <a:r>
              <a:t>All three new reviews passed. The earlier v8 freeze/evaluation additionally passed eight</a:t>
            </a:r>
          </a:p>
          <a:p xmlns:a="http://schemas.openxmlformats.org/drawingml/2006/main">
            <a:r>
              <a:t>protocol/result checks and 201 implementation tests.</a:t>
            </a:r>
          </a:p>
          <a:p xmlns:a="http://schemas.openxmlformats.org/drawingml/2006/main">
            <a:r>
              <a:t>Reorganization integrity</a:t>
            </a:r>
          </a:p>
          <a:p xmlns:a="http://schemas.openxmlformats.org/drawingml/2006/main">
            <a:r>
              <a:t>Selected checkpoints are byte-identical copies of the frozen v8 artifacts. Current results</a:t>
            </a:r>
          </a:p>
          <a:p xmlns:a="http://schemas.openxmlformats.org/drawingml/2006/main">
            <a:r>
              <a:t>are the seven-method subset, with no new training or test-based parameter changes.</a:t>
            </a:r>
          </a:p>
          <a:p xmlns:a="http://schemas.openxmlformats.org/drawingml/2006/main">
            <a:r>
              <a:t>Department of Mathematics, Sun Yat-sen University Experimental Audit October 10, 2026 22/41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1,024-ID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0.3900 18.43 64.36 99.76 97.41 29.68</a:t>
            </a:r>
          </a:p>
          <a:p xmlns:a="http://schemas.openxmlformats.org/drawingml/2006/main">
            <a:r>
              <a:t>Math-atom BPE (ours) 0.3943 19.26 62.83 99.76 97.41 10.20</a:t>
            </a:r>
          </a:p>
          <a:p xmlns:a="http://schemas.openxmlformats.org/drawingml/2006/main">
            <a:r>
              <a:t>Byte BPE 0.4121 25.51 67.62 62.28 97.43 8.59</a:t>
            </a:r>
          </a:p>
          <a:p xmlns:a="http://schemas.openxmlformats.org/drawingml/2006/main">
            <a:r>
              <a:t>SP Unigram 0.4912 22.34 68.64 2.49 98.08 23.42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23/41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2,048-ID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0.3296 24.17 53.87 99.76 97.89 28.65</a:t>
            </a:r>
          </a:p>
          <a:p xmlns:a="http://schemas.openxmlformats.org/drawingml/2006/main">
            <a:r>
              <a:t>Math-atom BPE (ours) 0.3372 24.87 51.18 99.76 97.57 9.56</a:t>
            </a:r>
          </a:p>
          <a:p xmlns:a="http://schemas.openxmlformats.org/drawingml/2006/main">
            <a:r>
              <a:t>Byte BPE 0.3504 31.46 59.79 74.75 97.61 8.81</a:t>
            </a:r>
          </a:p>
          <a:p xmlns:a="http://schemas.openxmlformats.org/drawingml/2006/main">
            <a:r>
              <a:t>SP Unigram 0.4625 24.03 67.07 4.16 98.71 23.54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24/41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Source-Domain Generalization</a:t>
            </a:r>
          </a:p>
          <a:p xmlns:a="http://schemas.openxmlformats.org/drawingml/2006/main">
            <a:r>
              <a:t>Common holdout: 1,428 formulas. Specialized training excludes target and adjacent</a:t>
            </a:r>
          </a:p>
          <a:p xmlns:a="http://schemas.openxmlformats.org/drawingml/2006/main">
            <a:r>
              <a:t>source categories.</a:t>
            </a:r>
          </a:p>
          <a:p xmlns:a="http://schemas.openxmlformats.org/drawingml/2006/main">
            <a:r>
              <a:t>System T/B: 1,024 T/B: 2,048 Scope%: 1,024 Scope%: 2,048</a:t>
            </a:r>
          </a:p>
          <a:p xmlns:a="http://schemas.openxmlformats.org/drawingml/2006/main">
            <a:r>
              <a:t>Boundary AST (ours) 0.4372 0.4010 61.27 53.43</a:t>
            </a:r>
          </a:p>
          <a:p xmlns:a="http://schemas.openxmlformats.org/drawingml/2006/main">
            <a:r>
              <a:t>Math-atom BPE (ours) 0.4470 0.4118 60.70 53.72</a:t>
            </a:r>
          </a:p>
          <a:p xmlns:a="http://schemas.openxmlformats.org/drawingml/2006/main">
            <a:r>
              <a:t>Byte BPE 0.4726 0.4188 66.29 61.13</a:t>
            </a:r>
          </a:p>
          <a:p xmlns:a="http://schemas.openxmlformats.org/drawingml/2006/main">
            <a:r>
              <a:t>SP Unigram 0.5325 0.5011 70.89 70.10</a:t>
            </a:r>
          </a:p>
          <a:p xmlns:a="http://schemas.openxmlformats.org/drawingml/2006/main">
            <a:r>
              <a:t>Qwen2.5 0.5415 0.5415 86.87 86.87</a:t>
            </a:r>
          </a:p>
          <a:p xmlns:a="http://schemas.openxmlformats.org/drawingml/2006/main">
            <a:r>
              <a:t>Llama 3 0.5353 0.5353 86.87 86.87</a:t>
            </a:r>
          </a:p>
          <a:p xmlns:a="http://schemas.openxmlformats.org/drawingml/2006/main">
            <a:r>
              <a:t>o200k 0.5335 0.5335 86.63 86.63</a:t>
            </a:r>
          </a:p>
          <a:p xmlns:a="http://schemas.openxmlformats.org/drawingml/2006/main">
            <a:r>
              <a:t>What generalizes</a:t>
            </a:r>
          </a:p>
          <a:p xmlns:a="http://schemas.openxmlformats.org/drawingml/2006/main">
            <a:r>
              <a:t>Boundary AST compresses more than the same-dictionary BPE in both budgets. Scope</a:t>
            </a:r>
          </a:p>
          <a:p xmlns:a="http://schemas.openxmlformats.org/drawingml/2006/main">
            <a:r>
              <a:t>recall changes by +0.57 pp / -0.28 pp; not every structural diagnostic improves.</a:t>
            </a:r>
          </a:p>
          <a:p xmlns:a="http://schemas.openxmlformats.org/drawingml/2006/main">
            <a:r>
              <a:t>What remains uncertain</a:t>
            </a:r>
          </a:p>
          <a:p xmlns:a="http://schemas.openxmlformats.org/drawingml/2006/main">
            <a:r>
              <a:t>Source categories are disjoint by construction, but mathematical concepts can overlap.</a:t>
            </a:r>
          </a:p>
          <a:p xmlns:a="http://schemas.openxmlformats.org/drawingml/2006/main">
            <a:r>
              <a:t>Few source papers and uneven domains produce wide uncertainty intervals.</a:t>
            </a:r>
          </a:p>
          <a:p xmlns:a="http://schemas.openxmlformats.org/drawingml/2006/main">
            <a:r>
              <a:t>Department of Mathematics, Sun Yat-sen University Results October 10, 2026 25/41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Compression Across Vocabulary Budgets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(a) New-paper test: 4,294 formulas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(b) Source-domain holdout: 1,428 formulas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Solid lines: trained 1,024/2,048-ID systems. Dashed lines: fixed full-vocabulary general</a:t>
            </a:r>
          </a:p>
          <a:p xmlns:a="http://schemas.openxmlformats.org/drawingml/2006/main">
            <a:r>
              <a:t>tokenizers. Lower is shorter; this is not a downstream-accuracy curve.</a:t>
            </a:r>
          </a:p>
          <a:p xmlns:a="http://schemas.openxmlformats.org/drawingml/2006/main">
            <a:r>
              <a:t>Department of Mathematics, Sun Yat-sen University Results October 10, 2026 26/41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and Source-Tree Crossing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(a) 1,024 IDs: new-paper test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(b) 2,048 IDs: new-paper test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Boundary AST is about 2.65–3.00 times faster than math-atom BPE across the four</a:t>
            </a:r>
          </a:p>
          <a:p xmlns:a="http://schemas.openxmlformats.org/drawingml/2006/main">
            <a:r>
              <a:t>principal conditions. All parser/codec work is included. The result is from one Mac and</a:t>
            </a:r>
          </a:p>
          <a:p xmlns:a="http://schemas.openxmlformats.org/drawingml/2006/main">
            <a:r>
              <a:t>a single-input public interface.</a:t>
            </a:r>
          </a:p>
          <a:p xmlns:a="http://schemas.openxmlformats.org/drawingml/2006/main">
            <a:r>
              <a:t>Department of Mathematics, Sun Yat-sen University Results October 10, 2026 27/41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Paper-Cluster Statistical Evidence</a:t>
            </a:r>
          </a:p>
          <a:p xmlns:a="http://schemas.openxmlformats.org/drawingml/2006/main">
            <a:r>
              <a:t>Difference: Boundary AST minus math-atom BPE. Negative compression differences</a:t>
            </a:r>
          </a:p>
          <a:p xmlns:a="http://schemas.openxmlformats.org/drawingml/2006/main">
            <a:r>
              <a:t>favor AST.</a:t>
            </a:r>
          </a:p>
          <a:p xmlns:a="http://schemas.openxmlformats.org/drawingml/2006/main">
            <a:r>
              <a:t>Condition T/B difference Family 95% CI Scope difference CI (pp)</a:t>
            </a:r>
          </a:p>
          <a:p xmlns:a="http://schemas.openxmlformats.org/drawingml/2006/main">
            <a:r>
              <a:t>1,024 / broad -0.00428 [-0.00601, -0.00270] [-2.36, +6.06]</a:t>
            </a:r>
          </a:p>
          <a:p xmlns:a="http://schemas.openxmlformats.org/drawingml/2006/main">
            <a:r>
              <a:t>1,024 / domain -0.00976 [-0.02916, -0.00197] [-4.44, +9.88]</a:t>
            </a:r>
          </a:p>
          <a:p xmlns:a="http://schemas.openxmlformats.org/drawingml/2006/main">
            <a:r>
              <a:t>2,048 / broad -0.00760 [-0.01106, -0.00535] [+0.49, +6.59]</a:t>
            </a:r>
          </a:p>
          <a:p xmlns:a="http://schemas.openxmlformats.org/drawingml/2006/main">
            <a:r>
              <a:t>2,048 / domain -0.01088 [-0.03025, -0.00344] [-5.78, +12.17]</a:t>
            </a:r>
          </a:p>
          <a:p xmlns:a="http://schemas.openxmlformats.org/drawingml/2006/main">
            <a:r>
              <a:t>Design</a:t>
            </a:r>
          </a:p>
          <a:p xmlns:a="http://schemas.openxmlformats.org/drawingml/2006/main">
            <a:r>
              <a:t>200,000 paper-cluster resamples; Bonferroni intervals retain the original family of 144</a:t>
            </a:r>
          </a:p>
          <a:p xmlns:a="http://schemas.openxmlformats.org/drawingml/2006/main">
            <a:r>
              <a:t>comparisons. We did not shrink the family after choosing seven systems.</a:t>
            </a:r>
          </a:p>
          <a:p xmlns:a="http://schemas.openxmlformats.org/drawingml/2006/main">
            <a:r>
              <a:t>All four adjusted compression intervals exclude zero in favor of Boundary AST.</a:t>
            </a:r>
          </a:p>
          <a:p xmlns:a="http://schemas.openxmlformats.org/drawingml/2006/main">
            <a:r>
              <a:t>Scope and crossing intervals do not all exclude zero; point estimates are not</a:t>
            </a:r>
          </a:p>
          <a:p xmlns:a="http://schemas.openxmlformats.org/drawingml/2006/main">
            <a:r>
              <a:t>universal structural gains.</a:t>
            </a:r>
          </a:p>
          <a:p xmlns:a="http://schemas.openxmlformats.org/drawingml/2006/main">
            <a:r>
              <a:t>Intervals condition on the realized vocabulary and observed training seeds. They</a:t>
            </a:r>
          </a:p>
          <a:p xmlns:a="http://schemas.openxmlformats.org/drawingml/2006/main">
            <a:r>
              <a:t>do not cover all possible retraining outcomes.</a:t>
            </a:r>
          </a:p>
          <a:p xmlns:a="http://schemas.openxmlformats.org/drawingml/2006/main">
            <a:r>
              <a:t>Department of Mathematics, Sun Yat-sen University Results October 10, 2026 28/41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Probability Coding and Vocabulary Utilization</a:t>
            </a:r>
          </a:p>
          <a:p xmlns:a="http://schemas.openxmlformats.org/drawingml/2006/main">
            <a:r>
              <a:t>System Fit BPB: 1,024 Fit BPB: 2,048 Used%: 1,024 Used%: 2,048</a:t>
            </a:r>
          </a:p>
          <a:p xmlns:a="http://schemas.openxmlformats.org/drawingml/2006/main">
            <a:r>
              <a:t>Boundary AST (ours) 3.131 3.008 67.3 72.0</a:t>
            </a:r>
          </a:p>
          <a:p xmlns:a="http://schemas.openxmlformats.org/drawingml/2006/main">
            <a:r>
              <a:t>Math-atom BPE (ours) 3.153 3.028 66.8 70.9</a:t>
            </a:r>
          </a:p>
          <a:p xmlns:a="http://schemas.openxmlformats.org/drawingml/2006/main">
            <a:r>
              <a:t>Byte BPE 3.413 3.209 76.3 76.3</a:t>
            </a:r>
          </a:p>
          <a:p xmlns:a="http://schemas.openxmlformats.org/drawingml/2006/main">
            <a:r>
              <a:t>SP Unigram 3.709 3.634 69.5 67.2</a:t>
            </a:r>
          </a:p>
          <a:p xmlns:a="http://schemas.openxmlformats.org/drawingml/2006/main">
            <a:r>
              <a:t>Qwen2.5 4.063 4.063 0.8 0.8</a:t>
            </a:r>
          </a:p>
          <a:p xmlns:a="http://schemas.openxmlformats.org/drawingml/2006/main">
            <a:r>
              <a:t>Llama 3 4.056 4.056 1.1 1.1</a:t>
            </a:r>
          </a:p>
          <a:p xmlns:a="http://schemas.openxmlformats.org/drawingml/2006/main">
            <a:r>
              <a:t>o200k 4.060 4.060 0.7 0.7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Fit BPB uses the same scenario fit records and actual vocabulary size. The much larger</a:t>
            </a:r>
          </a:p>
          <a:p xmlns:a="http://schemas.openxmlformats.org/drawingml/2006/main">
            <a:r>
              <a:t>general vocabularies incur a different smoothing term and utilization denominator.</a:t>
            </a:r>
          </a:p>
          <a:p xmlns:a="http://schemas.openxmlformats.org/drawingml/2006/main">
            <a:r>
              <a:t>Why several measures are necessary</a:t>
            </a:r>
          </a:p>
          <a:p xmlns:a="http://schemas.openxmlformats.org/drawingml/2006/main">
            <a:r>
              <a:t>Low token count can coexist with sparse usage or unstable boundaries. These</a:t>
            </a:r>
          </a:p>
          <a:p xmlns:a="http://schemas.openxmlformats.org/drawingml/2006/main">
            <a:r>
              <a:t>probability readouts are descriptive token statistics; no trained language-model</a:t>
            </a:r>
          </a:p>
          <a:p xmlns:a="http://schemas.openxmlformats.org/drawingml/2006/main">
            <a:r>
              <a:t>perplexity is reported.</a:t>
            </a:r>
          </a:p>
          <a:p xmlns:a="http://schemas.openxmlformats.org/drawingml/2006/main">
            <a:r>
              <a:t>Uzan et al. (2024) ; Meister (2026)</a:t>
            </a:r>
          </a:p>
          <a:p xmlns:a="http://schemas.openxmlformats.org/drawingml/2006/main">
            <a:r>
              <a:t>Department of Mathematics, Sun Yat-sen University Results October 10, 2026 29/41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Seven-System Composite Ranking</a:t>
            </a:r>
          </a:p>
          <a:p xmlns:a="http://schemas.openxmlformats.org/drawingml/2006/main">
            <a:r>
              <a:t>System Rank: 1,024 Rank: 2,048 Score: 1,024 Score: 2,048</a:t>
            </a:r>
          </a:p>
          <a:p xmlns:a="http://schemas.openxmlformats.org/drawingml/2006/main">
            <a:r>
              <a:t>Boundary AST (ours) 1 1 0.042 0.100</a:t>
            </a:r>
          </a:p>
          <a:p xmlns:a="http://schemas.openxmlformats.org/drawingml/2006/main">
            <a:r>
              <a:t>Math-atom BPE (ours) 2 2 0.271 0.342</a:t>
            </a:r>
          </a:p>
          <a:p xmlns:a="http://schemas.openxmlformats.org/drawingml/2006/main">
            <a:r>
              <a:t>Byte BPE 5 5 0.610 0.608</a:t>
            </a:r>
          </a:p>
          <a:p xmlns:a="http://schemas.openxmlformats.org/drawingml/2006/main">
            <a:r>
              <a:t>SP Unigram 3 3 0.433 0.450</a:t>
            </a:r>
          </a:p>
          <a:p xmlns:a="http://schemas.openxmlformats.org/drawingml/2006/main">
            <a:r>
              <a:t>Qwen2.5 7 7 0.860 0.817</a:t>
            </a:r>
          </a:p>
          <a:p xmlns:a="http://schemas.openxmlformats.org/drawingml/2006/main">
            <a:r>
              <a:t>Llama 3 6 6 0.696 0.646</a:t>
            </a:r>
          </a:p>
          <a:p xmlns:a="http://schemas.openxmlformats.org/drawingml/2006/main">
            <a:r>
              <a:t>o200k 4 4 0.587 0.537</a:t>
            </a:r>
          </a:p>
          <a:p xmlns:a="http://schemas.openxmlformats.org/drawingml/2006/main">
            <a:r>
              <a:t>Frozen metric preferences</a:t>
            </a:r>
          </a:p>
          <a:p xmlns:a="http://schemas.openxmlformats.org/drawingml/2006/main">
            <a:r>
              <a:t>Compression 30%; encode speed 25%; KaTeX crossing 20%; command integrity 10%;</a:t>
            </a:r>
          </a:p>
          <a:p xmlns:a="http://schemas.openxmlformats.org/drawingml/2006/main">
            <a:r>
              <a:t>number integrity 5%; fit BPB 10%. Broad and specialized scenarios each receive 50%.</a:t>
            </a:r>
          </a:p>
          <a:p xmlns:a="http://schemas.openxmlformats.org/drawingml/2006/main">
            <a:r>
              <a:t>How to use the ranking</a:t>
            </a:r>
          </a:p>
          <a:p xmlns:a="http://schemas.openxmlformats.org/drawingml/2006/main">
            <a:r>
              <a:t>The ranking favors our complete specialized systems under this preference. It is relative</a:t>
            </a:r>
          </a:p>
          <a:p xmlns:a="http://schemas.openxmlformats.org/drawingml/2006/main">
            <a:r>
              <a:t>to the seven retained methods, omits scope recall from its weighted score and cannot</a:t>
            </a:r>
          </a:p>
          <a:p xmlns:a="http://schemas.openxmlformats.org/drawingml/2006/main">
            <a:r>
              <a:t>establish downstream superiority.</a:t>
            </a:r>
          </a:p>
          <a:p xmlns:a="http://schemas.openxmlformats.org/drawingml/2006/main">
            <a:r>
              <a:t>Department of Mathematics, Sun Yat-sen University Results October 10, 2026 30/41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RL Is Not a Final Production Route</a:t>
            </a:r>
          </a:p>
          <a:p xmlns:a="http://schemas.openxmlformats.org/drawingml/2006/main">
            <a:r>
              <a:t>Same-reward control RL mean utility gain Wins 95% interval crosses zero?</a:t>
            </a:r>
          </a:p>
          <a:p xmlns:a="http://schemas.openxmlformats.org/drawingml/2006/main">
            <a:r>
              <a:t>Fixed random search 0.116% 7 / 15 Yes</a:t>
            </a:r>
          </a:p>
          <a:p xmlns:a="http://schemas.openxmlformats.org/drawingml/2006/main">
            <a:r>
              <a:t>Cross-entropy search 0.199% 8 / 15 Yes</a:t>
            </a:r>
          </a:p>
          <a:p xmlns:a="http://schemas.openxmlformats.org/drawingml/2006/main">
            <a:r>
              <a:t>Controlled evidence</a:t>
            </a:r>
          </a:p>
          <a:p xmlns:a="http://schemas.openxmlformats.org/drawingml/2006/main">
            <a:r>
              <a:t>Three paper splits and five seeds per split; shared tasks, features, initialization and 34</a:t>
            </a:r>
          </a:p>
          <a:p xmlns:a="http://schemas.openxmlformats.org/drawingml/2006/main">
            <a:r>
              <a:t>actual terminal evaluations. The gate required at least 0.5% utility improvement, 12/15</a:t>
            </a:r>
          </a:p>
          <a:p xmlns:a="http://schemas.openxmlformats.org/drawingml/2006/main">
            <a:r>
              <a:t>wins and core noninferiority.</a:t>
            </a:r>
          </a:p>
          <a:p xmlns:a="http://schemas.openxmlformats.org/drawingml/2006/main">
            <a:r>
              <a:t>The gate was not met; these results remain in history, outside the current</a:t>
            </a:r>
          </a:p>
          <a:p xmlns:a="http://schemas.openxmlformats.org/drawingml/2006/main">
            <a:r>
              <a:t>seven-system registry.</a:t>
            </a:r>
          </a:p>
          <a:p xmlns:a="http://schemas.openxmlformats.org/drawingml/2006/main">
            <a:r>
              <a:t>The non-RL Boundary AST replacement preserves core point-estimate tolerances</a:t>
            </a:r>
          </a:p>
          <a:p xmlns:a="http://schemas.openxmlformats.org/drawingml/2006/main">
            <a:r>
              <a:t>relative to the old v5, with explicit structural trade-offs.</a:t>
            </a:r>
          </a:p>
          <a:p xmlns:a="http://schemas.openxmlformats.org/drawingml/2006/main">
            <a:r>
              <a:t>This does not refute the ICML end-to-end RL paper, whose reward is</a:t>
            </a:r>
          </a:p>
          <a:p xmlns:a="http://schemas.openxmlformats.org/drawingml/2006/main">
            <a:r>
              <a:t>language-model loss.</a:t>
            </a:r>
          </a:p>
          <a:p xmlns:a="http://schemas.openxmlformats.org/drawingml/2006/main">
            <a:r>
              <a:t>Historical v8 controlled-terminal decision; 15 pairs are conditional on three potentially overlapping source splits.</a:t>
            </a:r>
          </a:p>
          <a:p xmlns:a="http://schemas.openxmlformats.org/drawingml/2006/main">
            <a:r>
              <a:t>Dauncey and Wattenhofer (2026)</a:t>
            </a:r>
          </a:p>
          <a:p xmlns:a="http://schemas.openxmlformats.org/drawingml/2006/main">
            <a:r>
              <a:t>Department of Mathematics, Sun Yat-sen University Results October 10, 2026 31/41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Priority Downstream Tasks</a:t>
            </a:r>
          </a:p>
          <a:p xmlns:a="http://schemas.openxmlformats.org/drawingml/2006/main">
            <a:r>
              <a:t>Task Input and output Primary evaluation</a:t>
            </a:r>
          </a:p>
          <a:p xmlns:a="http://schemas.openxmlformats.org/drawingml/2006/main">
            <a:r>
              <a:t>1. PDE solution /</a:t>
            </a:r>
          </a:p>
          <a:p xmlns:a="http://schemas.openxmlformats.org/drawingml/2006/main">
            <a:r>
              <a:t>solver generation</a:t>
            </a:r>
          </a:p>
          <a:p xmlns:a="http://schemas.openxmlformats.org/drawingml/2006/main">
            <a:r>
              <a:t>Equation + initial/boundary</a:t>
            </a:r>
          </a:p>
          <a:p xmlns:a="http://schemas.openxmlformats.org/drawingml/2006/main">
            <a:r>
              <a:t>conditions; generate an analytic</a:t>
            </a:r>
          </a:p>
          <a:p xmlns:a="http://schemas.openxmlformats.org/drawingml/2006/main">
            <a:r>
              <a:t>candidate or executable numerical</a:t>
            </a:r>
          </a:p>
          <a:p xmlns:a="http://schemas.openxmlformats.org/drawingml/2006/main">
            <a:r>
              <a:t>solver.</a:t>
            </a:r>
          </a:p>
          <a:p xmlns:a="http://schemas.openxmlformats.org/drawingml/2006/main">
            <a:r>
              <a:t>Residual, boundary error, nRMSE</a:t>
            </a:r>
          </a:p>
          <a:p xmlns:a="http://schemas.openxmlformats.org/drawingml/2006/main">
            <a:r>
              <a:t>and execution success.</a:t>
            </a:r>
          </a:p>
          <a:p xmlns:a="http://schemas.openxmlformats.org/drawingml/2006/main">
            <a:r>
              <a:t>2. Governing-equation</a:t>
            </a:r>
          </a:p>
          <a:p xmlns:a="http://schemas.openxmlformats.org/drawingml/2006/main">
            <a:r>
              <a:t>discovery</a:t>
            </a:r>
          </a:p>
          <a:p xmlns:a="http://schemas.openxmlformats.org/drawingml/2006/main">
            <a:r>
              <a:t>Field observations / derivatives;</a:t>
            </a:r>
          </a:p>
          <a:p xmlns:a="http://schemas.openxmlformats.org/drawingml/2006/main">
            <a:r>
              <a:t>generate a symbolic PDE and fit</a:t>
            </a:r>
          </a:p>
          <a:p xmlns:a="http://schemas.openxmlformats.org/drawingml/2006/main">
            <a:r>
              <a:t>coeﬀicients.</a:t>
            </a:r>
          </a:p>
          <a:p xmlns:a="http://schemas.openxmlformats.org/drawingml/2006/main">
            <a:r>
              <a:t>Structure recovery, coeﬀicient</a:t>
            </a:r>
          </a:p>
          <a:p xmlns:a="http://schemas.openxmlformats.org/drawingml/2006/main">
            <a:r>
              <a:t>error, held-out prediction and</a:t>
            </a:r>
          </a:p>
          <a:p xmlns:a="http://schemas.openxmlformats.org/drawingml/2006/main">
            <a:r>
              <a:t>noise robustness.</a:t>
            </a:r>
          </a:p>
          <a:p xmlns:a="http://schemas.openxmlformats.org/drawingml/2006/main">
            <a:r>
              <a:t>3. Symbolic</a:t>
            </a:r>
          </a:p>
          <a:p xmlns:a="http://schemas.openxmlformats.org/drawingml/2006/main">
            <a:r>
              <a:t>manipulation</a:t>
            </a:r>
          </a:p>
          <a:p xmlns:a="http://schemas.openxmlformats.org/drawingml/2006/main">
            <a:r>
              <a:t>Integration, differentiation,</a:t>
            </a:r>
          </a:p>
          <a:p xmlns:a="http://schemas.openxmlformats.org/drawingml/2006/main">
            <a:r>
              <a:t>simplification and ODE solving.</a:t>
            </a:r>
          </a:p>
          <a:p xmlns:a="http://schemas.openxmlformats.org/drawingml/2006/main">
            <a:r>
              <a:t>Executable/symbolic equivalence,</a:t>
            </a:r>
          </a:p>
          <a:p xmlns:a="http://schemas.openxmlformats.org/drawingml/2006/main">
            <a:r>
              <a:t>validity and unseen operator</a:t>
            </a:r>
          </a:p>
          <a:p xmlns:a="http://schemas.openxmlformats.org/drawingml/2006/main">
            <a:r>
              <a:t>combinations.</a:t>
            </a:r>
          </a:p>
          <a:p xmlns:a="http://schemas.openxmlformats.org/drawingml/2006/main">
            <a:r>
              <a:t>4. Mathematical</a:t>
            </a:r>
          </a:p>
          <a:p xmlns:a="http://schemas.openxmlformats.org/drawingml/2006/main">
            <a:r>
              <a:t>reasoning</a:t>
            </a:r>
          </a:p>
          <a:p xmlns:a="http://schemas.openxmlformats.org/drawingml/2006/main">
            <a:r>
              <a:t>Problem text + formulas; generate</a:t>
            </a:r>
          </a:p>
          <a:p xmlns:a="http://schemas.openxmlformats.org/drawingml/2006/main">
            <a:r>
              <a:t>derivation and final answer.</a:t>
            </a:r>
          </a:p>
          <a:p xmlns:a="http://schemas.openxmlformats.org/drawingml/2006/main">
            <a:r>
              <a:t>Verified final-answer accuracy and</a:t>
            </a:r>
          </a:p>
          <a:p xmlns:a="http://schemas.openxmlformats.org/drawingml/2006/main">
            <a:r>
              <a:t>length/generalization strata.</a:t>
            </a:r>
          </a:p>
          <a:p xmlns:a="http://schemas.openxmlformats.org/drawingml/2006/main">
            <a:r>
              <a:t>Data and task separation</a:t>
            </a:r>
          </a:p>
          <a:p xmlns:a="http://schemas.openxmlformats.org/drawingml/2006/main">
            <a:r>
              <a:t>PDEBench supplies numerical PDE tasks; EqGPT motivates discovery;</a:t>
            </a:r>
          </a:p>
          <a:p xmlns:a="http://schemas.openxmlformats.org/drawingml/2006/main">
            <a:r>
              <a:t>SymbolicMathematics and MATH motivate symbolic/reasoning tasks. Their test cases</a:t>
            </a:r>
          </a:p>
          <a:p xmlns:a="http://schemas.openxmlformats.org/drawingml/2006/main">
            <a:r>
              <a:t>must not enter tokenizer or model adaptation training.</a:t>
            </a:r>
          </a:p>
          <a:p xmlns:a="http://schemas.openxmlformats.org/drawingml/2006/main">
            <a:r>
              <a:t>Takamoto et al. (2022) ; Xu et al. (2025) ; Lample and Charton (2020) ; Hendrycks et al. (2021)</a:t>
            </a:r>
          </a:p>
          <a:p xmlns:a="http://schemas.openxmlformats.org/drawingml/2006/main">
            <a:r>
              <a:t>Department of Mathematics, Sun Yat-sen University Downstream Plan October 10, 2026 32/41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Tokenizer Replacement Does Not Require Full Retraining</a:t>
            </a:r>
          </a:p>
          <a:p xmlns:a="http://schemas.openxmlformats.org/drawingml/2006/main">
            <a:r>
              <a:t>Option Procedure Experimental use</a:t>
            </a:r>
          </a:p>
          <a:p xmlns:a="http://schemas.openxmlformats.org/drawingml/2006/main">
            <a:r>
              <a:t>Small models from</a:t>
            </a:r>
          </a:p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Same backbone, raw data and</a:t>
            </a:r>
          </a:p>
          <a:p xmlns:a="http://schemas.openxmlformats.org/drawingml/2006/main">
            <a:r>
              <a:t>initialization seeds.</a:t>
            </a:r>
          </a:p>
          <a:p xmlns:a="http://schemas.openxmlformats.org/drawingml/2006/main">
            <a:r>
              <a:t>Clean comparison; start around</a:t>
            </a:r>
          </a:p>
          <a:p xmlns:a="http://schemas.openxmlformats.org/drawingml/2006/main">
            <a:r>
              <a:t>100–300M parameters.</a:t>
            </a:r>
          </a:p>
          <a:p xmlns:a="http://schemas.openxmlformats.org/drawingml/2006/main">
            <a:r>
              <a:t>Adapt an open</a:t>
            </a:r>
          </a:p>
          <a:p xmlns:a="http://schemas.openxmlformats.org/drawingml/2006/main">
            <a:r>
              <a:t>backbone</a:t>
            </a:r>
          </a:p>
          <a:p xmlns:a="http://schemas.openxmlformats.org/drawingml/2006/main">
            <a:r>
              <a:t>Replace vocabulary; initialize</a:t>
            </a:r>
          </a:p>
          <a:p xmlns:a="http://schemas.openxmlformats.org/drawingml/2006/main">
            <a:r>
              <a:t>embeddings; continue pretraining.</a:t>
            </a:r>
          </a:p>
          <a:p xmlns:a="http://schemas.openxmlformats.org/drawingml/2006/main">
            <a:r>
              <a:t>Retain a no-replacement</a:t>
            </a:r>
          </a:p>
          <a:p xmlns:a="http://schemas.openxmlformats.org/drawingml/2006/main">
            <a:r>
              <a:t>adaptation control.</a:t>
            </a:r>
          </a:p>
          <a:p xmlns:a="http://schemas.openxmlformats.org/drawingml/2006/main">
            <a:r>
              <a:t>Align / transplant</a:t>
            </a:r>
          </a:p>
          <a:p xmlns:a="http://schemas.openxmlformats.org/drawingml/2006/main">
            <a:r>
              <a:t>embeddings</a:t>
            </a:r>
          </a:p>
          <a:p xmlns:a="http://schemas.openxmlformats.org/drawingml/2006/main">
            <a:r>
              <a:t>Use old-token decompositions or</a:t>
            </a:r>
          </a:p>
          <a:p xmlns:a="http://schemas.openxmlformats.org/drawingml/2006/main">
            <a:r>
              <a:t>learned alignment.</a:t>
            </a:r>
          </a:p>
          <a:p xmlns:a="http://schemas.openxmlformats.org/drawingml/2006/main">
            <a:r>
              <a:t>Equal adaptation cost against</a:t>
            </a:r>
          </a:p>
          <a:p xmlns:a="http://schemas.openxmlformats.org/drawingml/2006/main">
            <a:r>
              <a:t>simple initialization.</a:t>
            </a:r>
          </a:p>
          <a:p xmlns:a="http://schemas.openxmlformats.org/drawingml/2006/main">
            <a:r>
              <a:t>What must change</a:t>
            </a:r>
          </a:p>
          <a:p xmlns:a="http://schemas.openxmlformats.org/drawingml/2006/main">
            <a:r>
              <a:t>New IDs cannot reuse old embedding rows by ID. Replace input/output vocabulary</a:t>
            </a:r>
          </a:p>
          <a:p xmlns:a="http://schemas.openxmlformats.org/drawingml/2006/main">
            <a:r>
              <a:t>matrices; other Transformer weights can be retained.</a:t>
            </a:r>
          </a:p>
          <a:p xmlns:a="http://schemas.openxmlformats.org/drawingml/2006/main">
            <a:r>
              <a:t>Core diﬀiculty</a:t>
            </a:r>
          </a:p>
          <a:p xmlns:a="http://schemas.openxmlformats.org/drawingml/2006/main">
            <a:r>
              <a:t>Formula-only data are insuﬀicient for reasoning and solver generation. Additional</a:t>
            </a:r>
          </a:p>
          <a:p xmlns:a="http://schemas.openxmlformats.org/drawingml/2006/main">
            <a:r>
              <a:t>context/task data and mixed-text coverage are needed.</a:t>
            </a:r>
          </a:p>
          <a:p xmlns:a="http://schemas.openxmlformats.org/drawingml/2006/main">
            <a:r>
              <a:t>Li, Zhang and Zong (2025) ; Limisiewicz et al. (2026)</a:t>
            </a:r>
          </a:p>
          <a:p xmlns:a="http://schemas.openxmlformats.org/drawingml/2006/main">
            <a:r>
              <a:t>Department of Mathematics, Sun Yat-sen University Downstream Plan October 10, 2026 33/41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Compute, Vocabulary Cost and Fair Training Budgets</a:t>
            </a:r>
          </a:p>
          <a:p xmlns:a="http://schemas.openxmlformats.org/drawingml/2006/main">
            <a:r>
              <a:t>Vocabulary-dependent parameters</a:t>
            </a:r>
          </a:p>
          <a:p xmlns:a="http://schemas.openxmlformats.org/drawingml/2006/main">
            <a:r>
              <a:t>Tied embeddings: Pvocab = |V|d. At d = 2,048:</a:t>
            </a:r>
          </a:p>
          <a:p xmlns:a="http://schemas.openxmlformats.org/drawingml/2006/main">
            <a:r>
              <a:t>|V| = 2,048 ⇒ 4.2M; |V| ≈ 200,000 ⇒ 409.6M parameters. Untied input/output</a:t>
            </a:r>
          </a:p>
          <a:p xmlns:a="http://schemas.openxmlformats.org/drawingml/2006/main">
            <a:r>
              <a:t>matrices roughly double this component.</a:t>
            </a:r>
          </a:p>
          <a:p xmlns:a="http://schemas.openxmlformats.org/drawingml/2006/main">
            <a:r>
              <a:t>Budget issue Protocol requirement</a:t>
            </a:r>
          </a:p>
          <a:p xmlns:a="http://schemas.openxmlformats.org/drawingml/2006/main">
            <a:r>
              <a:t>Training amount Use the same raw examples/bytes; also report tokens and measured</a:t>
            </a:r>
          </a:p>
          <a:p xmlns:a="http://schemas.openxmlformats.org/drawingml/2006/main">
            <a:r>
              <a:t>FLOPs.</a:t>
            </a:r>
          </a:p>
          <a:p xmlns:a="http://schemas.openxmlformats.org/drawingml/2006/main">
            <a:r>
              <a:t>Context length Report raw-byte coverage and truncation, not only a common token</a:t>
            </a:r>
          </a:p>
          <a:p xmlns:a="http://schemas.openxmlformats.org/drawingml/2006/main">
            <a:r>
              <a:t>window.</a:t>
            </a:r>
          </a:p>
          <a:p xmlns:a="http://schemas.openxmlformats.org/drawingml/2006/main">
            <a:r>
              <a:t>Model size Report non-embedding and total parameters separately.</a:t>
            </a:r>
          </a:p>
          <a:p xmlns:a="http://schemas.openxmlformats.org/drawingml/2006/main">
            <a:r>
              <a:t>Compute scale Heuristic C ≈ 6ND: a 1B-parameter, 10B-token run is about 6 × 1019</a:t>
            </a:r>
          </a:p>
          <a:p xmlns:a="http://schemas.openxmlformats.org/drawingml/2006/main">
            <a:r>
              <a:t>FLOPs before additional overhead.</a:t>
            </a:r>
          </a:p>
          <a:p xmlns:a="http://schemas.openxmlformats.org/drawingml/2006/main">
            <a:r>
              <a:t>Replication Seven systems times three seeds is 21 runs per task configuration.</a:t>
            </a:r>
          </a:p>
          <a:p xmlns:a="http://schemas.openxmlformats.org/drawingml/2006/main">
            <a:r>
              <a:t>Staged resource plan</a:t>
            </a:r>
          </a:p>
          <a:p xmlns:a="http://schemas.openxmlformats.org/drawingml/2006/main">
            <a:r>
              <a:t>Start with equal-capacity small-model tests. Scale after a reproducible task gain; cost</a:t>
            </a:r>
          </a:p>
          <a:p xmlns:a="http://schemas.openxmlformats.org/drawingml/2006/main">
            <a:r>
              <a:t>full-vocabulary deployment references separately.</a:t>
            </a:r>
          </a:p>
          <a:p xmlns:a="http://schemas.openxmlformats.org/drawingml/2006/main">
            <a:r>
              <a:t>Limisiewicz et al. (2026)</a:t>
            </a:r>
          </a:p>
          <a:p xmlns:a="http://schemas.openxmlformats.org/drawingml/2006/main">
            <a:r>
              <a:t>Department of Mathematics, Sun Yat-sen University Downstream Plan October 10, 2026 34/41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Sequence and Decision Criteria</a:t>
            </a:r>
          </a:p>
          <a:p xmlns:a="http://schemas.openxmlformats.org/drawingml/2006/main">
            <a:r>
              <a:t>Phase Work Advance only if</a:t>
            </a:r>
          </a:p>
          <a:p xmlns:a="http://schemas.openxmlformats.org/drawingml/2006/main">
            <a:r>
              <a:t>A. Freeze task</a:t>
            </a:r>
          </a:p>
          <a:p xmlns:a="http://schemas.openxmlformats.org/drawingml/2006/main">
            <a:r>
              <a:t>protocol</a:t>
            </a:r>
          </a:p>
          <a:p xmlns:a="http://schemas.openxmlformats.org/drawingml/2006/main">
            <a:r>
              <a:t>Choose equation families, source splits,</a:t>
            </a:r>
          </a:p>
          <a:p xmlns:a="http://schemas.openxmlformats.org/drawingml/2006/main">
            <a:r>
              <a:t>validation rules and resource</a:t>
            </a:r>
          </a:p>
          <a:p xmlns:a="http://schemas.openxmlformats.org/drawingml/2006/main">
            <a:r>
              <a:t>accounting.</a:t>
            </a:r>
          </a:p>
          <a:p xmlns:a="http://schemas.openxmlformats.org/drawingml/2006/main">
            <a:r>
              <a:t>Data leakage and task evaluator</a:t>
            </a:r>
          </a:p>
          <a:p xmlns:a="http://schemas.openxmlformats.org/drawingml/2006/main">
            <a:r>
              <a:t>checks pass.</a:t>
            </a:r>
          </a:p>
          <a:p xmlns:a="http://schemas.openxmlformats.org/drawingml/2006/main">
            <a:r>
              <a:t>B.</a:t>
            </a:r>
          </a:p>
          <a:p xmlns:a="http://schemas.openxmlformats.org/drawingml/2006/main">
            <a:r>
              <a:t>Small-model</a:t>
            </a:r>
          </a:p>
          <a:p xmlns:a="http://schemas.openxmlformats.org/drawingml/2006/main">
            <a:r>
              <a:t>pilot</a:t>
            </a:r>
          </a:p>
          <a:p xmlns:a="http://schemas.openxmlformats.org/drawingml/2006/main">
            <a:r>
              <a:t>Two routes + five baselines; matched</a:t>
            </a:r>
          </a:p>
          <a:p xmlns:a="http://schemas.openxmlformats.org/drawingml/2006/main">
            <a:r>
              <a:t>raw training data, same task code,</a:t>
            </a:r>
          </a:p>
          <a:p xmlns:a="http://schemas.openxmlformats.org/drawingml/2006/main">
            <a:r>
              <a:t>three seeds.</a:t>
            </a:r>
          </a:p>
          <a:p xmlns:a="http://schemas.openxmlformats.org/drawingml/2006/main">
            <a:r>
              <a:t>Gain is stable under task accuracy and</a:t>
            </a:r>
          </a:p>
          <a:p xmlns:a="http://schemas.openxmlformats.org/drawingml/2006/main">
            <a:r>
              <a:t>compute accounting.</a:t>
            </a:r>
          </a:p>
          <a:p xmlns:a="http://schemas.openxmlformats.org/drawingml/2006/main">
            <a:r>
              <a:t>C.</a:t>
            </a:r>
          </a:p>
          <a:p xmlns:a="http://schemas.openxmlformats.org/drawingml/2006/main">
            <a:r>
              <a:t>Open-model</a:t>
            </a:r>
          </a:p>
          <a:p xmlns:a="http://schemas.openxmlformats.org/drawingml/2006/main">
            <a:r>
              <a:t>adaptation</a:t>
            </a:r>
          </a:p>
          <a:p xmlns:a="http://schemas.openxmlformats.org/drawingml/2006/main">
            <a:r>
              <a:t>Token/embedding initialization</a:t>
            </a:r>
          </a:p>
          <a:p xmlns:a="http://schemas.openxmlformats.org/drawingml/2006/main">
            <a:r>
              <a:t>ablations with equal adaptation</a:t>
            </a:r>
          </a:p>
          <a:p xmlns:a="http://schemas.openxmlformats.org/drawingml/2006/main">
            <a:r>
              <a:t>budgets.</a:t>
            </a:r>
          </a:p>
          <a:p xmlns:a="http://schemas.openxmlformats.org/drawingml/2006/main">
            <a:r>
              <a:t>Benefits exceed the no-replacement</a:t>
            </a:r>
          </a:p>
          <a:p xmlns:a="http://schemas.openxmlformats.org/drawingml/2006/main">
            <a:r>
              <a:t>control.</a:t>
            </a:r>
          </a:p>
          <a:p xmlns:a="http://schemas.openxmlformats.org/drawingml/2006/main">
            <a:r>
              <a:t>D.</a:t>
            </a:r>
          </a:p>
          <a:p xmlns:a="http://schemas.openxmlformats.org/drawingml/2006/main">
            <a:r>
              <a:t>Generalization</a:t>
            </a:r>
          </a:p>
          <a:p xmlns:a="http://schemas.openxmlformats.org/drawingml/2006/main">
            <a:r>
              <a:t>/ scale</a:t>
            </a:r>
          </a:p>
          <a:p xmlns:a="http://schemas.openxmlformats.org/drawingml/2006/main">
            <a:r>
              <a:t>New PDE families, long formulas,</a:t>
            </a:r>
          </a:p>
          <a:p xmlns:a="http://schemas.openxmlformats.org/drawingml/2006/main">
            <a:r>
              <a:t>noise and mixed text/formula prompts.</a:t>
            </a:r>
          </a:p>
          <a:p xmlns:a="http://schemas.openxmlformats.org/drawingml/2006/main">
            <a:r>
              <a:t>Gain persists across distributions</a:t>
            </a:r>
          </a:p>
          <a:p xmlns:a="http://schemas.openxmlformats.org/drawingml/2006/main">
            <a:r>
              <a:t>without unacceptable regressions.</a:t>
            </a:r>
          </a:p>
          <a:p xmlns:a="http://schemas.openxmlformats.org/drawingml/2006/main">
            <a:r>
              <a:t>Failure conditions to investigate</a:t>
            </a:r>
          </a:p>
          <a:p xmlns:a="http://schemas.openxmlformats.org/drawingml/2006/main">
            <a:r>
              <a:t>No task gain despite better compression; invalid expression generation; failure on unseen</a:t>
            </a:r>
          </a:p>
          <a:p xmlns:a="http://schemas.openxmlformats.org/drawingml/2006/main">
            <a:r>
              <a:t>domains; adaptation cost larger than inference savings; arithmetic or scope errors hidden</a:t>
            </a:r>
          </a:p>
          <a:p xmlns:a="http://schemas.openxmlformats.org/drawingml/2006/main">
            <a:r>
              <a:t>by string similarity.</a:t>
            </a:r>
          </a:p>
          <a:p xmlns:a="http://schemas.openxmlformats.org/drawingml/2006/main">
            <a:r>
              <a:t>Department of Mathematics, Sun Yat-sen University Downstream Plan October 10, 2026 35/41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2: Autonomous and Signal-Guided Tokenization</a:t>
            </a:r>
          </a:p>
          <a:p xmlns:a="http://schemas.openxmlformats.org/drawingml/2006/main">
            <a:r>
              <a:t>Research objective</a:t>
            </a:r>
          </a:p>
          <a:p xmlns:a="http://schemas.openxmlformats.org/drawingml/2006/main">
            <a:r>
              <a:t>Learn boundaries with little manual intervention and excellent quality, generalization and</a:t>
            </a:r>
          </a:p>
          <a:p xmlns:a="http://schemas.openxmlformats.org/drawingml/2006/main">
            <a:r>
              <a:t>full-interface speed.</a:t>
            </a:r>
          </a:p>
          <a:p xmlns:a="http://schemas.openxmlformats.org/drawingml/2006/main">
            <a:r>
              <a:t>Direction Learning signal and mechanism Question to resolve</a:t>
            </a:r>
          </a:p>
          <a:p xmlns:a="http://schemas.openxmlformats.org/drawingml/2006/main">
            <a:r>
              <a:t>Fast signal</a:t>
            </a:r>
          </a:p>
          <a:p xmlns:a="http://schemas.openxmlformats.org/drawingml/2006/main">
            <a:r>
              <a:t>guidance</a:t>
            </a:r>
          </a:p>
          <a:p xmlns:a="http://schemas.openxmlformats.org/drawingml/2006/main">
            <a:r>
              <a:t>Predictive uncertainty or learned</a:t>
            </a:r>
          </a:p>
          <a:p xmlns:a="http://schemas.openxmlformats.org/drawingml/2006/main">
            <a:r>
              <a:t>structure; distill a fast encoder.</a:t>
            </a:r>
          </a:p>
          <a:p xmlns:a="http://schemas.openxmlformats.org/drawingml/2006/main">
            <a:r>
              <a:t>Which signal improves quality after</a:t>
            </a:r>
          </a:p>
          <a:p xmlns:a="http://schemas.openxmlformats.org/drawingml/2006/main">
            <a:r>
              <a:t>runtime cost?</a:t>
            </a:r>
          </a:p>
          <a:p xmlns:a="http://schemas.openxmlformats.org/drawingml/2006/main">
            <a:r>
              <a:t>Autonomous</a:t>
            </a:r>
          </a:p>
          <a:p xmlns:a="http://schemas.openxmlformats.org/drawingml/2006/main">
            <a:r>
              <a:t>boundaries</a:t>
            </a:r>
          </a:p>
          <a:p xmlns:a="http://schemas.openxmlformats.org/drawingml/2006/main">
            <a:r>
              <a:t>Causal prediction feedback; RL</a:t>
            </a:r>
          </a:p>
          <a:p xmlns:a="http://schemas.openxmlformats.org/drawingml/2006/main">
            <a:r>
              <a:t>versus equal-budget search.</a:t>
            </a:r>
          </a:p>
          <a:p xmlns:a="http://schemas.openxmlformats.org/drawingml/2006/main">
            <a:r>
              <a:t>Do gains survive deployment with</a:t>
            </a:r>
          </a:p>
          <a:p xmlns:a="http://schemas.openxmlformats.org/drawingml/2006/main">
            <a:r>
              <a:t>fewer rules?</a:t>
            </a:r>
          </a:p>
          <a:p xmlns:a="http://schemas.openxmlformats.org/drawingml/2006/main">
            <a:r>
              <a:t>Mathematical</a:t>
            </a:r>
          </a:p>
          <a:p xmlns:a="http://schemas.openxmlformats.org/drawingml/2006/main">
            <a:r>
              <a:t>transitions</a:t>
            </a:r>
          </a:p>
          <a:p xmlns:a="http://schemas.openxmlformats.org/drawingml/2006/main">
            <a:r>
              <a:t>Predict verified operations; learn</a:t>
            </a:r>
          </a:p>
          <a:p xmlns:a="http://schemas.openxmlformats.org/drawingml/2006/main">
            <a:r>
              <a:t>units without boundary labels.</a:t>
            </a:r>
          </a:p>
          <a:p xmlns:a="http://schemas.openxmlformats.org/drawingml/2006/main">
            <a:r>
              <a:t>Do units transfer to unseen</a:t>
            </a:r>
          </a:p>
          <a:p xmlns:a="http://schemas.openxmlformats.org/drawingml/2006/main">
            <a:r>
              <a:t>operations and compositions?</a:t>
            </a:r>
          </a:p>
          <a:p xmlns:a="http://schemas.openxmlformats.org/drawingml/2006/main">
            <a:r>
              <a:t>Current decision</a:t>
            </a:r>
          </a:p>
          <a:p xmlns:a="http://schemas.openxmlformats.org/drawingml/2006/main">
            <a:r>
              <a:t>Stage 2 is paused as future research. No system has passed both quality and speed</a:t>
            </a:r>
          </a:p>
          <a:p xmlns:a="http://schemas.openxmlformats.org/drawingml/2006/main">
            <a:r>
              <a:t>requirements; mathematical understanding remains unproven.</a:t>
            </a:r>
          </a:p>
          <a:p xmlns:a="http://schemas.openxmlformats.org/drawingml/2006/main">
            <a:r>
              <a:t>Dauncey and Wattenhofer (2026) ; Hwang, Wang and Gu (2025) ; Lample and Charton (2020)</a:t>
            </a:r>
          </a:p>
          <a:p xmlns:a="http://schemas.openxmlformats.org/drawingml/2006/main">
            <a:r>
              <a:t>Department of Mathematics, Sun Yat-sen University Future Research October 10, 2026 36/41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Priorities and Acceptance Criteria</a:t>
            </a:r>
          </a:p>
          <a:p xmlns:a="http://schemas.openxmlformats.org/drawingml/2006/main">
            <a:r>
              <a:t>Priority Planned experiment Required evidence</a:t>
            </a:r>
          </a:p>
          <a:p xmlns:a="http://schemas.openxmlformats.org/drawingml/2006/main">
            <a:r>
              <a:t>Now: Stage 1</a:t>
            </a:r>
          </a:p>
          <a:p xmlns:a="http://schemas.openxmlformats.org/drawingml/2006/main">
            <a:r>
              <a:t>tasks</a:t>
            </a:r>
          </a:p>
          <a:p xmlns:a="http://schemas.openxmlformats.org/drawingml/2006/main">
            <a:r>
              <a:t>Two frozen routes and five baselines;</a:t>
            </a:r>
          </a:p>
          <a:p xmlns:a="http://schemas.openxmlformats.org/drawingml/2006/main">
            <a:r>
              <a:t>common task data and budgets.</a:t>
            </a:r>
          </a:p>
          <a:p xmlns:a="http://schemas.openxmlformats.org/drawingml/2006/main">
            <a:r>
              <a:t>Verified symbolic/PDE results; fair</a:t>
            </a:r>
          </a:p>
          <a:p xmlns:a="http://schemas.openxmlformats.org/drawingml/2006/main">
            <a:r>
              <a:t>compute accounting.</a:t>
            </a:r>
          </a:p>
          <a:p xmlns:a="http://schemas.openxmlformats.org/drawingml/2006/main">
            <a:r>
              <a:t>Later: learned</a:t>
            </a:r>
          </a:p>
          <a:p xmlns:a="http://schemas.openxmlformats.org/drawingml/2006/main">
            <a:r>
              <a:t>signals</a:t>
            </a:r>
          </a:p>
          <a:p xmlns:a="http://schemas.openxmlformats.org/drawingml/2006/main">
            <a:r>
              <a:t>Signal ablations, fast distillation,</a:t>
            </a:r>
          </a:p>
          <a:p xmlns:a="http://schemas.openxmlformats.org/drawingml/2006/main">
            <a:r>
              <a:t>zero/shuffled controls.</a:t>
            </a:r>
          </a:p>
          <a:p xmlns:a="http://schemas.openxmlformats.org/drawingml/2006/main">
            <a:r>
              <a:t>Signal-specific quality gains and full</a:t>
            </a:r>
          </a:p>
          <a:p xmlns:a="http://schemas.openxmlformats.org/drawingml/2006/main">
            <a:r>
              <a:t>encode speed.</a:t>
            </a:r>
          </a:p>
          <a:p xmlns:a="http://schemas.openxmlformats.org/drawingml/2006/main">
            <a:r>
              <a:t>Later: autonomous</a:t>
            </a:r>
          </a:p>
          <a:p xmlns:a="http://schemas.openxmlformats.org/drawingml/2006/main">
            <a:r>
              <a:t>learning</a:t>
            </a:r>
          </a:p>
          <a:p xmlns:a="http://schemas.openxmlformats.org/drawingml/2006/main">
            <a:r>
              <a:t>Longer causal context, joint training,</a:t>
            </a:r>
          </a:p>
          <a:p xmlns:a="http://schemas.openxmlformats.org/drawingml/2006/main">
            <a:r>
              <a:t>consistent deployment.</a:t>
            </a:r>
          </a:p>
          <a:p xmlns:a="http://schemas.openxmlformats.org/drawingml/2006/main">
            <a:r>
              <a:t>Stable gains over simple controls;</a:t>
            </a:r>
          </a:p>
          <a:p xmlns:a="http://schemas.openxmlformats.org/drawingml/2006/main">
            <a:r>
              <a:t>fewer manual rules.</a:t>
            </a:r>
          </a:p>
          <a:p xmlns:a="http://schemas.openxmlformats.org/drawingml/2006/main">
            <a:r>
              <a:t>Later:</a:t>
            </a:r>
          </a:p>
          <a:p xmlns:a="http://schemas.openxmlformats.org/drawingml/2006/main">
            <a:r>
              <a:t>mathematical laws</a:t>
            </a:r>
          </a:p>
          <a:p xmlns:a="http://schemas.openxmlformats.org/drawingml/2006/main">
            <a:r>
              <a:t>Verified operations; source and</a:t>
            </a:r>
          </a:p>
          <a:p xmlns:a="http://schemas.openxmlformats.org/drawingml/2006/main">
            <a:r>
              <a:t>composition holdouts.</a:t>
            </a:r>
          </a:p>
          <a:p xmlns:a="http://schemas.openxmlformats.org/drawingml/2006/main">
            <a:r>
              <a:t>Correctness beyond the training</a:t>
            </a:r>
          </a:p>
          <a:p xmlns:a="http://schemas.openxmlformats.org/drawingml/2006/main">
            <a:r>
              <a:t>environment.</a:t>
            </a:r>
          </a:p>
          <a:p xmlns:a="http://schemas.openxmlformats.org/drawingml/2006/main">
            <a:r>
              <a:t>Two conditions must hold together</a:t>
            </a:r>
          </a:p>
          <a:p xmlns:a="http://schemas.openxmlformats.org/drawingml/2006/main">
            <a:r>
              <a:t>Substantially reduced human intervention and excellent multi-metric performance.</a:t>
            </a:r>
          </a:p>
          <a:p xmlns:a="http://schemas.openxmlformats.org/drawingml/2006/main">
            <a:r>
              <a:t>Prediction proxies alone are insuﬀicient; disclose remaining priors and regressions.</a:t>
            </a:r>
          </a:p>
          <a:p xmlns:a="http://schemas.openxmlformats.org/drawingml/2006/main">
            <a:r>
              <a:t>Research handoff</a:t>
            </a:r>
          </a:p>
          <a:p xmlns:a="http://schemas.openxmlformats.org/drawingml/2006/main">
            <a:r>
              <a:t>Preserve Stage 2 experiments for later work. Proceed with the two Stage 1 routes and</a:t>
            </a:r>
          </a:p>
          <a:p xmlns:a="http://schemas.openxmlformats.org/drawingml/2006/main">
            <a:r>
              <a:t>five baseline tokenizers.</a:t>
            </a:r>
          </a:p>
          <a:p xmlns:a="http://schemas.openxmlformats.org/drawingml/2006/main">
            <a:r>
              <a:t>Department of Mathematics, Sun Yat-sen University Future Research October 10, 2026 37/41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We Can Claim, and What We Must Test Next</a:t>
            </a:r>
          </a:p>
          <a:p xmlns:a="http://schemas.openxmlformats.org/drawingml/2006/main">
            <a:r>
              <a:t>Supported by current evidence</a:t>
            </a:r>
          </a:p>
          <a:p xmlns:a="http://schemas.openxmlformats.org/drawingml/2006/main">
            <a:r>
              <a:t>A classified, source-traceable formula catalog and reproducible frozen experiments are</a:t>
            </a:r>
          </a:p>
          <a:p xmlns:a="http://schemas.openxmlformats.org/drawingml/2006/main">
            <a:r>
              <a:t>available. Boundary AST improves compression over a same-dictionary BPE control</a:t>
            </a:r>
          </a:p>
          <a:p xmlns:a="http://schemas.openxmlformats.org/drawingml/2006/main">
            <a:r>
              <a:t>while offering a useful speed/structure trade-off.</a:t>
            </a:r>
          </a:p>
          <a:p xmlns:a="http://schemas.openxmlformats.org/drawingml/2006/main">
            <a:r>
              <a:t>Supported statement Boundary</a:t>
            </a:r>
          </a:p>
          <a:p xmlns:a="http://schemas.openxmlformats.org/drawingml/2006/main">
            <a:r>
              <a:t>Two routes are deployable Standalone tokenizers only; no downstream model training has</a:t>
            </a:r>
          </a:p>
          <a:p xmlns:a="http://schemas.openxmlformats.org/drawingml/2006/main">
            <a:r>
              <a:t>been completed.</a:t>
            </a:r>
          </a:p>
          <a:p xmlns:a="http://schemas.openxmlformats.org/drawingml/2006/main">
            <a:r>
              <a:t>Three current audits</a:t>
            </a:r>
          </a:p>
          <a:p xmlns:a="http://schemas.openxmlformats.org/drawingml/2006/main">
            <a:r>
              <a:t>passed</a:t>
            </a:r>
          </a:p>
          <a:p xmlns:a="http://schemas.openxmlformats.org/drawingml/2006/main">
            <a:r>
              <a:t>Automated data, implementation and experiment checks; not</a:t>
            </a:r>
          </a:p>
          <a:p xmlns:a="http://schemas.openxmlformats.org/drawingml/2006/main">
            <a:r>
              <a:t>external certification.</a:t>
            </a:r>
          </a:p>
          <a:p xmlns:a="http://schemas.openxmlformats.org/drawingml/2006/main">
            <a:r>
              <a:t>Some core metrics improve Not all structure metrics or adjusted intervals favor one method.</a:t>
            </a:r>
          </a:p>
          <a:p xmlns:a="http://schemas.openxmlformats.org/drawingml/2006/main">
            <a:r>
              <a:t>Specialization is promising Sparse PDE coverage, uneven domains and mixed-text transfer</a:t>
            </a:r>
          </a:p>
          <a:p xmlns:a="http://schemas.openxmlformats.org/drawingml/2006/main">
            <a:r>
              <a:t>remain open.</a:t>
            </a:r>
          </a:p>
          <a:p xmlns:a="http://schemas.openxmlformats.org/drawingml/2006/main">
            <a:r>
              <a:t>Next scientific question</a:t>
            </a:r>
          </a:p>
          <a:p xmlns:a="http://schemas.openxmlformats.org/drawingml/2006/main">
            <a:r>
              <a:t>Do the observed intrinsic improvements survive embedding adaptation and produce</a:t>
            </a:r>
          </a:p>
          <a:p xmlns:a="http://schemas.openxmlformats.org/drawingml/2006/main">
            <a:r>
              <a:t>better symbolic/PDE task performance at a defensible total training cost?</a:t>
            </a:r>
          </a:p>
          <a:p xmlns:a="http://schemas.openxmlformats.org/drawingml/2006/main">
            <a:r>
              <a:t>Department of Mathematics, Sun Yat-sen University Conclusions October 10, 2026 38/41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(1/3)</a:t>
            </a:r>
          </a:p>
          <a:p xmlns:a="http://schemas.openxmlformats.org/drawingml/2006/main">
            <a:r>
              <a:t>1 Sennrich, Haddow and Birch (2016). Neural Machine Translation of Rare Words with</a:t>
            </a:r>
          </a:p>
          <a:p xmlns:a="http://schemas.openxmlformats.org/drawingml/2006/main">
            <a:r>
              <a:t>Subword Units. ACL.</a:t>
            </a:r>
          </a:p>
          <a:p xmlns:a="http://schemas.openxmlformats.org/drawingml/2006/main">
            <a:r>
              <a:t>2 Kudo (2018). Subword Regularization: Improving Neural Network Translation Models</a:t>
            </a:r>
          </a:p>
          <a:p xmlns:a="http://schemas.openxmlformats.org/drawingml/2006/main">
            <a:r>
              <a:t>with Multiple Subword Candidates . ACL.</a:t>
            </a:r>
          </a:p>
          <a:p xmlns:a="http://schemas.openxmlformats.org/drawingml/2006/main">
            <a:r>
              <a:t>3 Kudo and Richardson (2018). SentencePiece: A Simple and Language Independent</a:t>
            </a:r>
          </a:p>
          <a:p xmlns:a="http://schemas.openxmlformats.org/drawingml/2006/main">
            <a:r>
              <a:t>Subword Tokenizer and Detokenizer for Neural Text Processing . EMNLP Demonstrations.</a:t>
            </a:r>
          </a:p>
          <a:p xmlns:a="http://schemas.openxmlformats.org/drawingml/2006/main">
            <a:r>
              <a:t>4 Qwen Team (2024). Qwen2.5 Technical Report . Technical report.</a:t>
            </a:r>
          </a:p>
          <a:p xmlns:a="http://schemas.openxmlformats.org/drawingml/2006/main">
            <a:r>
              <a:t>5 Dubey et al. (2024). The Llama 3 Herd of Models . Technical report.</a:t>
            </a:r>
          </a:p>
          <a:p xmlns:a="http://schemas.openxmlformats.org/drawingml/2006/main">
            <a:r>
              <a:t>6 OpenAI (2026). tiktoken: BPE Tokenizer Library . Oﬀicial software; accessed 2026-10-13.</a:t>
            </a:r>
          </a:p>
          <a:p xmlns:a="http://schemas.openxmlformats.org/drawingml/2006/main">
            <a:r>
              <a:t>7 Peng et al. (2021). MathBERT: A Pre-Trained Model for Mathematical Formula</a:t>
            </a:r>
          </a:p>
          <a:p xmlns:a="http://schemas.openxmlformats.org/drawingml/2006/main">
            <a:r>
              <a:t>Understanding. Preprint.</a:t>
            </a:r>
          </a:p>
          <a:p xmlns:a="http://schemas.openxmlformats.org/drawingml/2006/main">
            <a:r>
              <a:t>8 Scarlatos and Lan (2023). Tree-Based Representation and Generation of Natural and</a:t>
            </a:r>
          </a:p>
          <a:p xmlns:a="http://schemas.openxmlformats.org/drawingml/2006/main">
            <a:r>
              <a:t>Mathematical Language . ACL.</a:t>
            </a:r>
          </a:p>
          <a:p xmlns:a="http://schemas.openxmlformats.org/drawingml/2006/main">
            <a:r>
              <a:t>9 Jung et al. (2024). TeXBLEU: Automatic Metric for Evaluate LaTeX Format . 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39/41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(2/3)</a:t>
            </a:r>
          </a:p>
          <a:p xmlns:a="http://schemas.openxmlformats.org/drawingml/2006/main">
            <a:r>
              <a:t>1 Bai et al. (2026). Complex Mathematical Expression Recognition: Benchmark,</a:t>
            </a:r>
          </a:p>
          <a:p xmlns:a="http://schemas.openxmlformats.org/drawingml/2006/main">
            <a:r>
              <a:t>Large-Scale Dataset and Strong Baseline . AAAI.</a:t>
            </a:r>
          </a:p>
          <a:p xmlns:a="http://schemas.openxmlformats.org/drawingml/2006/main">
            <a:r>
              <a:t>2 Taylor et al. (2022). Galactica: A Large Language Model for Science . Preprint.</a:t>
            </a:r>
          </a:p>
          <a:p xmlns:a="http://schemas.openxmlformats.org/drawingml/2006/main">
            <a:r>
              <a:t>3 Golkar et al. (2023). xVal: A Continuous Numerical Tokenization for Scientific Language</a:t>
            </a:r>
          </a:p>
          <a:p xmlns:a="http://schemas.openxmlformats.org/drawingml/2006/main">
            <a:r>
              <a:t>Models. Preprint.</a:t>
            </a:r>
          </a:p>
          <a:p xmlns:a="http://schemas.openxmlformats.org/drawingml/2006/main">
            <a:r>
              <a:t>4 Schmidt et al. (2024). Tokenization Is More Than Compression . EMNLP.</a:t>
            </a:r>
          </a:p>
          <a:p xmlns:a="http://schemas.openxmlformats.org/drawingml/2006/main">
            <a:r>
              <a:t>5 Uzan et al. (2024). Greed Is All You Need: An Evaluation of Tokenizer Inference</a:t>
            </a:r>
          </a:p>
          <a:p xmlns:a="http://schemas.openxmlformats.org/drawingml/2006/main">
            <a:r>
              <a:t>Methods. ACL.</a:t>
            </a:r>
          </a:p>
          <a:p xmlns:a="http://schemas.openxmlformats.org/drawingml/2006/main">
            <a:r>
              <a:t>6 Meister (2026). TokEval: A Tokenizer Evaluation Suite . COLM.</a:t>
            </a:r>
          </a:p>
          <a:p xmlns:a="http://schemas.openxmlformats.org/drawingml/2006/main">
            <a:r>
              <a:t>7 Dauncey and Wattenhofer (2026). You Can Learn Tokenization End-to-End with</a:t>
            </a:r>
          </a:p>
          <a:p xmlns:a="http://schemas.openxmlformats.org/drawingml/2006/main">
            <a:r>
              <a:t>Reinforcement Learning. ICML.</a:t>
            </a:r>
          </a:p>
          <a:p xmlns:a="http://schemas.openxmlformats.org/drawingml/2006/main">
            <a:r>
              <a:t>8 Hwang, Wang and Gu (2025). Dynamic Chunking for End-to-End Hierarchical Sequence</a:t>
            </a:r>
          </a:p>
          <a:p xmlns:a="http://schemas.openxmlformats.org/drawingml/2006/main">
            <a:r>
              <a:t>Modeling. Preprint.</a:t>
            </a:r>
          </a:p>
          <a:p xmlns:a="http://schemas.openxmlformats.org/drawingml/2006/main">
            <a:r>
              <a:t>9 Liyanage and Yvon (2026). AdaptBPE: From General Purpose to Specialized Tokenizers .</a:t>
            </a:r>
          </a:p>
          <a:p xmlns:a="http://schemas.openxmlformats.org/drawingml/2006/main">
            <a:r>
              <a:t>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40/41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(3/3)</a:t>
            </a:r>
          </a:p>
          <a:p xmlns:a="http://schemas.openxmlformats.org/drawingml/2006/main">
            <a:r>
              <a:t>1 Li, Zhang and Zong (2025). TokAlign: Eﬀicient Vocabulary Adaptation via Token</a:t>
            </a:r>
          </a:p>
          <a:p xmlns:a="http://schemas.openxmlformats.org/drawingml/2006/main">
            <a:r>
              <a:t>Alignment. ACL.</a:t>
            </a:r>
          </a:p>
          <a:p xmlns:a="http://schemas.openxmlformats.org/drawingml/2006/main">
            <a:r>
              <a:t>2 Limisiewicz et al. (2026). Compute Optimal Tokenization . Preprint.</a:t>
            </a:r>
          </a:p>
          <a:p xmlns:a="http://schemas.openxmlformats.org/drawingml/2006/main">
            <a:r>
              <a:t>3 Xu et al. (2025). Generative Discovery of Partial Differential Equations by Learning from</a:t>
            </a:r>
          </a:p>
          <a:p xmlns:a="http://schemas.openxmlformats.org/drawingml/2006/main">
            <a:r>
              <a:t>Math Handbooks . Nature Communications.</a:t>
            </a:r>
          </a:p>
          <a:p xmlns:a="http://schemas.openxmlformats.org/drawingml/2006/main">
            <a:r>
              <a:t>4 Takamoto et al. (2022). PDEBench: An Extensive Benchmark for Scientific Machine</a:t>
            </a:r>
          </a:p>
          <a:p xmlns:a="http://schemas.openxmlformats.org/drawingml/2006/main">
            <a:r>
              <a:t>Learning. NeurIPS Datasets and Benchmarks.</a:t>
            </a:r>
          </a:p>
          <a:p xmlns:a="http://schemas.openxmlformats.org/drawingml/2006/main">
            <a:r>
              <a:t>5 Lample and Charton (2020). Deep Learning for Symbolic Mathematics . ICLR.</a:t>
            </a:r>
          </a:p>
          <a:p xmlns:a="http://schemas.openxmlformats.org/drawingml/2006/main">
            <a:r>
              <a:t>6 Hendrycks et al. (2021). Measuring Mathematical Problem Solving With the MATH</a:t>
            </a:r>
          </a:p>
          <a:p xmlns:a="http://schemas.openxmlformats.org/drawingml/2006/main">
            <a:r>
              <a:t>Dataset. NeurIPS Datasets and Benchmarks.</a:t>
            </a:r>
          </a:p>
          <a:p xmlns:a="http://schemas.openxmlformats.org/drawingml/2006/main">
            <a:r>
              <a:t>7 Gebru et al. (2021). Datasheets for Datasets . Communications of the ACM.</a:t>
            </a:r>
          </a:p>
          <a:p xmlns:a="http://schemas.openxmlformats.org/drawingml/2006/main">
            <a:r>
              <a:t>8 Jung et al. (2024). MathBridge: A Large Corpus Dataset for Translating Spoken</a:t>
            </a:r>
          </a:p>
          <a:p xmlns:a="http://schemas.openxmlformats.org/drawingml/2006/main">
            <a:r>
              <a:t>Mathematical Expressions into LaTeX Formulas for Improved Readability . 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41/41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3ecb30ea84e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8667005b14d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e36ebec794d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ef38c865c4f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fcf57f84449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45c41f81c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1A1B6E-7E9D-422D-AC5C-9639DBF878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8E907B-64D5-4D3B-96A4-B91CBC5973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7BED50-C68D-4048-9650-C3DAA00AB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7CAF7-3A21-4AF7-8269-65A6EC4801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E1BB8-1BC4-49A7-8534-38C7FA012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0C6C62-D9E2-483D-ADFD-B5555217F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A68FB6-A4F8-4E2F-9CA9-5AF7BA139C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09E576-2D1A-4E48-A23E-DC9AA3B44F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D65B2E-85B9-47B7-ABF4-6A85A9F05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0B66BD-7565-473C-8394-C9330D856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f1243396f418f" /><Relationship Type="http://schemas.openxmlformats.org/officeDocument/2006/relationships/slideLayout" Target="/ppt/slideLayouts/slideLayout1.xml" Id="Ref3a75a4da104634" /><Relationship Type="http://schemas.openxmlformats.org/officeDocument/2006/relationships/slideLayout" Target="/ppt/slideLayouts/slideLayout2.xml" Id="R57b2dd31d8c54e05" /><Relationship Type="http://schemas.openxmlformats.org/officeDocument/2006/relationships/slideLayout" Target="/ppt/slideLayouts/slideLayout3.xml" Id="R48ddcf9c07264bae" /><Relationship Type="http://schemas.openxmlformats.org/officeDocument/2006/relationships/slideLayout" Target="/ppt/slideLayouts/slideLayout4.xml" Id="R0a4b2175537e48af" /><Relationship Type="http://schemas.openxmlformats.org/officeDocument/2006/relationships/slideLayout" Target="/ppt/slideLayouts/slideLayout5.xml" Id="R753fec620d7847a2" /><Relationship Type="http://schemas.openxmlformats.org/officeDocument/2006/relationships/slideLayout" Target="/ppt/slideLayouts/slideLayout6.xml" Id="R99b8b2978589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3a75a4da104634"/>
    <p:sldLayoutId xmlns:r="http://schemas.openxmlformats.org/officeDocument/2006/relationships" id="2147483650" r:id="R57b2dd31d8c54e05"/>
    <p:sldLayoutId xmlns:r="http://schemas.openxmlformats.org/officeDocument/2006/relationships" id="2147483651" r:id="R48ddcf9c07264bae"/>
    <p:sldLayoutId xmlns:r="http://schemas.openxmlformats.org/officeDocument/2006/relationships" id="2147483652" r:id="R0a4b2175537e48af"/>
    <p:sldLayoutId xmlns:r="http://schemas.openxmlformats.org/officeDocument/2006/relationships" id="2147483653" r:id="R753fec620d7847a2"/>
    <p:sldLayoutId xmlns:r="http://schemas.openxmlformats.org/officeDocument/2006/relationships" id="2147483654" r:id="R99b8b2978589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b824ddfd544d0" /><Relationship Type="http://schemas.openxmlformats.org/officeDocument/2006/relationships/image" Target="/ppt/media/image.png" Id="R904e448de06444f7" /><Relationship Type="http://schemas.openxmlformats.org/officeDocument/2006/relationships/notesSlide" Target="/ppt/notesSlides/notesSlide1.xml" Id="R9aa2fda84b62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873feef4a4463" /><Relationship Type="http://schemas.openxmlformats.org/officeDocument/2006/relationships/image" Target="/ppt/media/image2.png" Id="Rd1d19e8a42934acb" /><Relationship Type="http://schemas.openxmlformats.org/officeDocument/2006/relationships/notesSlide" Target="/ppt/notesSlides/notesSlide2.xml" Id="Ra4b480ac9975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cf8d6379841f3" /><Relationship Type="http://schemas.openxmlformats.org/officeDocument/2006/relationships/image" Target="/ppt/media/image3.png" Id="Rc53dc073ed54471b" /><Relationship Type="http://schemas.openxmlformats.org/officeDocument/2006/relationships/notesSlide" Target="/ppt/notesSlides/notesSlide3.xml" Id="R9f792f57c07d4a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b9ef994c641fd" /><Relationship Type="http://schemas.openxmlformats.org/officeDocument/2006/relationships/image" Target="/ppt/media/image4.png" Id="Rcccfa8e87d9a4696" /><Relationship Type="http://schemas.openxmlformats.org/officeDocument/2006/relationships/notesSlide" Target="/ppt/notesSlides/notesSlide4.xml" Id="R8780fcd9317e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9ff8bf5134b81" /><Relationship Type="http://schemas.openxmlformats.org/officeDocument/2006/relationships/image" Target="/ppt/media/image5.png" Id="R3cf219173e144797" /><Relationship Type="http://schemas.openxmlformats.org/officeDocument/2006/relationships/notesSlide" Target="/ppt/notesSlides/notesSlide5.xml" Id="Rb7e8a6c92b76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991fb71f344c3" /><Relationship Type="http://schemas.openxmlformats.org/officeDocument/2006/relationships/image" Target="/ppt/media/image6.png" Id="R81dd5512496e4b2a" /><Relationship Type="http://schemas.openxmlformats.org/officeDocument/2006/relationships/notesSlide" Target="/ppt/notesSlides/notesSlide6.xml" Id="R74e02d6650bd46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5df79467b47aa" /><Relationship Type="http://schemas.openxmlformats.org/officeDocument/2006/relationships/image" Target="/ppt/media/image7.png" Id="R593f97079b954ecb" /><Relationship Type="http://schemas.openxmlformats.org/officeDocument/2006/relationships/notesSlide" Target="/ppt/notesSlides/notesSlide7.xml" Id="Raf81cfb5791e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4ac97ecf843a8" /><Relationship Type="http://schemas.openxmlformats.org/officeDocument/2006/relationships/image" Target="/ppt/media/image8.png" Id="R8747a438ec914e24" /><Relationship Type="http://schemas.openxmlformats.org/officeDocument/2006/relationships/notesSlide" Target="/ppt/notesSlides/notesSlide8.xml" Id="Rf52fa0ccfbef40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365557af24414" /><Relationship Type="http://schemas.openxmlformats.org/officeDocument/2006/relationships/image" Target="/ppt/media/image9.png" Id="R0395f322319b48e5" /><Relationship Type="http://schemas.openxmlformats.org/officeDocument/2006/relationships/notesSlide" Target="/ppt/notesSlides/notesSlide9.xml" Id="R81e59f8f1e4d46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982658d1a4341" /><Relationship Type="http://schemas.openxmlformats.org/officeDocument/2006/relationships/image" Target="/ppt/media/image10.png" Id="Rf1f532b16fe64ca2" /><Relationship Type="http://schemas.openxmlformats.org/officeDocument/2006/relationships/notesSlide" Target="/ppt/notesSlides/notesSlide10.xml" Id="Rc6c445331d1445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c75e07fe24a2a" /><Relationship Type="http://schemas.openxmlformats.org/officeDocument/2006/relationships/image" Target="/ppt/media/image11.png" Id="Rcfcb86969149439c" /><Relationship Type="http://schemas.openxmlformats.org/officeDocument/2006/relationships/notesSlide" Target="/ppt/notesSlides/notesSlide11.xml" Id="R088e3878a23540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7cf478c0240df" /><Relationship Type="http://schemas.openxmlformats.org/officeDocument/2006/relationships/image" Target="/ppt/media/image12.png" Id="Rab2f413c21ec461d" /><Relationship Type="http://schemas.openxmlformats.org/officeDocument/2006/relationships/notesSlide" Target="/ppt/notesSlides/notesSlide12.xml" Id="Rf78bda7a3f8148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45c6a871c4ec5" /><Relationship Type="http://schemas.openxmlformats.org/officeDocument/2006/relationships/image" Target="/ppt/media/image13.png" Id="Rc8561a40ca3d42dd" /><Relationship Type="http://schemas.openxmlformats.org/officeDocument/2006/relationships/notesSlide" Target="/ppt/notesSlides/notesSlide13.xml" Id="R1a3baf838b2a4c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e3eb338934eb8" /><Relationship Type="http://schemas.openxmlformats.org/officeDocument/2006/relationships/image" Target="/ppt/media/image14.png" Id="Rafdbce2174dc4b53" /><Relationship Type="http://schemas.openxmlformats.org/officeDocument/2006/relationships/notesSlide" Target="/ppt/notesSlides/notesSlide14.xml" Id="Raabfc2fe774f4e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bb8316e564dbc" /><Relationship Type="http://schemas.openxmlformats.org/officeDocument/2006/relationships/image" Target="/ppt/media/image15.png" Id="R81a595e3cb40476b" /><Relationship Type="http://schemas.openxmlformats.org/officeDocument/2006/relationships/notesSlide" Target="/ppt/notesSlides/notesSlide15.xml" Id="R061e1c6497874d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744c7e5884054" /><Relationship Type="http://schemas.openxmlformats.org/officeDocument/2006/relationships/image" Target="/ppt/media/image16.png" Id="R2455892a1931442d" /><Relationship Type="http://schemas.openxmlformats.org/officeDocument/2006/relationships/notesSlide" Target="/ppt/notesSlides/notesSlide16.xml" Id="R9493e5149fb64a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2a1b2776b4d7b" /><Relationship Type="http://schemas.openxmlformats.org/officeDocument/2006/relationships/image" Target="/ppt/media/image17.png" Id="R0e0f9454ccd74086" /><Relationship Type="http://schemas.openxmlformats.org/officeDocument/2006/relationships/notesSlide" Target="/ppt/notesSlides/notesSlide17.xml" Id="Re0b0405ede4741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4f10f878f434c" /><Relationship Type="http://schemas.openxmlformats.org/officeDocument/2006/relationships/image" Target="/ppt/media/image18.png" Id="R5ae0f106ba4e4fc8" /><Relationship Type="http://schemas.openxmlformats.org/officeDocument/2006/relationships/notesSlide" Target="/ppt/notesSlides/notesSlide18.xml" Id="R8ee9b49463ee41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994c2e1054f9b" /><Relationship Type="http://schemas.openxmlformats.org/officeDocument/2006/relationships/image" Target="/ppt/media/image19.png" Id="R4c3c490ea0924258" /><Relationship Type="http://schemas.openxmlformats.org/officeDocument/2006/relationships/notesSlide" Target="/ppt/notesSlides/notesSlide19.xml" Id="Rb293ee267a594f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e6eec710647e8" /><Relationship Type="http://schemas.openxmlformats.org/officeDocument/2006/relationships/image" Target="/ppt/media/image20.png" Id="R0cee56fa688443cf" /><Relationship Type="http://schemas.openxmlformats.org/officeDocument/2006/relationships/notesSlide" Target="/ppt/notesSlides/notesSlide20.xml" Id="R9fbc8f2707e248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29690faf64c98" /><Relationship Type="http://schemas.openxmlformats.org/officeDocument/2006/relationships/image" Target="/ppt/media/image21.png" Id="Rd7b7c94818384571" /><Relationship Type="http://schemas.openxmlformats.org/officeDocument/2006/relationships/notesSlide" Target="/ppt/notesSlides/notesSlide21.xml" Id="R3652e187d21e4a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1bda6191f4a1d" /><Relationship Type="http://schemas.openxmlformats.org/officeDocument/2006/relationships/image" Target="/ppt/media/image22.png" Id="R31728ebdb44e48d3" /><Relationship Type="http://schemas.openxmlformats.org/officeDocument/2006/relationships/notesSlide" Target="/ppt/notesSlides/notesSlide22.xml" Id="R0784b3616f7847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90410a3cd49ce" /><Relationship Type="http://schemas.openxmlformats.org/officeDocument/2006/relationships/image" Target="/ppt/media/image23.png" Id="R6766dde707584d09" /><Relationship Type="http://schemas.openxmlformats.org/officeDocument/2006/relationships/notesSlide" Target="/ppt/notesSlides/notesSlide23.xml" Id="Ra5b7bc30923b4f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ef7d5b189444a" /><Relationship Type="http://schemas.openxmlformats.org/officeDocument/2006/relationships/image" Target="/ppt/media/image24.png" Id="R84c524d7cd3e4966" /><Relationship Type="http://schemas.openxmlformats.org/officeDocument/2006/relationships/notesSlide" Target="/ppt/notesSlides/notesSlide24.xml" Id="R998d515c423f41e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2cec3a5164aeb" /><Relationship Type="http://schemas.openxmlformats.org/officeDocument/2006/relationships/image" Target="/ppt/media/image25.png" Id="R7fd0d32f1fd243a0" /><Relationship Type="http://schemas.openxmlformats.org/officeDocument/2006/relationships/notesSlide" Target="/ppt/notesSlides/notesSlide25.xml" Id="R6eb2f579c13143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2b7f7e9524376" /><Relationship Type="http://schemas.openxmlformats.org/officeDocument/2006/relationships/image" Target="/ppt/media/image26.png" Id="Rbe4502b7c521487b" /><Relationship Type="http://schemas.openxmlformats.org/officeDocument/2006/relationships/notesSlide" Target="/ppt/notesSlides/notesSlide26.xml" Id="R188786bb3bf645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75e62428848a9" /><Relationship Type="http://schemas.openxmlformats.org/officeDocument/2006/relationships/image" Target="/ppt/media/image27.png" Id="Rbab1476acc714655" /><Relationship Type="http://schemas.openxmlformats.org/officeDocument/2006/relationships/notesSlide" Target="/ppt/notesSlides/notesSlide27.xml" Id="R4e181fda4f4e4a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0cd6f730f4692" /><Relationship Type="http://schemas.openxmlformats.org/officeDocument/2006/relationships/image" Target="/ppt/media/image28.png" Id="Ra279eb72767b4911" /><Relationship Type="http://schemas.openxmlformats.org/officeDocument/2006/relationships/notesSlide" Target="/ppt/notesSlides/notesSlide28.xml" Id="Rd5356ed52d3d45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9753c8889497b" /><Relationship Type="http://schemas.openxmlformats.org/officeDocument/2006/relationships/image" Target="/ppt/media/image29.png" Id="Rd974ad6c519946c0" /><Relationship Type="http://schemas.openxmlformats.org/officeDocument/2006/relationships/notesSlide" Target="/ppt/notesSlides/notesSlide29.xml" Id="R26dfd7fc0a4643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f7aa8dbc34438" /><Relationship Type="http://schemas.openxmlformats.org/officeDocument/2006/relationships/image" Target="/ppt/media/image30.png" Id="Re5d43a28fb1440f9" /><Relationship Type="http://schemas.openxmlformats.org/officeDocument/2006/relationships/notesSlide" Target="/ppt/notesSlides/notesSlide30.xml" Id="R6297f7e3f66140b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64ef8bac4463f" /><Relationship Type="http://schemas.openxmlformats.org/officeDocument/2006/relationships/image" Target="/ppt/media/image31.png" Id="R25a7ed04b3d343f0" /><Relationship Type="http://schemas.openxmlformats.org/officeDocument/2006/relationships/notesSlide" Target="/ppt/notesSlides/notesSlide31.xml" Id="R2da62be4924b498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e89d70cf44a3c" /><Relationship Type="http://schemas.openxmlformats.org/officeDocument/2006/relationships/image" Target="/ppt/media/image32.png" Id="Re0b93eb24e67414d" /><Relationship Type="http://schemas.openxmlformats.org/officeDocument/2006/relationships/notesSlide" Target="/ppt/notesSlides/notesSlide32.xml" Id="Rad946c3a77b7427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4601d3cd9473d" /><Relationship Type="http://schemas.openxmlformats.org/officeDocument/2006/relationships/image" Target="/ppt/media/image33.png" Id="Rd33a9c3a4c3c407a" /><Relationship Type="http://schemas.openxmlformats.org/officeDocument/2006/relationships/notesSlide" Target="/ppt/notesSlides/notesSlide33.xml" Id="R6cf1fea449b347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46423ad404abb" /><Relationship Type="http://schemas.openxmlformats.org/officeDocument/2006/relationships/image" Target="/ppt/media/image34.png" Id="Rba6905c501244c92" /><Relationship Type="http://schemas.openxmlformats.org/officeDocument/2006/relationships/notesSlide" Target="/ppt/notesSlides/notesSlide34.xml" Id="R1d34308a80434f8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ae4a0b3254f47" /><Relationship Type="http://schemas.openxmlformats.org/officeDocument/2006/relationships/image" Target="/ppt/media/image35.png" Id="R9009672c61114d0e" /><Relationship Type="http://schemas.openxmlformats.org/officeDocument/2006/relationships/notesSlide" Target="/ppt/notesSlides/notesSlide35.xml" Id="R7d45fb166f094fc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dd80cd9154461" /><Relationship Type="http://schemas.openxmlformats.org/officeDocument/2006/relationships/image" Target="/ppt/media/image36.png" Id="R455004826451474f" /><Relationship Type="http://schemas.openxmlformats.org/officeDocument/2006/relationships/notesSlide" Target="/ppt/notesSlides/notesSlide36.xml" Id="Re2b5d0e53dd14ae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591d0cd8f4c4a" /><Relationship Type="http://schemas.openxmlformats.org/officeDocument/2006/relationships/image" Target="/ppt/media/image37.png" Id="Rdef380ceaea646aa" /><Relationship Type="http://schemas.openxmlformats.org/officeDocument/2006/relationships/notesSlide" Target="/ppt/notesSlides/notesSlide37.xml" Id="Rd03e5c2f9a994aa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6c18c048d46c7" /><Relationship Type="http://schemas.openxmlformats.org/officeDocument/2006/relationships/image" Target="/ppt/media/image38.png" Id="Rb34c9772e0a44a8b" /><Relationship Type="http://schemas.openxmlformats.org/officeDocument/2006/relationships/notesSlide" Target="/ppt/notesSlides/notesSlide38.xml" Id="R2ba52f08eeaa45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835797be8464f" /><Relationship Type="http://schemas.openxmlformats.org/officeDocument/2006/relationships/image" Target="/ppt/media/image39.png" Id="R8de6cc4feada4a85" /><Relationship Type="http://schemas.openxmlformats.org/officeDocument/2006/relationships/notesSlide" Target="/ppt/notesSlides/notesSlide39.xml" Id="R9b6d13d70c164a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df1941a434a63" /><Relationship Type="http://schemas.openxmlformats.org/officeDocument/2006/relationships/image" Target="/ppt/media/image40.png" Id="R06db2fb1991940be" /><Relationship Type="http://schemas.openxmlformats.org/officeDocument/2006/relationships/notesSlide" Target="/ppt/notesSlides/notesSlide40.xml" Id="R2815dc3188a64bf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65ab339a64b49" /><Relationship Type="http://schemas.openxmlformats.org/officeDocument/2006/relationships/image" Target="/ppt/media/image41.png" Id="Rb7593f8aea5f4f32" /><Relationship Type="http://schemas.openxmlformats.org/officeDocument/2006/relationships/notesSlide" Target="/ppt/notesSlides/notesSlide41.xml" Id="R840e717a70164e9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6ad9aae8b4f52" /><Relationship Type="http://schemas.openxmlformats.org/officeDocument/2006/relationships/image" Target="/ppt/media/image42.png" Id="R8ef1ad1978684f41" /><Relationship Type="http://schemas.openxmlformats.org/officeDocument/2006/relationships/notesSlide" Target="/ppt/notesSlides/notesSlide42.xml" Id="R972add515f2741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7A7C1-C99B-492B-AF06-CE8F466FD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e448de06444f7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32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4DDF-5B35-4A8C-BD22-C294DCAB1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19e8a42934ac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384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15780-005B-4B67-ABB6-C9638707B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dc073ed54471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460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F6651-7820-41D7-AE46-DAE5100DE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fa8e87d9a4696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45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D413E-F3DD-4743-91A8-47E2A004F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219173e144797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8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B7CC9-3BA6-431C-965A-0F9C1D139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d5512496e4b2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47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49BB-DAF6-4264-8D31-583823565B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f97079b954ec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510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0E889-BF23-4598-BF46-77C9D9230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7a438ec914e24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949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E09E4-86D6-4AD0-9380-F0FCFD03E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5f322319b48e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200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F7E41-E9B4-458D-8CDA-6CBFD04E8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532b16fe64ca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626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F312A-E032-4056-8390-6D35C840B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b86969149439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16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632C-63A7-483A-B1A4-90E76B972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f413c21ec461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859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CA1A7-18B9-4678-88B5-F5D734317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61a40ca3d42d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85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3C7F0-6939-4577-8B53-1B3E38F94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bce2174dc4b5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4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D64E3-E0B2-4B2F-B083-09D07A515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595e3cb40476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758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11424-F690-41D7-82AF-5D4B4F704B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5892a1931442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887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6A23E-3B0D-49CE-8A09-0C4392660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f9454ccd74086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1290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6FD35-73FA-4B6B-A397-E12776C9C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0f106ba4e4fc8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4590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1DFD6-5032-4B49-8319-811DABDC0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c490ea0924258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91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4DEA6-9844-4DEE-AD6B-36B224794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e56fa688443cf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6536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61B1C-8D39-4E8B-A120-104068917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7c9481838457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516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EC449-8492-4367-9193-9D522FD64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28ebdb44e48d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8653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1E963-9190-46C3-B2C8-F6D0BA8BA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6dde707584d09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1562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F27A2-7E09-414B-A086-530B12205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524d7cd3e4966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17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DC028-9171-4801-8920-45B5733CF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0d32f1fd243a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3569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FC9B-8D0C-4738-8260-700CD00AC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502b7c521487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4324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D5AD4-B541-4B69-A119-2733EC435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1476acc71465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0303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69023-4D62-44C9-81C2-E531CB471B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9eb72767b491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0875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A5C8-B1D8-431B-93C2-A7F5C1E701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4ad6c519946c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290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9D210-AEED-4871-99EF-FF52C0CAC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43a28fb1440f9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7556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1F70C-CE5A-4F22-8199-8CDB4ADB0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7ed04b3d343f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9238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9DAF-FC6E-4AA6-861C-113637C79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93eb24e67414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7125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AFCCC-BE29-4397-B08C-D51E7B9DD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a9c3a4c3c407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6972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BF6B-619F-472F-946C-2C77B7B3A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905c501244c9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5261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9F513-112F-4687-80A5-33CF84D6F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9672c61114d0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523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A11AB-2E57-42DE-981B-59B451E81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004826451474f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867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A7170-B205-41FA-A4FE-54094EECD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380ceaea646a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2997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2C341-233C-41C0-B948-034FC142A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c9772e0a44a8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6043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CC915-7BA3-4D3B-8687-10C57B344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6cc4feada4a8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7216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A71E6-774B-4E07-AE2F-0997C24DD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2fb1991940b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729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21F9-DAE6-4820-853C-701C13C66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3f8aea5f4f3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2667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82AB-5E37-4E40-8FFA-92432EEC6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1ad1978684f4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76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2026-10-14T05:37:56.9330000Z</dcterms:created>
  <dcterms:modified xsi:type="dcterms:W3CDTF">2026-10-14T05:37:56.9330000Z</dcterms:modified>
</coreProperties>
</file>