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Design of a Specialized Tokenizer</a:t>
            </a:r>
          </a:p>
          <a:p>
            <a:r>
              <a:t>for Mathematical Text</a:t>
            </a:r>
          </a:p>
          <a:p>
            <a:r>
              <a:t>Tongren Xiao</a:t>
            </a:r>
          </a:p>
          <a:p>
            <a:r>
              <a:t>tongrenxiao7@gmail.com</a:t>
            </a:r>
          </a:p>
          <a:p>
            <a:r>
              <a:t>Department of Mathematics, Sun Yat-sen University</a:t>
            </a:r>
          </a:p>
          <a:p>
            <a:r>
              <a:t>October 10, 2026</a:t>
            </a:r>
          </a:p>
          <a:p>
            <a:r>
              <a:t>Department of Mathematics, Sun Yat-sen University Research Presentation October 10, 2026 0/42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 Mathematical Tokenization Improve Model Capability?</a:t>
            </a:r>
          </a:p>
          <a:p>
            <a:r>
              <a:t>Research question</a:t>
            </a:r>
          </a:p>
          <a:p>
            <a:r>
              <a:t>Can we train tokenizers specifically for mathematical text that improve both intrinsic</a:t>
            </a:r>
          </a:p>
          <a:p>
            <a:r>
              <a:t>tokenization and downstream mathematical capability ?</a:t>
            </a:r>
          </a:p>
          <a:p>
            <a:r>
              <a:t>Question What would count as evidence?</a:t>
            </a:r>
          </a:p>
          <a:p>
            <a:r>
              <a:t>RQ1: tokenizer</a:t>
            </a:r>
          </a:p>
          <a:p>
            <a:r>
              <a:t>quality</a:t>
            </a:r>
          </a:p>
          <a:p>
            <a:r>
              <a:t>Lossless compression, structural boundary preservation, robustness</a:t>
            </a:r>
          </a:p>
          <a:p>
            <a:r>
              <a:t>and full-interface speed.</a:t>
            </a:r>
          </a:p>
          <a:p>
            <a:r>
              <a:t>RQ2: model</a:t>
            </a:r>
          </a:p>
          <a:p>
            <a:r>
              <a:t>capability</a:t>
            </a:r>
          </a:p>
          <a:p>
            <a:r>
              <a:t>Better symbolic manipulation, PDE solving/discovery and</a:t>
            </a:r>
          </a:p>
          <a:p>
            <a:r>
              <a:t>mathematical reasoning under controlled training budgets.</a:t>
            </a:r>
          </a:p>
          <a:p>
            <a:r>
              <a:t>Current status RQ1 has completed experiments; RQ2 is a planned, separate</a:t>
            </a:r>
          </a:p>
          <a:p>
            <a:r>
              <a:t>evaluation.</a:t>
            </a:r>
          </a:p>
          <a:p>
            <a:r>
              <a:t>Two final research routes</a:t>
            </a:r>
          </a:p>
          <a:p>
            <a:r>
              <a:t>Math-atom BPE : learn a mathematical vocabulary using a reversible lexical alphabet.</a:t>
            </a:r>
          </a:p>
          <a:p>
            <a:r>
              <a:t>Boundary AST : use the same vocabulary with source-structure-aware segmentation.</a:t>
            </a:r>
          </a:p>
          <a:p>
            <a:r>
              <a:t>Schmidt et al. (2024) ; Meister (2026)</a:t>
            </a:r>
          </a:p>
          <a:p>
            <a:r>
              <a:t>Department of Mathematics, Sun Yat-sen University Research Question October 10, 2026 1/42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Mathematical Source Text Is Different</a:t>
            </a:r>
          </a:p>
          <a:p>
            <a:r>
              <a:t>A source string carries both symbols and scope</a:t>
            </a:r>
          </a:p>
          <a:p>
            <a:r>
              <a:t>∂u</a:t>
            </a:r>
          </a:p>
          <a:p>
            <a:r>
              <a:t>∂t = ν∆u + f(x, t).</a:t>
            </a:r>
          </a:p>
          <a:p>
            <a:r>
              <a:t>Commands, indices and grouped arguments carry distinct roles. Command splits can</a:t>
            </a:r>
          </a:p>
          <a:p>
            <a:r>
              <a:t>hide recurring units; cross-argument merges can hide useful boundaries.</a:t>
            </a:r>
          </a:p>
          <a:p>
            <a:r>
              <a:t>Property Example Design consequence</a:t>
            </a:r>
          </a:p>
          <a:p>
            <a:r>
              <a:t>Command</a:t>
            </a:r>
          </a:p>
          <a:p>
            <a:r>
              <a:t>identity</a:t>
            </a:r>
          </a:p>
          <a:p>
            <a:r>
              <a:t>\partial, \frac Protect observed complete commands.</a:t>
            </a:r>
          </a:p>
          <a:p>
            <a:r>
              <a:t>Argument scope {x+y} vs. {x}+y Track source endpoints without rewriting the</a:t>
            </a:r>
          </a:p>
          <a:p>
            <a:r>
              <a:t>formula.</a:t>
            </a:r>
          </a:p>
          <a:p>
            <a:r>
              <a:t>Numerical form 1.25, 10−6, x12 Measure digit and number integrity separately.</a:t>
            </a:r>
          </a:p>
          <a:p>
            <a:r>
              <a:t>Open vocabulary Unseen commands and</a:t>
            </a:r>
          </a:p>
          <a:p>
            <a:r>
              <a:t>Unicode</a:t>
            </a:r>
          </a:p>
          <a:p>
            <a:r>
              <a:t>Retain a complete 256-byte fallback.</a:t>
            </a:r>
          </a:p>
          <a:p>
            <a:r>
              <a:t>Important distinction</a:t>
            </a:r>
          </a:p>
          <a:p>
            <a:r>
              <a:t>Lossless source reconstruction is necessary. It does not prove that the tokens preserve all</a:t>
            </a:r>
          </a:p>
          <a:p>
            <a:r>
              <a:t>mathematical semantics.</a:t>
            </a:r>
          </a:p>
          <a:p>
            <a:r>
              <a:t>Jung et al. (2024) ; Golkar et al. (2023)</a:t>
            </a:r>
          </a:p>
          <a:p>
            <a:r>
              <a:t>Department of Mathematics, Sun Yat-sen University Research Question October 10, 2026 2/42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Study Establishes</a:t>
            </a:r>
          </a:p>
          <a:p>
            <a:r>
              <a:t>Component Completed evidence What remains untested</a:t>
            </a:r>
          </a:p>
          <a:p>
            <a:r>
              <a:t>Data 56,000 classified formula strings; frozen</a:t>
            </a:r>
          </a:p>
          <a:p>
            <a:r>
              <a:t>source-based partitions.</a:t>
            </a:r>
          </a:p>
          <a:p>
            <a:r>
              <a:t>General mathematical truth or</a:t>
            </a:r>
          </a:p>
          <a:p>
            <a:r>
              <a:t>complete semantic equivalence.</a:t>
            </a:r>
          </a:p>
          <a:p>
            <a:r>
              <a:t>Methods Two frozen routes; original third-party</a:t>
            </a:r>
          </a:p>
          <a:p>
            <a:r>
              <a:t>training and baseline interfaces.</a:t>
            </a:r>
          </a:p>
          <a:p>
            <a:r>
              <a:t>Benefits from model-specific</a:t>
            </a:r>
          </a:p>
          <a:p>
            <a:r>
              <a:t>embedding adaptation.</a:t>
            </a:r>
          </a:p>
          <a:p>
            <a:r>
              <a:t>Evaluation Seven retained systems; three new</a:t>
            </a:r>
          </a:p>
          <a:p>
            <a:r>
              <a:t>audits of the current release.</a:t>
            </a:r>
          </a:p>
          <a:p>
            <a:r>
              <a:t>Downstream accuracy and scaling to</a:t>
            </a:r>
          </a:p>
          <a:p>
            <a:r>
              <a:t>multiple hardware platforms.</a:t>
            </a:r>
          </a:p>
          <a:p>
            <a:r>
              <a:t>Selection Two proposed systems and five</a:t>
            </a:r>
          </a:p>
          <a:p>
            <a:r>
              <a:t>baselines explicitly registered.</a:t>
            </a:r>
          </a:p>
          <a:p>
            <a:r>
              <a:t>Whether the best intrinsic trade-off is</a:t>
            </a:r>
          </a:p>
          <a:p>
            <a:r>
              <a:t>the best task representation.</a:t>
            </a:r>
          </a:p>
          <a:p>
            <a:r>
              <a:t>Evidence boundary</a:t>
            </a:r>
          </a:p>
          <a:p>
            <a:r>
              <a:t>The original v8 model/weight freeze preceded its test scores. The present seven-system</a:t>
            </a:r>
          </a:p>
          <a:p>
            <a:r>
              <a:t>selection is retrospective and user specified; it is not a new unseen-test experiment.</a:t>
            </a:r>
          </a:p>
          <a:p>
            <a:r>
              <a:t>Experimental separation</a:t>
            </a:r>
          </a:p>
          <a:p>
            <a:r>
              <a:t>Tokenizer learning, string-to-ID inference and language-model adaptation are separate</a:t>
            </a:r>
          </a:p>
          <a:p>
            <a:r>
              <a:t>interventions. A gain in one stage must be checked rather than assumed to transfer to</a:t>
            </a:r>
          </a:p>
          <a:p>
            <a:r>
              <a:t>the next.</a:t>
            </a:r>
          </a:p>
          <a:p>
            <a:r>
              <a:t>Schmidt et al. (2024) ; Limisiewicz et al. (2026)</a:t>
            </a:r>
          </a:p>
          <a:p>
            <a:r>
              <a:t>Department of Mathematics, Sun Yat-sen University Research Question October 10, 2026 3/42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Classical Subword Tokenization</a:t>
            </a:r>
          </a:p>
          <a:p>
            <a:r>
              <a:t>Family Learning and inference Relevance to mathematics</a:t>
            </a:r>
          </a:p>
          <a:p>
            <a:r>
              <a:t>BPE Repeated pair-frequency merges;</a:t>
            </a:r>
          </a:p>
          <a:p>
            <a:r>
              <a:t>apply a learned merge order.</a:t>
            </a:r>
          </a:p>
          <a:p>
            <a:r>
              <a:t>Simple, fast and data driven;</a:t>
            </a:r>
          </a:p>
          <a:p>
            <a:r>
              <a:t>syntax is not the training objective.</a:t>
            </a:r>
          </a:p>
          <a:p>
            <a:r>
              <a:t>WordPiece Vocabulary learning followed by</a:t>
            </a:r>
          </a:p>
          <a:p>
            <a:r>
              <a:t>subword matching.</a:t>
            </a:r>
          </a:p>
          <a:p>
            <a:r>
              <a:t>Widely used; unknown handling</a:t>
            </a:r>
          </a:p>
          <a:p>
            <a:r>
              <a:t>and pretokenization affect raw</a:t>
            </a:r>
          </a:p>
          <a:p>
            <a:r>
              <a:t>fidelity.</a:t>
            </a:r>
          </a:p>
          <a:p>
            <a:r>
              <a:t>Unigram Learn piece probabilities; choose a</a:t>
            </a:r>
          </a:p>
          <a:p>
            <a:r>
              <a:t>likely segmentation.</a:t>
            </a:r>
          </a:p>
          <a:p>
            <a:r>
              <a:t>Separates vocabulary probability</a:t>
            </a:r>
          </a:p>
          <a:p>
            <a:r>
              <a:t>from one fixed merge history.</a:t>
            </a:r>
          </a:p>
          <a:p>
            <a:r>
              <a:t>SentencePiece A training/runtime framework</a:t>
            </a:r>
          </a:p>
          <a:p>
            <a:r>
              <a:t>supporting BPE and Unigram.</a:t>
            </a:r>
          </a:p>
          <a:p>
            <a:r>
              <a:t>Identity normalization and byte</a:t>
            </a:r>
          </a:p>
          <a:p>
            <a:r>
              <a:t>fallback must be set explicitly.</a:t>
            </a:r>
          </a:p>
          <a:p>
            <a:r>
              <a:t>Our use of established algorithms</a:t>
            </a:r>
          </a:p>
          <a:p>
            <a:r>
              <a:t>The math-atom route uses the original Hugging Face BPE trainer and Rust runtime. Its</a:t>
            </a:r>
          </a:p>
          <a:p>
            <a:r>
              <a:t>contribution is the mathematical alphabet, corpus and controlled design, not a new BPE</a:t>
            </a:r>
          </a:p>
          <a:p>
            <a:r>
              <a:t>optimization algorithm.</a:t>
            </a:r>
          </a:p>
          <a:p>
            <a:r>
              <a:t>Sennrich, Haddow and Birch (2016) ; Kudo (2018) ; Kudo and Richardson (2018)</a:t>
            </a:r>
          </a:p>
          <a:p>
            <a:r>
              <a:t>Department of Mathematics, Sun Yat-sen University Related Work October 10, 2026 4/42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General-Purpose Tokenizers as Deployment References</a:t>
            </a:r>
          </a:p>
          <a:p>
            <a:r>
              <a:t>Retained tokenizer Actual ID space Interface used</a:t>
            </a:r>
          </a:p>
          <a:p>
            <a:r>
              <a:t>Qwen2.5 151,665 Pinned oﬀicial tokenizer configuration; HF tokenizers.</a:t>
            </a:r>
          </a:p>
          <a:p>
            <a:r>
              <a:t>Llama 3 128,256 Pinned Meta tokenizer code and byte-rank file.</a:t>
            </a:r>
          </a:p>
          <a:p>
            <a:r>
              <a:t>o200k 200,019 Original tiktoken o200k_base.</a:t>
            </a:r>
          </a:p>
          <a:p>
            <a:r>
              <a:t>Our trained</a:t>
            </a:r>
          </a:p>
          <a:p>
            <a:r>
              <a:t>comparisons</a:t>
            </a:r>
          </a:p>
          <a:p>
            <a:r>
              <a:t>1,024 / 2,048 Every primitive and reserved ID counted.</a:t>
            </a:r>
          </a:p>
          <a:p>
            <a:r>
              <a:t>What is held fixed</a:t>
            </a:r>
          </a:p>
          <a:p>
            <a:r>
              <a:t>All systems receive the same raw formulas and metric definitions. Mature tokenizers</a:t>
            </a:r>
          </a:p>
          <a:p>
            <a:r>
              <a:t>retain their full vocabularies; their source pretraining data and possible contamination</a:t>
            </a:r>
          </a:p>
          <a:p>
            <a:r>
              <a:t>are unknown.</a:t>
            </a:r>
          </a:p>
          <a:p>
            <a:r>
              <a:t>What this comparison cannot establish</a:t>
            </a:r>
          </a:p>
          <a:p>
            <a:r>
              <a:t>Different vocabulary sizes imply different embedding/softmax costs. These rows are</a:t>
            </a:r>
          </a:p>
          <a:p>
            <a:r>
              <a:t>practical deployment references, not equal-parameter causal comparisons.</a:t>
            </a:r>
          </a:p>
          <a:p>
            <a:r>
              <a:t>Qwen Team (2024) ; Dubey et al. (2024) ; OpenAI (2026)</a:t>
            </a:r>
          </a:p>
          <a:p>
            <a:r>
              <a:t>Department of Mathematics, Sun Yat-sen University Related Work October 10, 2026 5/42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Specialized Mathematical and Scientific Representations</a:t>
            </a:r>
          </a:p>
          <a:p>
            <a:r>
              <a:t>Work Relevant mechanism Difference from our study</a:t>
            </a:r>
          </a:p>
          <a:p>
            <a:r>
              <a:t>TeXBLEU (2024) LaTeX-trained BPE and embeddings</a:t>
            </a:r>
          </a:p>
          <a:p>
            <a:r>
              <a:t>for a formula-generation metric.</a:t>
            </a:r>
          </a:p>
          <a:p>
            <a:r>
              <a:t>Evaluates generated expressions,</a:t>
            </a:r>
          </a:p>
          <a:p>
            <a:r>
              <a:t>rather than a common standalone</a:t>
            </a:r>
          </a:p>
          <a:p>
            <a:r>
              <a:t>tokenizer benchmark.</a:t>
            </a:r>
          </a:p>
          <a:p>
            <a:r>
              <a:t>CMERNet (AAAI</a:t>
            </a:r>
          </a:p>
          <a:p>
            <a:r>
              <a:t>2026)</a:t>
            </a:r>
          </a:p>
          <a:p>
            <a:r>
              <a:t>Explicit LaTeX</a:t>
            </a:r>
          </a:p>
          <a:p>
            <a:r>
              <a:t>command/environment units plus</a:t>
            </a:r>
          </a:p>
          <a:p>
            <a:r>
              <a:t>specialized BPE.</a:t>
            </a:r>
          </a:p>
          <a:p>
            <a:r>
              <a:t>Targets expression recognition; its</a:t>
            </a:r>
          </a:p>
          <a:p>
            <a:r>
              <a:t>symbol inventory is curated.</a:t>
            </a:r>
          </a:p>
          <a:p>
            <a:r>
              <a:t>MathBERT (2021) Operator-tree substructure</a:t>
            </a:r>
          </a:p>
          <a:p>
            <a:r>
              <a:t>prediction during formula/context</a:t>
            </a:r>
          </a:p>
          <a:p>
            <a:r>
              <a:t>pretraining.</a:t>
            </a:r>
          </a:p>
          <a:p>
            <a:r>
              <a:t>Changes model pretraining</a:t>
            </a:r>
          </a:p>
          <a:p>
            <a:r>
              <a:t>objectives, rather than only</a:t>
            </a:r>
          </a:p>
          <a:p>
            <a:r>
              <a:t>segmentation.</a:t>
            </a:r>
          </a:p>
          <a:p>
            <a:r>
              <a:t>MathGPT (ACL</a:t>
            </a:r>
          </a:p>
          <a:p>
            <a:r>
              <a:t>2023)</a:t>
            </a:r>
          </a:p>
          <a:p>
            <a:r>
              <a:t>Operator-tree tokens, tree positions</a:t>
            </a:r>
          </a:p>
          <a:p>
            <a:r>
              <a:t>and constrained generation.</a:t>
            </a:r>
          </a:p>
          <a:p>
            <a:r>
              <a:t>Uses a tree representation and</a:t>
            </a:r>
          </a:p>
          <a:p>
            <a:r>
              <a:t>model modifications.</a:t>
            </a:r>
          </a:p>
          <a:p>
            <a:r>
              <a:t>Positioning</a:t>
            </a:r>
          </a:p>
          <a:p>
            <a:r>
              <a:t>Preserving mathematical units and using formula trees are established ideas. Our claim</a:t>
            </a:r>
          </a:p>
          <a:p>
            <a:r>
              <a:t>is a specific raw-byte segmentation trade-off with matched-vocabulary controls.</a:t>
            </a:r>
          </a:p>
          <a:p>
            <a:r>
              <a:t>Jung et al. (2024) ; Bai et al. (2026) ; Peng et al. (2021) ; Scarlatos and Lan (2023)</a:t>
            </a:r>
          </a:p>
          <a:p>
            <a:r>
              <a:t>Department of Mathematics, Sun Yat-sen University Related Work October 10, 2026 6/42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Compression, Structure and Intrinsic Evaluation</a:t>
            </a:r>
          </a:p>
          <a:p>
            <a:r>
              <a:t>Work Finding / design principle Consequence for our experiment</a:t>
            </a:r>
          </a:p>
          <a:p>
            <a:r>
              <a:t>PathPiece (EMNLP</a:t>
            </a:r>
          </a:p>
          <a:p>
            <a:r>
              <a:t>2024)</a:t>
            </a:r>
          </a:p>
          <a:p>
            <a:r>
              <a:t>Shortest segmentation need not</a:t>
            </a:r>
          </a:p>
          <a:p>
            <a:r>
              <a:t>yield the best downstream model.</a:t>
            </a:r>
          </a:p>
          <a:p>
            <a:r>
              <a:t>Separate vocabulary learning from</a:t>
            </a:r>
          </a:p>
          <a:p>
            <a:r>
              <a:t>segmentation; keep same-dictionary</a:t>
            </a:r>
          </a:p>
          <a:p>
            <a:r>
              <a:t>controls.</a:t>
            </a:r>
          </a:p>
          <a:p>
            <a:r>
              <a:t>Greed Is All You</a:t>
            </a:r>
          </a:p>
          <a:p>
            <a:r>
              <a:t>Need (ACL 2024)</a:t>
            </a:r>
          </a:p>
          <a:p>
            <a:r>
              <a:t>Inference choices affect intrinsic</a:t>
            </a:r>
          </a:p>
          <a:p>
            <a:r>
              <a:t>properties even with fixed</a:t>
            </a:r>
          </a:p>
          <a:p>
            <a:r>
              <a:t>vocabularies.</a:t>
            </a:r>
          </a:p>
          <a:p>
            <a:r>
              <a:t>Report lexical boundaries and</a:t>
            </a:r>
          </a:p>
          <a:p>
            <a:r>
              <a:t>information measures, not just</a:t>
            </a:r>
          </a:p>
          <a:p>
            <a:r>
              <a:t>token count.</a:t>
            </a:r>
          </a:p>
          <a:p>
            <a:r>
              <a:t>TokEval (COLM</a:t>
            </a:r>
          </a:p>
          <a:p>
            <a:r>
              <a:t>2026)</a:t>
            </a:r>
          </a:p>
          <a:p>
            <a:r>
              <a:t>Structural properties such as</a:t>
            </a:r>
          </a:p>
          <a:p>
            <a:r>
              <a:t>Unicode and digit boundaries</a:t>
            </a:r>
          </a:p>
          <a:p>
            <a:r>
              <a:t>matter.</a:t>
            </a:r>
          </a:p>
          <a:p>
            <a:r>
              <a:t>Measure integrity and robustness</a:t>
            </a:r>
          </a:p>
          <a:p>
            <a:r>
              <a:t>alongside compression.</a:t>
            </a:r>
          </a:p>
          <a:p>
            <a:r>
              <a:t>Compute Optimal</a:t>
            </a:r>
          </a:p>
          <a:p>
            <a:r>
              <a:t>Tokenization (2026)</a:t>
            </a:r>
          </a:p>
          <a:p>
            <a:r>
              <a:t>Granularity interacts with model</a:t>
            </a:r>
          </a:p>
          <a:p>
            <a:r>
              <a:t>size, data and compute.</a:t>
            </a:r>
          </a:p>
          <a:p>
            <a:r>
              <a:t>Downstream budgets must include</a:t>
            </a:r>
          </a:p>
          <a:p>
            <a:r>
              <a:t>vocabulary and sequence costs.</a:t>
            </a:r>
          </a:p>
          <a:p>
            <a:r>
              <a:t>Our structural metrics</a:t>
            </a:r>
          </a:p>
          <a:p>
            <a:r>
              <a:t>KaTeX partial-crossing and pylatexenc argument endpoints are syntax proxies. Neither</a:t>
            </a:r>
          </a:p>
          <a:p>
            <a:r>
              <a:t>is an established gold measure of mathematical meaning.</a:t>
            </a:r>
          </a:p>
          <a:p>
            <a:r>
              <a:t>Schmidt et al. (2024) ; Uzan et al. (2024) ; Meister (2026) ; Limisiewicz et al. (2026)</a:t>
            </a:r>
          </a:p>
          <a:p>
            <a:r>
              <a:t>Department of Mathematics, Sun Yat-sen University Related Work October 10, 2026 7/42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Adaptive Tokenization and the Role of RL</a:t>
            </a:r>
          </a:p>
          <a:p>
            <a:r>
              <a:t>Approach What is learned Why it is not the same experiment</a:t>
            </a:r>
          </a:p>
          <a:p>
            <a:r>
              <a:t>Dauncey &amp;</a:t>
            </a:r>
          </a:p>
          <a:p>
            <a:r>
              <a:t>Wattenhofer (ICML</a:t>
            </a:r>
          </a:p>
          <a:p>
            <a:r>
              <a:t>2026)</a:t>
            </a:r>
          </a:p>
          <a:p>
            <a:r>
              <a:t>Discrete byte boundaries using</a:t>
            </a:r>
          </a:p>
          <a:p>
            <a:r>
              <a:t>score-function estimates and LM</a:t>
            </a:r>
          </a:p>
          <a:p>
            <a:r>
              <a:t>loss.</a:t>
            </a:r>
          </a:p>
          <a:p>
            <a:r>
              <a:t>Requires downstream model</a:t>
            </a:r>
          </a:p>
          <a:p>
            <a:r>
              <a:t>feedback; our terminal vocabulary</a:t>
            </a:r>
          </a:p>
          <a:p>
            <a:r>
              <a:t>reward is an adaptation.</a:t>
            </a:r>
          </a:p>
          <a:p>
            <a:r>
              <a:t>H-Net (2025) Content-dependent hierarchical</a:t>
            </a:r>
          </a:p>
          <a:p>
            <a:r>
              <a:t>chunks jointly with a sequence</a:t>
            </a:r>
          </a:p>
          <a:p>
            <a:r>
              <a:t>model.</a:t>
            </a:r>
          </a:p>
          <a:p>
            <a:r>
              <a:t>Changes the model architecture</a:t>
            </a:r>
          </a:p>
          <a:p>
            <a:r>
              <a:t>and latent representation.</a:t>
            </a:r>
          </a:p>
          <a:p>
            <a:r>
              <a:t>AdaptBPE (2026) Adapt general tokenization to</a:t>
            </a:r>
          </a:p>
          <a:p>
            <a:r>
              <a:t>specialized domains.</a:t>
            </a:r>
          </a:p>
          <a:p>
            <a:r>
              <a:t>Motivates domain adaptation;</a:t>
            </a:r>
          </a:p>
          <a:p>
            <a:r>
              <a:t>does not establish formula-tree</a:t>
            </a:r>
          </a:p>
          <a:p>
            <a:r>
              <a:t>optimality.</a:t>
            </a:r>
          </a:p>
          <a:p>
            <a:r>
              <a:t>xVal (2023) Continuous numerical encoding</a:t>
            </a:r>
          </a:p>
          <a:p>
            <a:r>
              <a:t>inside scientific LMs.</a:t>
            </a:r>
          </a:p>
          <a:p>
            <a:r>
              <a:t>Requires a numerical channel and</a:t>
            </a:r>
          </a:p>
          <a:p>
            <a:r>
              <a:t>modified model handling.</a:t>
            </a:r>
          </a:p>
          <a:p>
            <a:r>
              <a:t>Design decision</a:t>
            </a:r>
          </a:p>
          <a:p>
            <a:r>
              <a:t>Standalone multi-objective RL did not pass our repeatability gate. The final production</a:t>
            </a:r>
          </a:p>
          <a:p>
            <a:r>
              <a:t>routes contain no policy updates or online policy inference.</a:t>
            </a:r>
          </a:p>
          <a:p>
            <a:r>
              <a:t>Dauncey and Wattenhofer (2026) ; Hwang, Wang and Gu (2025) ; Liyanage and Yvon (2026) ; Golkar et al. (2023)</a:t>
            </a:r>
          </a:p>
          <a:p>
            <a:r>
              <a:t>Department of Mathematics, Sun Yat-sen University Related Work October 10, 2026 8/42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Two Routes: Contribution and Prior Art</a:t>
            </a:r>
          </a:p>
          <a:p>
            <a:r>
              <a:t>Dimension Math-atom BPE Boundary AST</a:t>
            </a:r>
          </a:p>
          <a:p>
            <a:r>
              <a:t>Vocabulary Fit-derived</a:t>
            </a:r>
          </a:p>
          <a:p>
            <a:r>
              <a:t>complete-command/Unicode atoms;</a:t>
            </a:r>
          </a:p>
          <a:p>
            <a:r>
              <a:t>original BPE.</a:t>
            </a:r>
          </a:p>
          <a:p>
            <a:r>
              <a:t>Exactly the same byte vocabulary</a:t>
            </a:r>
          </a:p>
          <a:p>
            <a:r>
              <a:t>and ID budget.</a:t>
            </a:r>
          </a:p>
          <a:p>
            <a:r>
              <a:t>Segmentation Original learned BPE merge order. Minimum additive</a:t>
            </a:r>
          </a:p>
          <a:p>
            <a:r>
              <a:t>token/tree/boundary cost on a legal</a:t>
            </a:r>
          </a:p>
          <a:p>
            <a:r>
              <a:t>source graph.</a:t>
            </a:r>
          </a:p>
          <a:p>
            <a:r>
              <a:t>Mathematical</a:t>
            </a:r>
          </a:p>
          <a:p>
            <a:r>
              <a:t>prior</a:t>
            </a:r>
          </a:p>
          <a:p>
            <a:r>
              <a:t>Lexical units observed in training. Lexical units plus a restricted source</a:t>
            </a:r>
          </a:p>
          <a:p>
            <a:r>
              <a:t>parser.</a:t>
            </a:r>
          </a:p>
          <a:p>
            <a:r>
              <a:t>Deployment Native reversible codec + original</a:t>
            </a:r>
          </a:p>
          <a:p>
            <a:r>
              <a:t>Rust BPE.</a:t>
            </a:r>
          </a:p>
          <a:p>
            <a:r>
              <a:t>Fused native trie traversal and</a:t>
            </a:r>
          </a:p>
          <a:p>
            <a:r>
              <a:t>dynamic programming.</a:t>
            </a:r>
          </a:p>
          <a:p>
            <a:r>
              <a:t>Novelty boundary A reproducible domain-specific</a:t>
            </a:r>
          </a:p>
          <a:p>
            <a:r>
              <a:t>training recipe.</a:t>
            </a:r>
          </a:p>
          <a:p>
            <a:r>
              <a:t>A tested structural trade-off; shortest</a:t>
            </a:r>
          </a:p>
          <a:p>
            <a:r>
              <a:t>paths and AST ideas are not new.</a:t>
            </a:r>
          </a:p>
          <a:p>
            <a:r>
              <a:t>Central comparison</a:t>
            </a:r>
          </a:p>
          <a:p>
            <a:r>
              <a:t>Holding the dictionary fixed isolates the effect of the structural segmentation rule.</a:t>
            </a:r>
          </a:p>
          <a:p>
            <a:r>
              <a:t>Comparing against generic tokenizers instead measures the complete specialized system.</a:t>
            </a:r>
          </a:p>
          <a:p>
            <a:r>
              <a:t>Bai et al. (2026) ; Schmidt et al. (2024) ; Scarlatos and Lan (2023)</a:t>
            </a:r>
          </a:p>
          <a:p>
            <a:r>
              <a:t>Department of Mathematics, Sun Yat-sen University Related Work October 10, 2026 9/42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Corpus Sources and Their Roles</a:t>
            </a:r>
          </a:p>
          <a:p>
            <a:r>
              <a:t>Source Accepted</a:t>
            </a:r>
          </a:p>
          <a:p>
            <a:r>
              <a:t>formulas</a:t>
            </a:r>
          </a:p>
          <a:p>
            <a:r>
              <a:t>Provenance / role</a:t>
            </a:r>
          </a:p>
          <a:p>
            <a:r>
              <a:t>arXiv, fixed pre-2020</a:t>
            </a:r>
          </a:p>
          <a:p>
            <a:r>
              <a:t>versions</a:t>
            </a:r>
          </a:p>
          <a:p>
            <a:r>
              <a:t>51,229 CC BY / CC0; 283 contributing source papers;</a:t>
            </a:r>
          </a:p>
          <a:p>
            <a:r>
              <a:t>historical human-origin inference.</a:t>
            </a:r>
          </a:p>
          <a:p>
            <a:r>
              <a:t>OpenAI math repository 2,810 Apache-2.0; conservatively labeled possible_mixed.</a:t>
            </a:r>
          </a:p>
          <a:p>
            <a:r>
              <a:t>FunGrim 1,889 MIT; formula library, origin unknown.</a:t>
            </a:r>
          </a:p>
          <a:p>
            <a:r>
              <a:t>SymPy 72 BSD-3-Clause; formula fixtures, origin unknown.</a:t>
            </a:r>
          </a:p>
          <a:p>
            <a:r>
              <a:t>EqGPT structures / AI</a:t>
            </a:r>
          </a:p>
          <a:p>
            <a:r>
              <a:t>templates</a:t>
            </a:r>
          </a:p>
          <a:p>
            <a:r>
              <a:t>Supplement</a:t>
            </a:r>
          </a:p>
          <a:p>
            <a:r>
              <a:t>only</a:t>
            </a:r>
          </a:p>
          <a:p>
            <a:r>
              <a:t>Not counted as complete research-level LaTeX</a:t>
            </a:r>
          </a:p>
          <a:p>
            <a:r>
              <a:t>formulas in the 56,000-string catalog.</a:t>
            </a:r>
          </a:p>
          <a:p>
            <a:r>
              <a:t>Source-specific distinction</a:t>
            </a:r>
          </a:p>
          <a:p>
            <a:r>
              <a:t>EqGPT reports 221 handbook PDE structures and an operator vocabulary. Its structure</a:t>
            </a:r>
          </a:p>
          <a:p>
            <a:r>
              <a:t>strings are useful context, but are not automatically valid complete LaTeX equations.</a:t>
            </a:r>
          </a:p>
          <a:p>
            <a:r>
              <a:t>Record-level traceability</a:t>
            </a:r>
          </a:p>
          <a:p>
            <a:r>
              <a:t>Each accepted string retains its source revision, license and location. Formula text is</a:t>
            </a:r>
          </a:p>
          <a:p>
            <a:r>
              <a:t>stored separately from this metadata; redistribution follows the upstream record license.</a:t>
            </a:r>
          </a:p>
          <a:p>
            <a:r>
              <a:t>Xu et al. (2025) ; Gebru et al. (2021)</a:t>
            </a:r>
          </a:p>
          <a:p>
            <a:r>
              <a:t>Department of Mathematics, Sun Yat-sen University Dataset October 10, 2026 10/42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Construction: From Licensed Source to Formula Record</a:t>
            </a:r>
          </a:p>
          <a:p>
            <a:r>
              <a:t>Step Operation Retained evidence</a:t>
            </a:r>
          </a:p>
          <a:p>
            <a:r>
              <a:t>1. Acquire Oﬀicial arXiv URLs; cache first, one</a:t>
            </a:r>
          </a:p>
          <a:p>
            <a:r>
              <a:t>connection, at least 4 s between</a:t>
            </a:r>
          </a:p>
          <a:p>
            <a:r>
              <a:t>requests.</a:t>
            </a:r>
          </a:p>
          <a:p>
            <a:r>
              <a:t>Version date, license URL, source</a:t>
            </a:r>
          </a:p>
          <a:p>
            <a:r>
              <a:t>archive hash.</a:t>
            </a:r>
          </a:p>
          <a:p>
            <a:r>
              <a:t>2. Extract Find inline/display/multirow math;</a:t>
            </a:r>
          </a:p>
          <a:p>
            <a:r>
              <a:t>bounded source-macro expansion.</a:t>
            </a:r>
          </a:p>
          <a:p>
            <a:r>
              <a:t>Original LaTeX, member path and</a:t>
            </a:r>
          </a:p>
          <a:p>
            <a:r>
              <a:t>source span.</a:t>
            </a:r>
          </a:p>
          <a:p>
            <a:r>
              <a:t>3. Filter Reject prose, isolated labels, executable</a:t>
            </a:r>
          </a:p>
          <a:p>
            <a:r>
              <a:t>commands and damaged/trivial</a:t>
            </a:r>
          </a:p>
          <a:p>
            <a:r>
              <a:t>fragments.</a:t>
            </a:r>
          </a:p>
          <a:p>
            <a:r>
              <a:t>Explicit rejection reason and quarantine</a:t>
            </a:r>
          </a:p>
          <a:p>
            <a:r>
              <a:t>record.</a:t>
            </a:r>
          </a:p>
          <a:p>
            <a:r>
              <a:t>4. Validate Independent KaTeX parse and</a:t>
            </a:r>
          </a:p>
          <a:p>
            <a:r>
              <a:t>source/expanded rendering fidelity.</a:t>
            </a:r>
          </a:p>
          <a:p>
            <a:r>
              <a:t>Reference spans and</a:t>
            </a:r>
          </a:p>
          <a:p>
            <a:r>
              <a:t>rendered-equivalence hashes.</a:t>
            </a:r>
          </a:p>
          <a:p>
            <a:r>
              <a:t>5. Partition Exact/template/render-equivalent</a:t>
            </a:r>
          </a:p>
          <a:p>
            <a:r>
              <a:t>exclusion against earlier exposures.</a:t>
            </a:r>
          </a:p>
          <a:p>
            <a:r>
              <a:t>Frozen formula IDs, source groups and</a:t>
            </a:r>
          </a:p>
          <a:p>
            <a:r>
              <a:t>split hashes.</a:t>
            </a:r>
          </a:p>
          <a:p>
            <a:r>
              <a:t>No hidden mathematical rewriting</a:t>
            </a:r>
          </a:p>
          <a:p>
            <a:r>
              <a:t>The encoder is evaluated on the accepted stored string. Formula normalization is a</a:t>
            </a:r>
          </a:p>
          <a:p>
            <a:r>
              <a:t>recorded dataset operation, not a model-specific test preprocessing step.</a:t>
            </a:r>
          </a:p>
          <a:p>
            <a:r>
              <a:t>Gebru et al. (2021) ; Bai et al. (2026)</a:t>
            </a:r>
          </a:p>
          <a:p>
            <a:r>
              <a:t>Department of Mathematics, Sun Yat-sen University Dataset October 10, 2026 11/42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Taxonomy: Formula Type Is Not Paper Topic</a:t>
            </a:r>
          </a:p>
          <a:p>
            <a:r>
              <a:t>Formula domain Count Formula domain Count</a:t>
            </a:r>
          </a:p>
          <a:p>
            <a:r>
              <a:t>analysis 20,233 geometry / topology 9,135</a:t>
            </a:r>
          </a:p>
          <a:p>
            <a:r>
              <a:t>combinatorics 5,563 algebra 4,431</a:t>
            </a:r>
          </a:p>
          <a:p>
            <a:r>
              <a:t>number / theory 4,273 mathematical / physics 3,850</a:t>
            </a:r>
          </a:p>
          <a:p>
            <a:r>
              <a:t>optimization 3,211 probability 3,171</a:t>
            </a:r>
          </a:p>
          <a:p>
            <a:r>
              <a:t>statistics 1,056 logic 662</a:t>
            </a:r>
          </a:p>
          <a:p>
            <a:r>
              <a:t>pde 356 ode 46</a:t>
            </a:r>
          </a:p>
          <a:p>
            <a:r>
              <a:t>linear / algebra 13</a:t>
            </a:r>
          </a:p>
          <a:p>
            <a:r>
              <a:t>Separate axes</a:t>
            </a:r>
          </a:p>
          <a:p>
            <a:r>
              <a:t>Formula domain : strict PDE vs. other mathematics.</a:t>
            </a:r>
          </a:p>
          <a:p>
            <a:r>
              <a:t>Paper domain : source subject, stored independently.</a:t>
            </a:r>
          </a:p>
          <a:p>
            <a:r>
              <a:t>Types: integral, sum/product, matrix, differential relation and system.</a:t>
            </a:r>
          </a:p>
          <a:p>
            <a:r>
              <a:t>PDE limitation</a:t>
            </a:r>
          </a:p>
          <a:p>
            <a:r>
              <a:t>Only 356 strings meet the strict PDE rule. Other formulas from PDE papers retain their</a:t>
            </a:r>
          </a:p>
          <a:p>
            <a:r>
              <a:t>structural category; the catalog is not yet a large PDE-solver training set.</a:t>
            </a:r>
          </a:p>
          <a:p>
            <a:r>
              <a:t>Department of Mathematics, Sun Yat-sen University Dataset October 10, 2026 12/42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Provenance Labels and Two Complexity Classes</a:t>
            </a:r>
          </a:p>
          <a:p>
            <a:r>
              <a:t>Origin label Count Interpretation</a:t>
            </a:r>
          </a:p>
          <a:p>
            <a:r>
              <a:t>Historical human 51,229 Fixed pre-2020 manuscripts; inference from source</a:t>
            </a:r>
          </a:p>
          <a:p>
            <a:r>
              <a:t>history.</a:t>
            </a:r>
          </a:p>
          <a:p>
            <a:r>
              <a:t>Possible mixed 2,810 Model-produced / edited manuscript sources; no</a:t>
            </a:r>
          </a:p>
          <a:p>
            <a:r>
              <a:t>per-formula attribution.</a:t>
            </a:r>
          </a:p>
          <a:p>
            <a:r>
              <a:t>Unknown 1,961 Library provenance does not establish who typed</a:t>
            </a:r>
          </a:p>
          <a:p>
            <a:r>
              <a:t>each formula.</a:t>
            </a:r>
          </a:p>
          <a:p>
            <a:r>
              <a:t>Fully AI generated 0 in main catalog Synthetic templates remain separate supplements.</a:t>
            </a:r>
          </a:p>
          <a:p>
            <a:r>
              <a:t>Fixed syntax-complexity score</a:t>
            </a:r>
          </a:p>
          <a:p>
            <a:r>
              <a:t>s = .40¯L + .20¯C + .15 ¯D + .15¯S + .10 ¯O, ¯z = min(z/z0, 2).</a:t>
            </a:r>
          </a:p>
          <a:p>
            <a:r>
              <a:t>L: lexeme length; C: command types; D: nesting; S: symbol types; O: operators.</a:t>
            </a:r>
          </a:p>
          <a:p>
            <a:r>
              <a:t>Normalizers: (60, 6, 3, 18, 12). Complex iff s ≥ .65.</a:t>
            </a:r>
          </a:p>
          <a:p>
            <a:r>
              <a:t>Class balance</a:t>
            </a:r>
          </a:p>
          <a:p>
            <a:r>
              <a:t>37,400 simple and 18,600 complex formulas. These are reproducible syntax strata, not</a:t>
            </a:r>
          </a:p>
          <a:p>
            <a:r>
              <a:t>theorem diﬀiculty levels.</a:t>
            </a:r>
          </a:p>
          <a:p>
            <a:r>
              <a:t>Department of Mathematics, Sun Yat-sen University Dataset October 10, 2026 13/42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Frozen Partitions and Generalization Protocol</a:t>
            </a:r>
          </a:p>
          <a:p>
            <a:r>
              <a:t>Partition / scenario Formulas Use</a:t>
            </a:r>
          </a:p>
          <a:p>
            <a:r>
              <a:t>v6 train / dev 36,615 / 7,693 Source-separated pools; active scenario</a:t>
            </a:r>
          </a:p>
          <a:p>
            <a:r>
              <a:t>subsets below.</a:t>
            </a:r>
          </a:p>
          <a:p>
            <a:r>
              <a:t>v6 new-paper test 3,465 Previously exposed; regression check only.</a:t>
            </a:r>
          </a:p>
          <a:p>
            <a:r>
              <a:t>v7 new-paper / extreme 3,933 / 1,961 Previously exposed; regression and domain</a:t>
            </a:r>
          </a:p>
          <a:p>
            <a:r>
              <a:t>checks.</a:t>
            </a:r>
          </a:p>
          <a:p>
            <a:r>
              <a:t>v8 new-paper / extreme 4,294 / 1,428 Final sealed source test, scored after model</a:t>
            </a:r>
          </a:p>
          <a:p>
            <a:r>
              <a:t>freeze.</a:t>
            </a:r>
          </a:p>
          <a:p>
            <a:r>
              <a:t>Synthetic / long-input stress 521 Explicit stress diagnostics, outside the</a:t>
            </a:r>
          </a:p>
          <a:p>
            <a:r>
              <a:t>natural catalog.</a:t>
            </a:r>
          </a:p>
          <a:p>
            <a:r>
              <a:t>Broad: fit 30,100; auxiliary training/reward pool 512; dev 965.</a:t>
            </a:r>
          </a:p>
          <a:p>
            <a:r>
              <a:t>Specialized: fit 8,124; auxiliary pool 512; dev 249. Target and adjacent source</a:t>
            </a:r>
          </a:p>
          <a:p>
            <a:r>
              <a:t>categories excluded.</a:t>
            </a:r>
          </a:p>
          <a:p>
            <a:r>
              <a:t>Extreme subsets overlap their parent test. They are not additional independent</a:t>
            </a:r>
          </a:p>
          <a:p>
            <a:r>
              <a:t>samples.</a:t>
            </a:r>
          </a:p>
          <a:p>
            <a:r>
              <a:t>Do not train on the whole catalog</a:t>
            </a:r>
          </a:p>
          <a:p>
            <a:r>
              <a:t>56,000 is an organized library size. Its ID-only split manifests preserve the training/test</a:t>
            </a:r>
          </a:p>
          <a:p>
            <a:r>
              <a:t>boundary.</a:t>
            </a:r>
          </a:p>
          <a:p>
            <a:r>
              <a:t>Department of Mathematics, Sun Yat-sen University Dataset October 10, 2026 14/42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Corpus Composition and Coverage</a:t>
            </a:r>
          </a:p>
          <a:p>
            <a:r>
              <a:t>0 5000 10000 15000 20000</a:t>
            </a:r>
          </a:p>
          <a:p>
            <a:r>
              <a:t>Formula count</a:t>
            </a:r>
          </a:p>
          <a:p>
            <a:r>
              <a:t>Analysis</a:t>
            </a:r>
          </a:p>
          <a:p>
            <a:r>
              <a:t>Geometry / topology</a:t>
            </a:r>
          </a:p>
          <a:p>
            <a:r>
              <a:t>Combinatorics</a:t>
            </a:r>
          </a:p>
          <a:p>
            <a:r>
              <a:t>Algebra</a:t>
            </a:r>
          </a:p>
          <a:p>
            <a:r>
              <a:t>Number theory</a:t>
            </a:r>
          </a:p>
          <a:p>
            <a:r>
              <a:t>Math. physics</a:t>
            </a:r>
          </a:p>
          <a:p>
            <a:r>
              <a:t>Optimization</a:t>
            </a:r>
          </a:p>
          <a:p>
            <a:r>
              <a:t>Probability</a:t>
            </a:r>
          </a:p>
          <a:p>
            <a:r>
              <a:t>Statistics</a:t>
            </a:r>
          </a:p>
          <a:p>
            <a:r>
              <a:t>Logic</a:t>
            </a:r>
          </a:p>
          <a:p>
            <a:r>
              <a:t>PDE</a:t>
            </a:r>
          </a:p>
          <a:p>
            <a:r>
              <a:t>ODE</a:t>
            </a:r>
          </a:p>
          <a:p>
            <a:r>
              <a:t>Linear algebra</a:t>
            </a:r>
          </a:p>
          <a:p>
            <a:r>
              <a:t>20,233</a:t>
            </a:r>
          </a:p>
          <a:p>
            <a:r>
              <a:t>9,135</a:t>
            </a:r>
          </a:p>
          <a:p>
            <a:r>
              <a:t>5,563</a:t>
            </a:r>
          </a:p>
          <a:p>
            <a:r>
              <a:t>4,431</a:t>
            </a:r>
          </a:p>
          <a:p>
            <a:r>
              <a:t>4,273</a:t>
            </a:r>
          </a:p>
          <a:p>
            <a:r>
              <a:t>3,850</a:t>
            </a:r>
          </a:p>
          <a:p>
            <a:r>
              <a:t>3,211</a:t>
            </a:r>
          </a:p>
          <a:p>
            <a:r>
              <a:t>3,171</a:t>
            </a:r>
          </a:p>
          <a:p>
            <a:r>
              <a:t>1,056</a:t>
            </a:r>
          </a:p>
          <a:p>
            <a:r>
              <a:t>662</a:t>
            </a:r>
          </a:p>
          <a:p>
            <a:r>
              <a:t>356</a:t>
            </a:r>
          </a:p>
          <a:p>
            <a:r>
              <a:t>46</a:t>
            </a:r>
          </a:p>
          <a:p>
            <a:r>
              <a:t>13</a:t>
            </a:r>
          </a:p>
          <a:p>
            <a:r>
              <a:t>(a) Domains and syntax complexity</a:t>
            </a:r>
          </a:p>
          <a:p>
            <a:r>
              <a:t>Simple</a:t>
            </a:r>
          </a:p>
          <a:p>
            <a:r>
              <a:t>Complex</a:t>
            </a:r>
          </a:p>
          <a:p>
            <a:r>
              <a:t>0 20000 40000 60000</a:t>
            </a:r>
          </a:p>
          <a:p>
            <a:r>
              <a:t>Formula count</a:t>
            </a:r>
          </a:p>
          <a:p>
            <a:r>
              <a:t>Historical human</a:t>
            </a:r>
          </a:p>
          <a:p>
            <a:r>
              <a:t>Possible mixed</a:t>
            </a:r>
          </a:p>
          <a:p>
            <a:r>
              <a:t>Unknown</a:t>
            </a:r>
          </a:p>
          <a:p>
            <a:r>
              <a:t>51,229</a:t>
            </a:r>
          </a:p>
          <a:p>
            <a:r>
              <a:t>2,810</a:t>
            </a:r>
          </a:p>
          <a:p>
            <a:r>
              <a:t>1,961</a:t>
            </a:r>
          </a:p>
          <a:p>
            <a:r>
              <a:t>(b) Source provenance</a:t>
            </a:r>
          </a:p>
          <a:p>
            <a:r>
              <a:t>What the composition implies</a:t>
            </a:r>
          </a:p>
          <a:p>
            <a:r>
              <a:t>Analysis and geometry dominate. PDE, ODE and linear algebra are sparse. Report</a:t>
            </a:r>
          </a:p>
          <a:p>
            <a:r>
              <a:t>paper/domain/complexity strata and avoid interpreting an overall average as uniform</a:t>
            </a:r>
          </a:p>
          <a:p>
            <a:r>
              <a:t>mathematical coverage.</a:t>
            </a:r>
          </a:p>
          <a:p>
            <a:r>
              <a:t>Department of Mathematics, Sun Yat-sen University Dataset October 10, 2026 15/42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Route 1: Learning a Mathematical Lexical Alphabet</a:t>
            </a:r>
          </a:p>
          <a:p>
            <a:r>
              <a:t>Training alphabet</a:t>
            </a:r>
          </a:p>
          <a:p>
            <a:r>
              <a:t>A = {all 256 bytes } ∪ Top384{observed complete commands / Unicode units }.</a:t>
            </a:r>
          </a:p>
          <a:p>
            <a:r>
              <a:t>Atoms are derived from fit records only, ranked by frequency with deterministic tie rules.</a:t>
            </a:r>
          </a:p>
          <a:p>
            <a:r>
              <a:t>The actual primitive counts are 596 (broad) and 495 (specialized).</a:t>
            </a:r>
          </a:p>
          <a:p>
            <a:r>
              <a:t>Stage Implementation Budget accounting</a:t>
            </a:r>
          </a:p>
          <a:p>
            <a:r>
              <a:t>Reversible codec Map observed lexical units to</a:t>
            </a:r>
          </a:p>
          <a:p>
            <a:r>
              <a:t>private-use symbols.</a:t>
            </a:r>
          </a:p>
          <a:p>
            <a:r>
              <a:t>One primitive ID per atom; unknown</a:t>
            </a:r>
          </a:p>
          <a:p>
            <a:r>
              <a:t>strings retain byte coverage.</a:t>
            </a:r>
          </a:p>
          <a:p>
            <a:r>
              <a:t>Vocabulary</a:t>
            </a:r>
          </a:p>
          <a:p>
            <a:r>
              <a:t>training</a:t>
            </a:r>
          </a:p>
          <a:p>
            <a:r>
              <a:t>Original HF BPE on fit + the</a:t>
            </a:r>
          </a:p>
          <a:p>
            <a:r>
              <a:t>allowed 512-record auxiliary pool.</a:t>
            </a:r>
          </a:p>
          <a:p>
            <a:r>
              <a:t>Total IDs capped at 1,024 or 2,048.</a:t>
            </a:r>
          </a:p>
          <a:p>
            <a:r>
              <a:t>Inference Native lexical codec, then original</a:t>
            </a:r>
          </a:p>
          <a:p>
            <a:r>
              <a:t>Rust BPE.</a:t>
            </a:r>
          </a:p>
          <a:p>
            <a:r>
              <a:t>No AST path search and no policy</a:t>
            </a:r>
          </a:p>
          <a:p>
            <a:r>
              <a:t>network.</a:t>
            </a:r>
          </a:p>
          <a:p>
            <a:r>
              <a:t>Why this route remains</a:t>
            </a:r>
          </a:p>
          <a:p>
            <a:r>
              <a:t>It is the simple, fast mathematical reference against which extra structural machinery</a:t>
            </a:r>
          </a:p>
          <a:p>
            <a:r>
              <a:t>must justify itself. No manually enumerated command vocabulary is required.</a:t>
            </a:r>
          </a:p>
          <a:p>
            <a:r>
              <a:t>Sennrich, Haddow and Birch (2016) ; Bai et al. (2026)</a:t>
            </a:r>
          </a:p>
          <a:p>
            <a:r>
              <a:t>Department of Mathematics, Sun Yat-sen University Math-Atom BPE October 10, 2026 16/42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Route 1: Exact Source Fidelity and Its Limits</a:t>
            </a:r>
          </a:p>
          <a:p>
            <a:r>
              <a:t>Raw-string contract</a:t>
            </a:r>
          </a:p>
          <a:p>
            <a:r>
              <a:t>For every evaluated x, decode(encode(x)) = x. The ordered token byte payloads also</a:t>
            </a:r>
          </a:p>
          <a:p>
            <a:r>
              <a:t>concatenate to UTF8(x) exactly. No whitespace normalization is permitted.</a:t>
            </a:r>
          </a:p>
          <a:p>
            <a:r>
              <a:t>Case Behavior What is not guaranteed</a:t>
            </a:r>
          </a:p>
          <a:p>
            <a:r>
              <a:t>Seen command /</a:t>
            </a:r>
          </a:p>
          <a:p>
            <a:r>
              <a:t>Unicode atom</a:t>
            </a:r>
          </a:p>
          <a:p>
            <a:r>
              <a:t>Codec retains the complete observed</a:t>
            </a:r>
          </a:p>
          <a:p>
            <a:r>
              <a:t>unit.</a:t>
            </a:r>
          </a:p>
          <a:p>
            <a:r>
              <a:t>A larger token can still span an</a:t>
            </a:r>
          </a:p>
          <a:p>
            <a:r>
              <a:t>argument boundary.</a:t>
            </a:r>
          </a:p>
          <a:p>
            <a:r>
              <a:t>Unseen command Explicit byte coverage; no</a:t>
            </a:r>
          </a:p>
          <a:p>
            <a:r>
              <a:t>unknown-token deletion.</a:t>
            </a:r>
          </a:p>
          <a:p>
            <a:r>
              <a:t>Every novel command need not be a</a:t>
            </a:r>
          </a:p>
          <a:p>
            <a:r>
              <a:t>single token.</a:t>
            </a:r>
          </a:p>
          <a:p>
            <a:r>
              <a:t>Spacing / multiline</a:t>
            </a:r>
          </a:p>
          <a:p>
            <a:r>
              <a:t>source</a:t>
            </a:r>
          </a:p>
          <a:p>
            <a:r>
              <a:t>Bytes are preserved exactly. Layout variants need not receive</a:t>
            </a:r>
          </a:p>
          <a:p>
            <a:r>
              <a:t>identical token sequences.</a:t>
            </a:r>
          </a:p>
          <a:p>
            <a:r>
              <a:t>Numbers /</a:t>
            </a:r>
          </a:p>
          <a:p>
            <a:r>
              <a:t>identifiers</a:t>
            </a:r>
          </a:p>
          <a:p>
            <a:r>
              <a:t>BPE learns recurrent sequences. Numeric magnitude is not encoded</a:t>
            </a:r>
          </a:p>
          <a:p>
            <a:r>
              <a:t>continuously.</a:t>
            </a:r>
          </a:p>
          <a:p>
            <a:r>
              <a:t>Interpretation</a:t>
            </a:r>
          </a:p>
          <a:p>
            <a:r>
              <a:t>High command integrity reflects observed alphabet coverage, not universal LaTeX</a:t>
            </a:r>
          </a:p>
          <a:p>
            <a:r>
              <a:t>grammar coverage or a learned theorem representation.</a:t>
            </a:r>
          </a:p>
          <a:p>
            <a:r>
              <a:t>Golkar et al. (2023) ; Jung et al. (2024)</a:t>
            </a:r>
          </a:p>
          <a:p>
            <a:r>
              <a:t>Department of Mathematics, Sun Yat-sen University Math-Atom BPE October 10, 2026 17/42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Route 2: Source Structure as a Segmentation Cost</a:t>
            </a:r>
          </a:p>
          <a:p>
            <a:r>
              <a:t>Same vocabulary, different path</a:t>
            </a:r>
          </a:p>
          <a:p>
            <a:r>
              <a:t>An edge (a, b) matches xa:b ∈ V at permitted lexical endpoints. The restricted parser</a:t>
            </a:r>
          </a:p>
          <a:p>
            <a:r>
              <a:t>supplies source spans and matched brace-content endpoints.</a:t>
            </a:r>
          </a:p>
          <a:p>
            <a:r>
              <a:t>Additive objective</a:t>
            </a:r>
          </a:p>
          <a:p>
            <a:r>
              <a:t>z∗ = arg min</a:t>
            </a:r>
          </a:p>
          <a:p>
            <a:r>
              <a:t>z∈P(x,V)</a:t>
            </a:r>
          </a:p>
          <a:p>
            <a:r>
              <a:t>[</a:t>
            </a:r>
          </a:p>
          <a:p>
            <a:r>
              <a:t>|z| + λ</a:t>
            </a:r>
          </a:p>
          <a:p>
            <a:r>
              <a:t>∑</a:t>
            </a:r>
          </a:p>
          <a:p>
            <a:r>
              <a:t>e∈z</a:t>
            </a:r>
          </a:p>
          <a:p>
            <a:r>
              <a:t>cT(e) + µ</a:t>
            </a:r>
          </a:p>
          <a:p>
            <a:r>
              <a:t>∑</a:t>
            </a:r>
          </a:p>
          <a:p>
            <a:r>
              <a:t>e∈z</a:t>
            </a:r>
          </a:p>
          <a:p>
            <a:r>
              <a:t>cB(e)</a:t>
            </a:r>
          </a:p>
          <a:p>
            <a:r>
              <a:t>]</a:t>
            </a:r>
          </a:p>
          <a:p>
            <a:r>
              <a:t>.</a:t>
            </a:r>
          </a:p>
          <a:p>
            <a:r>
              <a:t>cT: token partially crosses a native source span.</a:t>
            </a:r>
          </a:p>
          <a:p>
            <a:r>
              <a:t>cB: number of brace-content endpoints strictly inside the token.</a:t>
            </a:r>
          </a:p>
          <a:p>
            <a:r>
              <a:t>Development selection: λ = .25, µ = .30.</a:t>
            </a:r>
          </a:p>
          <a:p>
            <a:r>
              <a:t>A source-tree method</a:t>
            </a:r>
          </a:p>
          <a:p>
            <a:r>
              <a:t>The parser is restricted and falls back to source syntax. It is not a full TeX interpreter or</a:t>
            </a:r>
          </a:p>
          <a:p>
            <a:r>
              <a:t>a semantic operator tree for arbitrary mathematics.</a:t>
            </a:r>
          </a:p>
          <a:p>
            <a:r>
              <a:t>Schmidt et al. (2024) ; Scarlatos and Lan (2023)</a:t>
            </a:r>
          </a:p>
          <a:p>
            <a:r>
              <a:t>Department of Mathematics, Sun Yat-sen University Boundary AST October 10, 2026 18/42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Route 2: Exact Dynamic Programming on a Fixed Graph</a:t>
            </a:r>
          </a:p>
          <a:p>
            <a:r>
              <a:t>Backward recurrence</a:t>
            </a:r>
          </a:p>
          <a:p>
            <a:r>
              <a:t>D[n] = 0 , D[a] = min</a:t>
            </a:r>
          </a:p>
          <a:p>
            <a:r>
              <a:t>(a,b)∈E</a:t>
            </a:r>
          </a:p>
          <a:p>
            <a:r>
              <a:t>{1 + λcT(a, b) + µcB(a, b) + D[b]}.</a:t>
            </a:r>
          </a:p>
          <a:p>
            <a:r>
              <a:t>A byte trie enumerates matching dictionary edges. A stored best endpoint reconstructs</a:t>
            </a:r>
          </a:p>
          <a:p>
            <a:r>
              <a:t>the token sequence. This is exact for the specified legal graph and additive objective.</a:t>
            </a:r>
          </a:p>
          <a:p>
            <a:r>
              <a:t>Design Mechanism Reason</a:t>
            </a:r>
          </a:p>
          <a:p>
            <a:r>
              <a:t>Lexical mask Suppress cuts inside covered</a:t>
            </a:r>
          </a:p>
          <a:p>
            <a:r>
              <a:t>commands / codepoints.</a:t>
            </a:r>
          </a:p>
          <a:p>
            <a:r>
              <a:t>Keep complete observed primitive</a:t>
            </a:r>
          </a:p>
          <a:p>
            <a:r>
              <a:t>units.</a:t>
            </a:r>
          </a:p>
          <a:p>
            <a:r>
              <a:t>Tree cost Endpoint sweeps detect partial span</a:t>
            </a:r>
          </a:p>
          <a:p>
            <a:r>
              <a:t>crossings.</a:t>
            </a:r>
          </a:p>
          <a:p>
            <a:r>
              <a:t>Avoid testing every token against</a:t>
            </a:r>
          </a:p>
          <a:p>
            <a:r>
              <a:t>every span.</a:t>
            </a:r>
          </a:p>
          <a:p>
            <a:r>
              <a:t>Boundary cost Prefix sums count hidden</a:t>
            </a:r>
          </a:p>
          <a:p>
            <a:r>
              <a:t>brace-content endpoints.</a:t>
            </a:r>
          </a:p>
          <a:p>
            <a:r>
              <a:t>Recover argument boundaries without</a:t>
            </a:r>
          </a:p>
          <a:p>
            <a:r>
              <a:t>hard blocking all compression.</a:t>
            </a:r>
          </a:p>
          <a:p>
            <a:r>
              <a:t>Scope of optimality</a:t>
            </a:r>
          </a:p>
          <a:p>
            <a:r>
              <a:t>The result is not globally optimal vocabulary learning, and a low source-tree cost does</a:t>
            </a:r>
          </a:p>
          <a:p>
            <a:r>
              <a:t>not imply low task loss. The shortest-path algorithm itself is established.</a:t>
            </a:r>
          </a:p>
          <a:p>
            <a:r>
              <a:t>Schmidt et al. (2024) ; Uzan et al. (2024)</a:t>
            </a:r>
          </a:p>
          <a:p>
            <a:r>
              <a:t>Department of Mathematics, Sun Yat-sen University Boundary AST October 10, 2026 19/42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Route 2: Development Selection and Runtime Cost</a:t>
            </a:r>
          </a:p>
          <a:p>
            <a:r>
              <a:t>Setting Values / behavior</a:t>
            </a:r>
          </a:p>
          <a:p>
            <a:r>
              <a:t>Prespecified grid λ ∈ {0, .25, .75}; µ ∈ {0, .05, .15, .30}: 12 candidates.</a:t>
            </a:r>
          </a:p>
          <a:p>
            <a:r>
              <a:t>Selection criterion Common old-dev utility plus .04 times missing parameter-boundary</a:t>
            </a:r>
          </a:p>
          <a:p>
            <a:r>
              <a:t>recall.</a:t>
            </a:r>
          </a:p>
          <a:p>
            <a:r>
              <a:t>Feasibility guard Compression regression at most 1%; boundary recall loss at most 1</a:t>
            </a:r>
          </a:p>
          <a:p>
            <a:r>
              <a:t>percentage point vs. math-atom BPE.</a:t>
            </a:r>
          </a:p>
          <a:p>
            <a:r>
              <a:t>Selected setting All four budget/scenario conditions selected .25 / .30 before v8</a:t>
            </a:r>
          </a:p>
          <a:p>
            <a:r>
              <a:t>scoring.</a:t>
            </a:r>
          </a:p>
          <a:p>
            <a:r>
              <a:t>Public encoder C frontend + trie + DP; all source parsing is included in throughput.</a:t>
            </a:r>
          </a:p>
          <a:p>
            <a:r>
              <a:t>Engineering and trade-offs</a:t>
            </a:r>
          </a:p>
          <a:p>
            <a:r>
              <a:t>Typical lattice work scales with input bytes, maximum piece length and source spans;</a:t>
            </a:r>
          </a:p>
          <a:p>
            <a:r>
              <a:t>the dense byte trie uses more memory than a compact sparse trie.</a:t>
            </a:r>
          </a:p>
          <a:p>
            <a:r>
              <a:t>Compared with the older length-first path, the boundary term costs some speed but</a:t>
            </a:r>
          </a:p>
          <a:p>
            <a:r>
              <a:t>restores much of the parameter-boundary recall.</a:t>
            </a:r>
          </a:p>
          <a:p>
            <a:r>
              <a:t>Deployment contract</a:t>
            </a:r>
          </a:p>
          <a:p>
            <a:r>
              <a:t>A frozen dictionary and weights define deterministic IDs. Unknown lexical units use byte</a:t>
            </a:r>
          </a:p>
          <a:p>
            <a:r>
              <a:t>coverage; supported source parsing has an explicit one-million-byte input limit.</a:t>
            </a:r>
          </a:p>
          <a:p>
            <a:r>
              <a:t>Department of Mathematics, Sun Yat-sen University Boundary AST October 10, 2026 20/42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Exactly Two Routes and Five Baselines</a:t>
            </a:r>
          </a:p>
          <a:p>
            <a:r>
              <a:t>System Vocabulary / training Role</a:t>
            </a:r>
          </a:p>
          <a:p>
            <a:r>
              <a:t>Boundary AST (ours) Common math-atom BPE vocabulary; fixed</a:t>
            </a:r>
          </a:p>
          <a:p>
            <a:r>
              <a:t>source-path objective.</a:t>
            </a:r>
          </a:p>
          <a:p>
            <a:r>
              <a:t>Structure-aware route.</a:t>
            </a:r>
          </a:p>
          <a:p>
            <a:r>
              <a:t>Math-atom BPE (ours) Fit-derived alphabet; original BPE on</a:t>
            </a:r>
          </a:p>
          <a:p>
            <a:r>
              <a:t>allowed data.</a:t>
            </a:r>
          </a:p>
          <a:p>
            <a:r>
              <a:t>Lexical domain route.</a:t>
            </a:r>
          </a:p>
          <a:p>
            <a:r>
              <a:t>Byte BPE Original HF byte BPE; same allowed</a:t>
            </a:r>
          </a:p>
          <a:p>
            <a:r>
              <a:t>training records.</a:t>
            </a:r>
          </a:p>
          <a:p>
            <a:r>
              <a:t>Equal-capacity classical</a:t>
            </a:r>
          </a:p>
          <a:p>
            <a:r>
              <a:t>control.</a:t>
            </a:r>
          </a:p>
          <a:p>
            <a:r>
              <a:t>SP Unigram Original SentencePiece; identity</a:t>
            </a:r>
          </a:p>
          <a:p>
            <a:r>
              <a:t>normalization, byte fallback.</a:t>
            </a:r>
          </a:p>
          <a:p>
            <a:r>
              <a:t>Equal-capacity</a:t>
            </a:r>
          </a:p>
          <a:p>
            <a:r>
              <a:t>probabilistic control.</a:t>
            </a:r>
          </a:p>
          <a:p>
            <a:r>
              <a:t>Qwen2.5 Unmodified full oﬀicial vocabulary. General deployment</a:t>
            </a:r>
          </a:p>
          <a:p>
            <a:r>
              <a:t>reference.</a:t>
            </a:r>
          </a:p>
          <a:p>
            <a:r>
              <a:t>Llama 3 Unmodified Meta reference tokenizer. General deployment</a:t>
            </a:r>
          </a:p>
          <a:p>
            <a:r>
              <a:t>reference.</a:t>
            </a:r>
          </a:p>
          <a:p>
            <a:r>
              <a:t>o200k Original tiktoken encoding. General deployment</a:t>
            </a:r>
          </a:p>
          <a:p>
            <a:r>
              <a:t>reference.</a:t>
            </a:r>
          </a:p>
          <a:p>
            <a:r>
              <a:t>Current repository contract</a:t>
            </a:r>
          </a:p>
          <a:p>
            <a:r>
              <a:t>Seven method names, 19 frozen configurations. Other models and experiments live only</a:t>
            </a:r>
          </a:p>
          <a:p>
            <a:r>
              <a:t>in the historical archive and cannot be selected by the active loader.</a:t>
            </a:r>
          </a:p>
          <a:p>
            <a:r>
              <a:t>Department of Mathematics, Sun Yat-sen University Experimental Design October 10, 2026 21/42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Inputs, Training Information and Timing</a:t>
            </a:r>
          </a:p>
          <a:p>
            <a:r>
              <a:t>Axis Controlled implementation</a:t>
            </a:r>
          </a:p>
          <a:p>
            <a:r>
              <a:t>Vocabulary budgets 1,024 / 2,048 for trained methods; all primitive and reserved IDs</a:t>
            </a:r>
          </a:p>
          <a:p>
            <a:r>
              <a:t>count.</a:t>
            </a:r>
          </a:p>
          <a:p>
            <a:r>
              <a:t>Allowed data Identical scenario fit/auxiliary pools; generic trainers receive</a:t>
            </a:r>
          </a:p>
          <a:p>
            <a:r>
              <a:t>their union.</a:t>
            </a:r>
          </a:p>
          <a:p>
            <a:r>
              <a:t>Test input Original accepted raw strings; no per-model filtering, truncation</a:t>
            </a:r>
          </a:p>
          <a:p>
            <a:r>
              <a:t>or normalization.</a:t>
            </a:r>
          </a:p>
          <a:p>
            <a:r>
              <a:t>Probability calibration Same fit IDs for each scenario; mature models recalibrated for</a:t>
            </a:r>
          </a:p>
          <a:p>
            <a:r>
              <a:t>broad and specialized separately.</a:t>
            </a:r>
          </a:p>
          <a:p>
            <a:r>
              <a:t>Timing Seven shuffled/interleaved full public encode/decode runs;</a:t>
            </a:r>
          </a:p>
          <a:p>
            <a:r>
              <a:t>median throughput; caches cleared.</a:t>
            </a:r>
          </a:p>
          <a:p>
            <a:r>
              <a:t>Statistical unit Paper groups, not individual formulas copied across seeds.</a:t>
            </a:r>
          </a:p>
          <a:p>
            <a:r>
              <a:t>Remaining asymmetry</a:t>
            </a:r>
          </a:p>
          <a:p>
            <a:r>
              <a:t>Historical tuning counts and training wall time differ. Mature vocabulary budgets differ.</a:t>
            </a:r>
          </a:p>
          <a:p>
            <a:r>
              <a:t>These differences are disclosed rather than described as fully equal compute.</a:t>
            </a:r>
          </a:p>
          <a:p>
            <a:r>
              <a:t>Department of Mathematics, Sun Yat-sen University Experimental Design October 10, 2026 22/42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Eﬀiciency, Fidelity and Information Measures</a:t>
            </a:r>
          </a:p>
          <a:p>
            <a:r>
              <a:t>Metric Definition / interpretation</a:t>
            </a:r>
          </a:p>
          <a:p>
            <a:r>
              <a:t>Paper-macro tokens/byte</a:t>
            </a:r>
          </a:p>
          <a:p>
            <a:r>
              <a:t>↓</a:t>
            </a:r>
          </a:p>
          <a:p>
            <a:r>
              <a:t>1</a:t>
            </a:r>
          </a:p>
          <a:p>
            <a:r>
              <a:t>P</a:t>
            </a:r>
          </a:p>
          <a:p>
            <a:r>
              <a:t>∑</a:t>
            </a:r>
          </a:p>
          <a:p>
            <a:r>
              <a:t>p Tp/Bp; prevents long papers from dominating the primary</a:t>
            </a:r>
          </a:p>
          <a:p>
            <a:r>
              <a:t>compression average.</a:t>
            </a:r>
          </a:p>
          <a:p>
            <a:r>
              <a:t>Length distribution Tokens/formula and 50th/95th/99th percentiles; inspect long-tail</a:t>
            </a:r>
          </a:p>
          <a:p>
            <a:r>
              <a:t>inflation.</a:t>
            </a:r>
          </a:p>
          <a:p>
            <a:r>
              <a:t>Exact fidelity Both decoded strings and concatenated raw token payloads equal</a:t>
            </a:r>
          </a:p>
          <a:p>
            <a:r>
              <a:t>the source.</a:t>
            </a:r>
          </a:p>
          <a:p>
            <a:r>
              <a:t>Encode / decode speed Raw UTF-8 MiB/s through the complete public interface.</a:t>
            </a:r>
          </a:p>
          <a:p>
            <a:r>
              <a:t>Fit unigram BPB ↓ −B−1 ∑</a:t>
            </a:r>
          </a:p>
          <a:p>
            <a:r>
              <a:t>i log2[(ci + α)/(N + α|V|)]; fit-only count model, not LM</a:t>
            </a:r>
          </a:p>
          <a:p>
            <a:r>
              <a:t>perplexity.</a:t>
            </a:r>
          </a:p>
          <a:p>
            <a:r>
              <a:t>Information / utilization Renyi eﬀiciency at α = 1, 2, 2.5, 3; used IDs / actual vocabulary.</a:t>
            </a:r>
          </a:p>
          <a:p>
            <a:r>
              <a:t>Sensitivity</a:t>
            </a:r>
          </a:p>
          <a:p>
            <a:r>
              <a:t>Report smoothing at .01 / .1 / .5 / 1. Information eﬀiciency and token count measure</a:t>
            </a:r>
          </a:p>
          <a:p>
            <a:r>
              <a:t>different properties; neither alone proves downstream quality.</a:t>
            </a:r>
          </a:p>
          <a:p>
            <a:r>
              <a:t>Uzan et al. (2024) ; Meister (2026)</a:t>
            </a:r>
          </a:p>
          <a:p>
            <a:r>
              <a:t>Department of Mathematics, Sun Yat-sen University Evaluation Metrics October 10, 2026 23/42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Structure, Integrity and Robustness</a:t>
            </a:r>
          </a:p>
          <a:p>
            <a:r>
              <a:t>Metric Definition Evidence boundary</a:t>
            </a:r>
          </a:p>
          <a:p>
            <a:r>
              <a:t>Command / number</a:t>
            </a:r>
          </a:p>
          <a:p>
            <a:r>
              <a:t>integrity</a:t>
            </a:r>
          </a:p>
          <a:p>
            <a:r>
              <a:t>Fraction of reference lexemes with</a:t>
            </a:r>
          </a:p>
          <a:p>
            <a:r>
              <a:t>no internal token cut.</a:t>
            </a:r>
          </a:p>
          <a:p>
            <a:r>
              <a:t>Does not require isolation as a</a:t>
            </a:r>
          </a:p>
          <a:p>
            <a:r>
              <a:t>standalone token.</a:t>
            </a:r>
          </a:p>
          <a:p>
            <a:r>
              <a:t>Lexical boundary</a:t>
            </a:r>
          </a:p>
          <a:p>
            <a:r>
              <a:t>P/R/F1</a:t>
            </a:r>
          </a:p>
          <a:p>
            <a:r>
              <a:t>Token endpoints against reference</a:t>
            </a:r>
          </a:p>
          <a:p>
            <a:r>
              <a:t>lexical endpoints.</a:t>
            </a:r>
          </a:p>
          <a:p>
            <a:r>
              <a:t>A byte tokenizer can obtain high</a:t>
            </a:r>
          </a:p>
          <a:p>
            <a:r>
              <a:t>recall.</a:t>
            </a:r>
          </a:p>
          <a:p>
            <a:r>
              <a:t>KaTeX crossing rate Tokens partially overlapping a</a:t>
            </a:r>
          </a:p>
          <a:p>
            <a:r>
              <a:t>reference syntax span / all tokens.</a:t>
            </a:r>
          </a:p>
          <a:p>
            <a:r>
              <a:t>A whole-formula token can obtain</a:t>
            </a:r>
          </a:p>
          <a:p>
            <a:r>
              <a:t>low crossing.</a:t>
            </a:r>
          </a:p>
          <a:p>
            <a:r>
              <a:t>Parameter-boundary</a:t>
            </a:r>
          </a:p>
          <a:p>
            <a:r>
              <a:t>recall</a:t>
            </a:r>
          </a:p>
          <a:p>
            <a:r>
              <a:t>pylatexenc group-content</a:t>
            </a:r>
          </a:p>
          <a:p>
            <a:r>
              <a:t>endpoints retained as token</a:t>
            </a:r>
          </a:p>
          <a:p>
            <a:r>
              <a:t>boundaries.</a:t>
            </a:r>
          </a:p>
          <a:p>
            <a:r>
              <a:t>Independent implementation;</a:t>
            </a:r>
          </a:p>
          <a:p>
            <a:r>
              <a:t>syntax proxy, not semantic gold.</a:t>
            </a:r>
          </a:p>
          <a:p>
            <a:r>
              <a:t>Robustness Layout token variation; local</a:t>
            </a:r>
          </a:p>
          <a:p>
            <a:r>
              <a:t>symbol edit effects outside a</a:t>
            </a:r>
          </a:p>
          <a:p>
            <a:r>
              <a:t>16-byte neighborhood.</a:t>
            </a:r>
          </a:p>
          <a:p>
            <a:r>
              <a:t>The local edit is not mathematical</a:t>
            </a:r>
          </a:p>
          <a:p>
            <a:r>
              <a:t>equivalence.</a:t>
            </a:r>
          </a:p>
          <a:p>
            <a:r>
              <a:t>Coverage is part of the result</a:t>
            </a:r>
          </a:p>
          <a:p>
            <a:r>
              <a:t>Unicode integrity, parser coverage and probe counts accompany the scores. No formula</a:t>
            </a:r>
          </a:p>
          <a:p>
            <a:r>
              <a:t>disappears from the common test merely because a diagnostic parser cannot measure it.</a:t>
            </a:r>
          </a:p>
          <a:p>
            <a:r>
              <a:t>Meister (2026) ; Jung et al. (2024)</a:t>
            </a:r>
          </a:p>
          <a:p>
            <a:r>
              <a:t>Department of Mathematics, Sun Yat-sen University Evaluation Metrics October 10, 2026 24/42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New Review Rounds of the Retained Release</a:t>
            </a:r>
          </a:p>
          <a:p>
            <a:r>
              <a:t>Round Checks actually executed Scope</a:t>
            </a:r>
          </a:p>
          <a:p>
            <a:r>
              <a:t>1. Data /</a:t>
            </a:r>
          </a:p>
          <a:p>
            <a:r>
              <a:t>provenance</a:t>
            </a:r>
          </a:p>
          <a:p>
            <a:r>
              <a:t>Reclassify every formula; verify file IDs, hash,</a:t>
            </a:r>
          </a:p>
          <a:p>
            <a:r>
              <a:t>license/origin rules and source-disjoint pools.</a:t>
            </a:r>
          </a:p>
          <a:p>
            <a:r>
              <a:t>56,000 catalog</a:t>
            </a:r>
          </a:p>
          <a:p>
            <a:r>
              <a:t>records.</a:t>
            </a:r>
          </a:p>
          <a:p>
            <a:r>
              <a:t>2. Public-encoder</a:t>
            </a:r>
          </a:p>
          <a:p>
            <a:r>
              <a:t>replay</a:t>
            </a:r>
          </a:p>
          <a:p>
            <a:r>
              <a:t>Reload every current model; reconstruct original</a:t>
            </a:r>
          </a:p>
          <a:p>
            <a:r>
              <a:t>payload; replay length, reference crossings and</a:t>
            </a:r>
          </a:p>
          <a:p>
            <a:r>
              <a:t>parameter boundaries.</a:t>
            </a:r>
          </a:p>
          <a:p>
            <a:r>
              <a:t>234,556 formula-result</a:t>
            </a:r>
          </a:p>
          <a:p>
            <a:r>
              <a:t>rows.</a:t>
            </a:r>
          </a:p>
          <a:p>
            <a:r>
              <a:t>3. Independent</a:t>
            </a:r>
          </a:p>
          <a:p>
            <a:r>
              <a:t>aggregation</a:t>
            </a:r>
          </a:p>
          <a:p>
            <a:r>
              <a:t>Recompute paper averages, integrity and</a:t>
            </a:r>
          </a:p>
          <a:p>
            <a:r>
              <a:t>fit-calibrated probability bits; check common</a:t>
            </a:r>
          </a:p>
          <a:p>
            <a:r>
              <a:t>dictionary and seven timing repeats.</a:t>
            </a:r>
          </a:p>
          <a:p>
            <a:r>
              <a:t>19 configurations, 109</a:t>
            </a:r>
          </a:p>
          <a:p>
            <a:r>
              <a:t>metric records.</a:t>
            </a:r>
          </a:p>
          <a:p>
            <a:r>
              <a:t>Status</a:t>
            </a:r>
          </a:p>
          <a:p>
            <a:r>
              <a:t>All three new reviews passed. The earlier v8 freeze/evaluation additionally passed eight</a:t>
            </a:r>
          </a:p>
          <a:p>
            <a:r>
              <a:t>protocol/result checks and 201 implementation tests.</a:t>
            </a:r>
          </a:p>
          <a:p>
            <a:r>
              <a:t>Reorganization integrity</a:t>
            </a:r>
          </a:p>
          <a:p>
            <a:r>
              <a:t>Selected checkpoints are byte-identical copies of the frozen v8 artifacts. Current results</a:t>
            </a:r>
          </a:p>
          <a:p>
            <a:r>
              <a:t>are the seven-method subset, with no new training or test-based parameter changes.</a:t>
            </a:r>
          </a:p>
          <a:p>
            <a:r>
              <a:t>Department of Mathematics, Sun Yat-sen University Experimental Audit October 10, 2026 25/42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New-Paper Results: 1,024-ID Trained Vocabulary</a:t>
            </a:r>
          </a:p>
          <a:p>
            <a:r>
              <a:t>Common test: 4,294 formulas from 27 new source papers.</a:t>
            </a:r>
          </a:p>
          <a:p>
            <a:r>
              <a:t>System T/B ↓ Cross% ↓ Scope% ↑ Cmd% ↑ Num% ↑ MiB/s ↑</a:t>
            </a:r>
          </a:p>
          <a:p>
            <a:r>
              <a:t>Boundary AST (ours) 0.3900 18.43 64.36 99.76 97.41 29.68</a:t>
            </a:r>
          </a:p>
          <a:p>
            <a:r>
              <a:t>Math-atom BPE (ours) 0.3943 19.26 62.83 99.76 97.41 10.20</a:t>
            </a:r>
          </a:p>
          <a:p>
            <a:r>
              <a:t>Byte BPE 0.4121 25.51 67.62 62.28 97.43 8.59</a:t>
            </a:r>
          </a:p>
          <a:p>
            <a:r>
              <a:t>SP Unigram 0.4912 22.34 68.64 2.49 98.08 23.42</a:t>
            </a:r>
          </a:p>
          <a:p>
            <a:r>
              <a:t>Qwen2.5 0.5318 21.62 84.76 2.16 97.41 3.14</a:t>
            </a:r>
          </a:p>
          <a:p>
            <a:r>
              <a:t>Llama 3 0.5279 21.74 84.76 2.16 99.28 8.94</a:t>
            </a:r>
          </a:p>
          <a:p>
            <a:r>
              <a:t>o200k 0.5246 22.24 84.91 2.19 99.28 14.32</a:t>
            </a:r>
          </a:p>
          <a:p>
            <a:r>
              <a:t>Reading the table</a:t>
            </a:r>
          </a:p>
          <a:p>
            <a:r>
              <a:t>T/B is paper-macro tokens per UTF-8 byte. Crossing and scope recall use different</a:t>
            </a:r>
          </a:p>
          <a:p>
            <a:r>
              <a:t>external syntax references; improving one does not imply improving the other.</a:t>
            </a:r>
          </a:p>
          <a:p>
            <a:r>
              <a:t>Comparison scope</a:t>
            </a:r>
          </a:p>
          <a:p>
            <a:r>
              <a:t>The two proposed systems share a dictionary. Byte BPE and Unigram share the ID</a:t>
            </a:r>
          </a:p>
          <a:p>
            <a:r>
              <a:t>budget and allowed data. Qwen2.5, Llama 3 and o200k retain their full vocabularies.</a:t>
            </a:r>
          </a:p>
          <a:p>
            <a:r>
              <a:t>Department of Mathematics, Sun Yat-sen University Results October 10, 2026 26/42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New-Paper Results: 2,048-ID Trained Vocabulary</a:t>
            </a:r>
          </a:p>
          <a:p>
            <a:r>
              <a:t>Common test: 4,294 formulas from 27 new source papers.</a:t>
            </a:r>
          </a:p>
          <a:p>
            <a:r>
              <a:t>System T/B ↓ Cross% ↓ Scope% ↑ Cmd% ↑ Num% ↑ MiB/s ↑</a:t>
            </a:r>
          </a:p>
          <a:p>
            <a:r>
              <a:t>Boundary AST (ours) 0.3296 24.17 53.87 99.76 97.89 28.65</a:t>
            </a:r>
          </a:p>
          <a:p>
            <a:r>
              <a:t>Math-atom BPE (ours) 0.3372 24.87 51.18 99.76 97.57 9.56</a:t>
            </a:r>
          </a:p>
          <a:p>
            <a:r>
              <a:t>Byte BPE 0.3504 31.46 59.79 74.75 97.61 8.81</a:t>
            </a:r>
          </a:p>
          <a:p>
            <a:r>
              <a:t>SP Unigram 0.4625 24.03 67.07 4.16 98.71 23.54</a:t>
            </a:r>
          </a:p>
          <a:p>
            <a:r>
              <a:t>Qwen2.5 0.5318 21.62 84.76 2.16 97.41 3.14</a:t>
            </a:r>
          </a:p>
          <a:p>
            <a:r>
              <a:t>Llama 3 0.5279 21.74 84.76 2.16 99.28 8.94</a:t>
            </a:r>
          </a:p>
          <a:p>
            <a:r>
              <a:t>o200k 0.5246 22.24 84.91 2.19 99.28 14.32</a:t>
            </a:r>
          </a:p>
          <a:p>
            <a:r>
              <a:t>Reading the table</a:t>
            </a:r>
          </a:p>
          <a:p>
            <a:r>
              <a:t>T/B is paper-macro tokens per UTF-8 byte. Crossing and scope recall use different</a:t>
            </a:r>
          </a:p>
          <a:p>
            <a:r>
              <a:t>external syntax references; improving one does not imply improving the other.</a:t>
            </a:r>
          </a:p>
          <a:p>
            <a:r>
              <a:t>Comparison scope</a:t>
            </a:r>
          </a:p>
          <a:p>
            <a:r>
              <a:t>The two proposed systems share a dictionary. Byte BPE and Unigram share the ID</a:t>
            </a:r>
          </a:p>
          <a:p>
            <a:r>
              <a:t>budget and allowed data. Qwen2.5, Llama 3 and o200k retain their full vocabularies.</a:t>
            </a:r>
          </a:p>
          <a:p>
            <a:r>
              <a:t>Department of Mathematics, Sun Yat-sen University Results October 10, 2026 27/42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Strict Source-Domain Generalization</a:t>
            </a:r>
          </a:p>
          <a:p>
            <a:r>
              <a:t>Common holdout: 1,428 formulas. Specialized training excludes target and adjacent</a:t>
            </a:r>
          </a:p>
          <a:p>
            <a:r>
              <a:t>source categories.</a:t>
            </a:r>
          </a:p>
          <a:p>
            <a:r>
              <a:t>System T/B: 1,024 T/B: 2,048 Scope%: 1,024 Scope%: 2,048</a:t>
            </a:r>
          </a:p>
          <a:p>
            <a:r>
              <a:t>Boundary AST (ours) 0.4372 0.4010 61.27 53.43</a:t>
            </a:r>
          </a:p>
          <a:p>
            <a:r>
              <a:t>Math-atom BPE (ours) 0.4470 0.4118 60.70 53.72</a:t>
            </a:r>
          </a:p>
          <a:p>
            <a:r>
              <a:t>Byte BPE 0.4726 0.4188 66.29 61.13</a:t>
            </a:r>
          </a:p>
          <a:p>
            <a:r>
              <a:t>SP Unigram 0.5325 0.5011 70.89 70.10</a:t>
            </a:r>
          </a:p>
          <a:p>
            <a:r>
              <a:t>Qwen2.5 0.5415 0.5415 86.87 86.87</a:t>
            </a:r>
          </a:p>
          <a:p>
            <a:r>
              <a:t>Llama 3 0.5353 0.5353 86.87 86.87</a:t>
            </a:r>
          </a:p>
          <a:p>
            <a:r>
              <a:t>o200k 0.5335 0.5335 86.63 86.63</a:t>
            </a:r>
          </a:p>
          <a:p>
            <a:r>
              <a:t>What generalizes</a:t>
            </a:r>
          </a:p>
          <a:p>
            <a:r>
              <a:t>Boundary AST compresses more than the same-dictionary BPE in both budgets. Scope</a:t>
            </a:r>
          </a:p>
          <a:p>
            <a:r>
              <a:t>recall changes by +0.57 pp / -0.28 pp; not every structural diagnostic improves.</a:t>
            </a:r>
          </a:p>
          <a:p>
            <a:r>
              <a:t>What remains uncertain</a:t>
            </a:r>
          </a:p>
          <a:p>
            <a:r>
              <a:t>Source categories are disjoint by construction, but mathematical concepts can overlap.</a:t>
            </a:r>
          </a:p>
          <a:p>
            <a:r>
              <a:t>Few source papers and uneven domains produce wide uncertainty intervals.</a:t>
            </a:r>
          </a:p>
          <a:p>
            <a:r>
              <a:t>Department of Mathematics, Sun Yat-sen University Results October 10, 2026 28/42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Compression Across Vocabulary Budgets</a:t>
            </a:r>
          </a:p>
          <a:p>
            <a:r>
              <a:t>1,024 2,048</a:t>
            </a:r>
          </a:p>
          <a:p>
            <a:r>
              <a:t>Trained vocabulary budget (IDs)</a:t>
            </a:r>
          </a:p>
          <a:p>
            <a:r>
              <a:t>0.30</a:t>
            </a:r>
          </a:p>
          <a:p>
            <a:r>
              <a:t>0.35</a:t>
            </a:r>
          </a:p>
          <a:p>
            <a:r>
              <a:t>0.40</a:t>
            </a:r>
          </a:p>
          <a:p>
            <a:r>
              <a:t>0.45</a:t>
            </a:r>
          </a:p>
          <a:p>
            <a:r>
              <a:t>0.50</a:t>
            </a:r>
          </a:p>
          <a:p>
            <a:r>
              <a:t>0.55</a:t>
            </a:r>
          </a:p>
          <a:p>
            <a:r>
              <a:t>0.60Paper-macro tokens / UTF-8 byte (lower is better)</a:t>
            </a:r>
          </a:p>
          <a:p>
            <a:r>
              <a:t>(a) New-paper test: 4,294 formulas</a:t>
            </a:r>
          </a:p>
          <a:p>
            <a:r>
              <a:t>1,024 2,048</a:t>
            </a:r>
          </a:p>
          <a:p>
            <a:r>
              <a:t>Trained vocabulary budget (IDs)</a:t>
            </a:r>
          </a:p>
          <a:p>
            <a:r>
              <a:t>0.30</a:t>
            </a:r>
          </a:p>
          <a:p>
            <a:r>
              <a:t>0.35</a:t>
            </a:r>
          </a:p>
          <a:p>
            <a:r>
              <a:t>0.40</a:t>
            </a:r>
          </a:p>
          <a:p>
            <a:r>
              <a:t>0.45</a:t>
            </a:r>
          </a:p>
          <a:p>
            <a:r>
              <a:t>0.50</a:t>
            </a:r>
          </a:p>
          <a:p>
            <a:r>
              <a:t>0.55</a:t>
            </a:r>
          </a:p>
          <a:p>
            <a:r>
              <a:t>0.60Paper-macro tokens / UTF-8 byte (lower is better)</a:t>
            </a:r>
          </a:p>
          <a:p>
            <a:r>
              <a:t>(b) Source-domain holdout: 1,428 formulas</a:t>
            </a:r>
          </a:p>
          <a:p>
            <a:r>
              <a:t>Boundary AST</a:t>
            </a:r>
          </a:p>
          <a:p>
            <a:r>
              <a:t>Math-atom BPE</a:t>
            </a:r>
          </a:p>
          <a:p>
            <a:r>
              <a:t>Byte BPE</a:t>
            </a:r>
          </a:p>
          <a:p>
            <a:r>
              <a:t>SP Unigram</a:t>
            </a:r>
          </a:p>
          <a:p>
            <a:r>
              <a:t>Qwen2.5</a:t>
            </a:r>
          </a:p>
          <a:p>
            <a:r>
              <a:t>Llama 3</a:t>
            </a:r>
          </a:p>
          <a:p>
            <a:r>
              <a:t>o200k</a:t>
            </a:r>
          </a:p>
          <a:p>
            <a:r>
              <a:t>Interpretation</a:t>
            </a:r>
          </a:p>
          <a:p>
            <a:r>
              <a:t>Solid lines: trained 1,024/2,048-ID systems. Dashed lines: fixed full-vocabulary general</a:t>
            </a:r>
          </a:p>
          <a:p>
            <a:r>
              <a:t>tokenizers. Lower is shorter; this is not a downstream-accuracy curve.</a:t>
            </a:r>
          </a:p>
          <a:p>
            <a:r>
              <a:t>Department of Mathematics, Sun Yat-sen University Results October 10, 2026 29/42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Runtime and Source-Tree Crossing</a:t>
            </a:r>
          </a:p>
          <a:p>
            <a:r>
              <a:t>2 5 10 20 40</a:t>
            </a:r>
          </a:p>
          <a:p>
            <a:r>
              <a:t>Full encode throughput (MiB/s; log scale)</a:t>
            </a:r>
          </a:p>
          <a:p>
            <a:r>
              <a:t>10</a:t>
            </a:r>
          </a:p>
          <a:p>
            <a:r>
              <a:t>15</a:t>
            </a:r>
          </a:p>
          <a:p>
            <a:r>
              <a:t>20</a:t>
            </a:r>
          </a:p>
          <a:p>
            <a:r>
              <a:t>25</a:t>
            </a:r>
          </a:p>
          <a:p>
            <a:r>
              <a:t>30</a:t>
            </a:r>
          </a:p>
          <a:p>
            <a:r>
              <a:t>35KaT eX partial-crossing tokens (%)</a:t>
            </a:r>
          </a:p>
          <a:p>
            <a:r>
              <a:t>Boundary AST</a:t>
            </a:r>
          </a:p>
          <a:p>
            <a:r>
              <a:t>Math-atom BPE</a:t>
            </a:r>
          </a:p>
          <a:p>
            <a:r>
              <a:t>Byte BPE</a:t>
            </a:r>
          </a:p>
          <a:p>
            <a:r>
              <a:t>SP Unigram</a:t>
            </a:r>
          </a:p>
          <a:p>
            <a:r>
              <a:t>Qwen2.5</a:t>
            </a:r>
          </a:p>
          <a:p>
            <a:r>
              <a:t>Llama 3</a:t>
            </a:r>
          </a:p>
          <a:p>
            <a:r>
              <a:t>o200k</a:t>
            </a:r>
          </a:p>
          <a:p>
            <a:r>
              <a:t>Lower and farther right is better</a:t>
            </a:r>
          </a:p>
          <a:p>
            <a:r>
              <a:t>(a) 1,024 IDs: new-paper test</a:t>
            </a:r>
          </a:p>
          <a:p>
            <a:r>
              <a:t>2 5 10 20 40</a:t>
            </a:r>
          </a:p>
          <a:p>
            <a:r>
              <a:t>Full encode throughput (MiB/s; log scale)</a:t>
            </a:r>
          </a:p>
          <a:p>
            <a:r>
              <a:t>10</a:t>
            </a:r>
          </a:p>
          <a:p>
            <a:r>
              <a:t>15</a:t>
            </a:r>
          </a:p>
          <a:p>
            <a:r>
              <a:t>20</a:t>
            </a:r>
          </a:p>
          <a:p>
            <a:r>
              <a:t>25</a:t>
            </a:r>
          </a:p>
          <a:p>
            <a:r>
              <a:t>30</a:t>
            </a:r>
          </a:p>
          <a:p>
            <a:r>
              <a:t>35KaT eX partial-crossing tokens (%)</a:t>
            </a:r>
          </a:p>
          <a:p>
            <a:r>
              <a:t>Boundary AST</a:t>
            </a:r>
          </a:p>
          <a:p>
            <a:r>
              <a:t>Math-atom BPE</a:t>
            </a:r>
          </a:p>
          <a:p>
            <a:r>
              <a:t>Byte BPE</a:t>
            </a:r>
          </a:p>
          <a:p>
            <a:r>
              <a:t>SP Unigram</a:t>
            </a:r>
          </a:p>
          <a:p>
            <a:r>
              <a:t>Qwen2.5</a:t>
            </a:r>
          </a:p>
          <a:p>
            <a:r>
              <a:t>Llama 3</a:t>
            </a:r>
          </a:p>
          <a:p>
            <a:r>
              <a:t>o200k</a:t>
            </a:r>
          </a:p>
          <a:p>
            <a:r>
              <a:t>Lower and farther right is better</a:t>
            </a:r>
          </a:p>
          <a:p>
            <a:r>
              <a:t>(b) 2,048 IDs: new-paper test</a:t>
            </a:r>
          </a:p>
          <a:p>
            <a:r>
              <a:t>Interpretation</a:t>
            </a:r>
          </a:p>
          <a:p>
            <a:r>
              <a:t>Boundary AST is about 2.65–3.00 times faster than math-atom BPE across the four</a:t>
            </a:r>
          </a:p>
          <a:p>
            <a:r>
              <a:t>principal conditions. All parser/codec work is included. The result is from one Mac and</a:t>
            </a:r>
          </a:p>
          <a:p>
            <a:r>
              <a:t>a single-input public interface.</a:t>
            </a:r>
          </a:p>
          <a:p>
            <a:r>
              <a:t>Department of Mathematics, Sun Yat-sen University Results October 10, 2026 30/42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Paired Paper-Cluster Statistical Evidence</a:t>
            </a:r>
          </a:p>
          <a:p>
            <a:r>
              <a:t>Difference: Boundary AST minus math-atom BPE. Negative compression differences</a:t>
            </a:r>
          </a:p>
          <a:p>
            <a:r>
              <a:t>favor AST.</a:t>
            </a:r>
          </a:p>
          <a:p>
            <a:r>
              <a:t>Condition T/B difference Family 95% CI Scope difference CI (pp)</a:t>
            </a:r>
          </a:p>
          <a:p>
            <a:r>
              <a:t>1,024 / broad -0.00428 [-0.00601, -0.00270] [-2.36, +6.06]</a:t>
            </a:r>
          </a:p>
          <a:p>
            <a:r>
              <a:t>1,024 / domain -0.00976 [-0.02916, -0.00197] [-4.44, +9.88]</a:t>
            </a:r>
          </a:p>
          <a:p>
            <a:r>
              <a:t>2,048 / broad -0.00760 [-0.01106, -0.00535] [+0.49, +6.59]</a:t>
            </a:r>
          </a:p>
          <a:p>
            <a:r>
              <a:t>2,048 / domain -0.01088 [-0.03025, -0.00344] [-5.78, +12.17]</a:t>
            </a:r>
          </a:p>
          <a:p>
            <a:r>
              <a:t>Design</a:t>
            </a:r>
          </a:p>
          <a:p>
            <a:r>
              <a:t>200,000 paper-cluster resamples; Bonferroni intervals retain the original family of 144</a:t>
            </a:r>
          </a:p>
          <a:p>
            <a:r>
              <a:t>comparisons. We did not shrink the family after choosing seven systems.</a:t>
            </a:r>
          </a:p>
          <a:p>
            <a:r>
              <a:t>All four adjusted compression intervals exclude zero in favor of Boundary AST.</a:t>
            </a:r>
          </a:p>
          <a:p>
            <a:r>
              <a:t>Scope and crossing intervals do not all exclude zero; point estimates are not</a:t>
            </a:r>
          </a:p>
          <a:p>
            <a:r>
              <a:t>universal structural gains.</a:t>
            </a:r>
          </a:p>
          <a:p>
            <a:r>
              <a:t>Intervals condition on the realized vocabulary and observed training seeds. They</a:t>
            </a:r>
          </a:p>
          <a:p>
            <a:r>
              <a:t>do not cover all possible retraining outcomes.</a:t>
            </a:r>
          </a:p>
          <a:p>
            <a:r>
              <a:t>Department of Mathematics, Sun Yat-sen University Results October 10, 2026 31/42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Probability Coding and Vocabulary Utilization</a:t>
            </a:r>
          </a:p>
          <a:p>
            <a:r>
              <a:t>System Fit BPB: 1,024 Fit BPB: 2,048 Used%: 1,024 Used%: 2,048</a:t>
            </a:r>
          </a:p>
          <a:p>
            <a:r>
              <a:t>Boundary AST (ours) 3.131 3.008 67.3 72.0</a:t>
            </a:r>
          </a:p>
          <a:p>
            <a:r>
              <a:t>Math-atom BPE (ours) 3.153 3.028 66.8 70.9</a:t>
            </a:r>
          </a:p>
          <a:p>
            <a:r>
              <a:t>Byte BPE 3.413 3.209 76.3 76.3</a:t>
            </a:r>
          </a:p>
          <a:p>
            <a:r>
              <a:t>SP Unigram 3.709 3.634 69.5 67.2</a:t>
            </a:r>
          </a:p>
          <a:p>
            <a:r>
              <a:t>Qwen2.5 4.063 4.063 0.8 0.8</a:t>
            </a:r>
          </a:p>
          <a:p>
            <a:r>
              <a:t>Llama 3 4.056 4.056 1.1 1.1</a:t>
            </a:r>
          </a:p>
          <a:p>
            <a:r>
              <a:t>o200k 4.060 4.060 0.7 0.7</a:t>
            </a:r>
          </a:p>
          <a:p>
            <a:r>
              <a:t>Interpretation</a:t>
            </a:r>
          </a:p>
          <a:p>
            <a:r>
              <a:t>Fit BPB uses the same scenario fit records and actual vocabulary size. The much larger</a:t>
            </a:r>
          </a:p>
          <a:p>
            <a:r>
              <a:t>general vocabularies incur a different smoothing term and utilization denominator.</a:t>
            </a:r>
          </a:p>
          <a:p>
            <a:r>
              <a:t>Why several measures are necessary</a:t>
            </a:r>
          </a:p>
          <a:p>
            <a:r>
              <a:t>Low token count can coexist with sparse usage or unstable boundaries. These</a:t>
            </a:r>
          </a:p>
          <a:p>
            <a:r>
              <a:t>probability readouts are descriptive token statistics; no trained language-model</a:t>
            </a:r>
          </a:p>
          <a:p>
            <a:r>
              <a:t>perplexity is reported.</a:t>
            </a:r>
          </a:p>
          <a:p>
            <a:r>
              <a:t>Uzan et al. (2024) ; Meister (2026)</a:t>
            </a:r>
          </a:p>
          <a:p>
            <a:r>
              <a:t>Department of Mathematics, Sun Yat-sen University Results October 10, 2026 32/42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Current Seven-System Composite Ranking</a:t>
            </a:r>
          </a:p>
          <a:p>
            <a:r>
              <a:t>System Rank: 1,024 Rank: 2,048 Score: 1,024 Score: 2,048</a:t>
            </a:r>
          </a:p>
          <a:p>
            <a:r>
              <a:t>Boundary AST (ours) 1 1 0.042 0.100</a:t>
            </a:r>
          </a:p>
          <a:p>
            <a:r>
              <a:t>Math-atom BPE (ours) 2 2 0.271 0.342</a:t>
            </a:r>
          </a:p>
          <a:p>
            <a:r>
              <a:t>Byte BPE 5 5 0.610 0.608</a:t>
            </a:r>
          </a:p>
          <a:p>
            <a:r>
              <a:t>SP Unigram 3 3 0.433 0.450</a:t>
            </a:r>
          </a:p>
          <a:p>
            <a:r>
              <a:t>Qwen2.5 7 7 0.860 0.817</a:t>
            </a:r>
          </a:p>
          <a:p>
            <a:r>
              <a:t>Llama 3 6 6 0.696 0.646</a:t>
            </a:r>
          </a:p>
          <a:p>
            <a:r>
              <a:t>o200k 4 4 0.587 0.537</a:t>
            </a:r>
          </a:p>
          <a:p>
            <a:r>
              <a:t>Frozen metric preferences</a:t>
            </a:r>
          </a:p>
          <a:p>
            <a:r>
              <a:t>Compression 30%; encode speed 25%; KaTeX crossing 20%; command integrity 10%;</a:t>
            </a:r>
          </a:p>
          <a:p>
            <a:r>
              <a:t>number integrity 5%; fit BPB 10%. Broad and specialized scenarios each receive 50%.</a:t>
            </a:r>
          </a:p>
          <a:p>
            <a:r>
              <a:t>How to use the ranking</a:t>
            </a:r>
          </a:p>
          <a:p>
            <a:r>
              <a:t>The ranking favors our complete specialized systems under this preference. It is relative</a:t>
            </a:r>
          </a:p>
          <a:p>
            <a:r>
              <a:t>to the seven retained methods, omits scope recall from its weighted score and cannot</a:t>
            </a:r>
          </a:p>
          <a:p>
            <a:r>
              <a:t>establish downstream superiority.</a:t>
            </a:r>
          </a:p>
          <a:p>
            <a:r>
              <a:t>Department of Mathematics, Sun Yat-sen University Results October 10, 2026 33/42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RL Is Not a Final Production Route</a:t>
            </a:r>
          </a:p>
          <a:p>
            <a:r>
              <a:t>Same-reward control RL mean utility gain Wins 95% interval crosses zero?</a:t>
            </a:r>
          </a:p>
          <a:p>
            <a:r>
              <a:t>Fixed random search 0.116% 7 / 15 Yes</a:t>
            </a:r>
          </a:p>
          <a:p>
            <a:r>
              <a:t>Cross-entropy search 0.199% 8 / 15 Yes</a:t>
            </a:r>
          </a:p>
          <a:p>
            <a:r>
              <a:t>Controlled evidence</a:t>
            </a:r>
          </a:p>
          <a:p>
            <a:r>
              <a:t>Three paper splits and five seeds per split; shared tasks, features, initialization and 34</a:t>
            </a:r>
          </a:p>
          <a:p>
            <a:r>
              <a:t>actual terminal evaluations. The gate required at least 0.5% utility improvement, 12/15</a:t>
            </a:r>
          </a:p>
          <a:p>
            <a:r>
              <a:t>wins and core noninferiority.</a:t>
            </a:r>
          </a:p>
          <a:p>
            <a:r>
              <a:t>The gate was not met; these results remain in history, outside the current</a:t>
            </a:r>
          </a:p>
          <a:p>
            <a:r>
              <a:t>seven-system registry.</a:t>
            </a:r>
          </a:p>
          <a:p>
            <a:r>
              <a:t>The non-RL Boundary AST replacement preserves core point-estimate tolerances</a:t>
            </a:r>
          </a:p>
          <a:p>
            <a:r>
              <a:t>relative to the old v5, with explicit structural trade-offs.</a:t>
            </a:r>
          </a:p>
          <a:p>
            <a:r>
              <a:t>This does not refute the ICML end-to-end RL paper, whose reward is</a:t>
            </a:r>
          </a:p>
          <a:p>
            <a:r>
              <a:t>language-model loss.</a:t>
            </a:r>
          </a:p>
          <a:p>
            <a:r>
              <a:t>Historical v8 controlled-terminal decision; 15 pairs are conditional on three potentially overlapping source splits.</a:t>
            </a:r>
          </a:p>
          <a:p>
            <a:r>
              <a:t>Dauncey and Wattenhofer (2026)</a:t>
            </a:r>
          </a:p>
          <a:p>
            <a:r>
              <a:t>Department of Mathematics, Sun Yat-sen University Results October 10, 2026 34/42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Priority Downstream Tasks</a:t>
            </a:r>
          </a:p>
          <a:p>
            <a:r>
              <a:t>Task Input and output Primary evaluation</a:t>
            </a:r>
          </a:p>
          <a:p>
            <a:r>
              <a:t>1. PDE solution /</a:t>
            </a:r>
          </a:p>
          <a:p>
            <a:r>
              <a:t>solver generation</a:t>
            </a:r>
          </a:p>
          <a:p>
            <a:r>
              <a:t>Equation + initial/boundary</a:t>
            </a:r>
          </a:p>
          <a:p>
            <a:r>
              <a:t>conditions; generate an analytic</a:t>
            </a:r>
          </a:p>
          <a:p>
            <a:r>
              <a:t>candidate or executable numerical</a:t>
            </a:r>
          </a:p>
          <a:p>
            <a:r>
              <a:t>solver.</a:t>
            </a:r>
          </a:p>
          <a:p>
            <a:r>
              <a:t>Residual, boundary error, nRMSE</a:t>
            </a:r>
          </a:p>
          <a:p>
            <a:r>
              <a:t>and execution success.</a:t>
            </a:r>
          </a:p>
          <a:p>
            <a:r>
              <a:t>2. Governing-equation</a:t>
            </a:r>
          </a:p>
          <a:p>
            <a:r>
              <a:t>discovery</a:t>
            </a:r>
          </a:p>
          <a:p>
            <a:r>
              <a:t>Field observations / derivatives;</a:t>
            </a:r>
          </a:p>
          <a:p>
            <a:r>
              <a:t>generate a symbolic PDE and fit</a:t>
            </a:r>
          </a:p>
          <a:p>
            <a:r>
              <a:t>coeﬀicients.</a:t>
            </a:r>
          </a:p>
          <a:p>
            <a:r>
              <a:t>Structure recovery, coeﬀicient</a:t>
            </a:r>
          </a:p>
          <a:p>
            <a:r>
              <a:t>error, held-out prediction and</a:t>
            </a:r>
          </a:p>
          <a:p>
            <a:r>
              <a:t>noise robustness.</a:t>
            </a:r>
          </a:p>
          <a:p>
            <a:r>
              <a:t>3. Symbolic</a:t>
            </a:r>
          </a:p>
          <a:p>
            <a:r>
              <a:t>manipulation</a:t>
            </a:r>
          </a:p>
          <a:p>
            <a:r>
              <a:t>Integration, differentiation,</a:t>
            </a:r>
          </a:p>
          <a:p>
            <a:r>
              <a:t>simplification and ODE solving.</a:t>
            </a:r>
          </a:p>
          <a:p>
            <a:r>
              <a:t>Executable/symbolic equivalence,</a:t>
            </a:r>
          </a:p>
          <a:p>
            <a:r>
              <a:t>validity and unseen operator</a:t>
            </a:r>
          </a:p>
          <a:p>
            <a:r>
              <a:t>combinations.</a:t>
            </a:r>
          </a:p>
          <a:p>
            <a:r>
              <a:t>4. Mathematical</a:t>
            </a:r>
          </a:p>
          <a:p>
            <a:r>
              <a:t>reasoning</a:t>
            </a:r>
          </a:p>
          <a:p>
            <a:r>
              <a:t>Problem text + formulas; generate</a:t>
            </a:r>
          </a:p>
          <a:p>
            <a:r>
              <a:t>derivation and final answer.</a:t>
            </a:r>
          </a:p>
          <a:p>
            <a:r>
              <a:t>Verified final-answer accuracy and</a:t>
            </a:r>
          </a:p>
          <a:p>
            <a:r>
              <a:t>length/generalization strata.</a:t>
            </a:r>
          </a:p>
          <a:p>
            <a:r>
              <a:t>Data and task separation</a:t>
            </a:r>
          </a:p>
          <a:p>
            <a:r>
              <a:t>PDEBench supplies numerical PDE tasks; EqGPT motivates discovery;</a:t>
            </a:r>
          </a:p>
          <a:p>
            <a:r>
              <a:t>SymbolicMathematics and MATH motivate symbolic/reasoning tasks. Their test cases</a:t>
            </a:r>
          </a:p>
          <a:p>
            <a:r>
              <a:t>must not enter tokenizer or model adaptation training.</a:t>
            </a:r>
          </a:p>
          <a:p>
            <a:r>
              <a:t>Takamoto et al. (2022) ; Xu et al. (2025) ; Lample and Charton (2020) ; Hendrycks et al. (2021)</a:t>
            </a:r>
          </a:p>
          <a:p>
            <a:r>
              <a:t>Department of Mathematics, Sun Yat-sen University Downstream Plan October 10, 2026 35/42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Tokenizer Replacement Does Not Require Full Retraining</a:t>
            </a:r>
          </a:p>
          <a:p>
            <a:r>
              <a:t>Option Procedure Experimental use</a:t>
            </a:r>
          </a:p>
          <a:p>
            <a:r>
              <a:t>Small models from</a:t>
            </a:r>
          </a:p>
          <a:p>
            <a:r>
              <a:t>scratch</a:t>
            </a:r>
          </a:p>
          <a:p>
            <a:r>
              <a:t>Same backbone, raw data and</a:t>
            </a:r>
          </a:p>
          <a:p>
            <a:r>
              <a:t>initialization seeds.</a:t>
            </a:r>
          </a:p>
          <a:p>
            <a:r>
              <a:t>Clean comparison; start around</a:t>
            </a:r>
          </a:p>
          <a:p>
            <a:r>
              <a:t>100–300M parameters.</a:t>
            </a:r>
          </a:p>
          <a:p>
            <a:r>
              <a:t>Adapt an open</a:t>
            </a:r>
          </a:p>
          <a:p>
            <a:r>
              <a:t>backbone</a:t>
            </a:r>
          </a:p>
          <a:p>
            <a:r>
              <a:t>Replace vocabulary; initialize</a:t>
            </a:r>
          </a:p>
          <a:p>
            <a:r>
              <a:t>embeddings; continue pretraining.</a:t>
            </a:r>
          </a:p>
          <a:p>
            <a:r>
              <a:t>Retain a no-replacement</a:t>
            </a:r>
          </a:p>
          <a:p>
            <a:r>
              <a:t>adaptation control.</a:t>
            </a:r>
          </a:p>
          <a:p>
            <a:r>
              <a:t>Align / transplant</a:t>
            </a:r>
          </a:p>
          <a:p>
            <a:r>
              <a:t>embeddings</a:t>
            </a:r>
          </a:p>
          <a:p>
            <a:r>
              <a:t>Use old-token decompositions or</a:t>
            </a:r>
          </a:p>
          <a:p>
            <a:r>
              <a:t>learned alignment.</a:t>
            </a:r>
          </a:p>
          <a:p>
            <a:r>
              <a:t>Equal adaptation cost against</a:t>
            </a:r>
          </a:p>
          <a:p>
            <a:r>
              <a:t>simple initialization.</a:t>
            </a:r>
          </a:p>
          <a:p>
            <a:r>
              <a:t>What must change</a:t>
            </a:r>
          </a:p>
          <a:p>
            <a:r>
              <a:t>New IDs cannot reuse old embedding rows by ID. Replace input/output vocabulary</a:t>
            </a:r>
          </a:p>
          <a:p>
            <a:r>
              <a:t>matrices; other Transformer weights can be retained.</a:t>
            </a:r>
          </a:p>
          <a:p>
            <a:r>
              <a:t>Core diﬀiculty</a:t>
            </a:r>
          </a:p>
          <a:p>
            <a:r>
              <a:t>Formula-only data are insuﬀicient for reasoning and solver generation. Additional</a:t>
            </a:r>
          </a:p>
          <a:p>
            <a:r>
              <a:t>context/task data and mixed-text coverage are needed.</a:t>
            </a:r>
          </a:p>
          <a:p>
            <a:r>
              <a:t>Li, Zhang and Zong (2025) ; Limisiewicz et al. (2026)</a:t>
            </a:r>
          </a:p>
          <a:p>
            <a:r>
              <a:t>Department of Mathematics, Sun Yat-sen University Downstream Plan October 10, 2026 36/42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Compute, Vocabulary Cost and Fair Training Budgets</a:t>
            </a:r>
          </a:p>
          <a:p>
            <a:r>
              <a:t>Vocabulary-dependent parameters</a:t>
            </a:r>
          </a:p>
          <a:p>
            <a:r>
              <a:t>Tied embeddings: Pvocab = |V|d. At d = 2,048:</a:t>
            </a:r>
          </a:p>
          <a:p>
            <a:r>
              <a:t>|V| = 2,048 ⇒ 4.2M; |V| ≈ 200,000 ⇒ 409.6M parameters. Untied input/output</a:t>
            </a:r>
          </a:p>
          <a:p>
            <a:r>
              <a:t>matrices roughly double this component.</a:t>
            </a:r>
          </a:p>
          <a:p>
            <a:r>
              <a:t>Budget issue Protocol requirement</a:t>
            </a:r>
          </a:p>
          <a:p>
            <a:r>
              <a:t>Training amount Use the same raw examples/bytes; also report tokens and measured</a:t>
            </a:r>
          </a:p>
          <a:p>
            <a:r>
              <a:t>FLOPs.</a:t>
            </a:r>
          </a:p>
          <a:p>
            <a:r>
              <a:t>Context length Report raw-byte coverage and truncation, not only a common token</a:t>
            </a:r>
          </a:p>
          <a:p>
            <a:r>
              <a:t>window.</a:t>
            </a:r>
          </a:p>
          <a:p>
            <a:r>
              <a:t>Model size Report non-embedding and total parameters separately.</a:t>
            </a:r>
          </a:p>
          <a:p>
            <a:r>
              <a:t>Compute scale Heuristic C ≈ 6ND: a 1B-parameter, 10B-token run is about 6 × 1019</a:t>
            </a:r>
          </a:p>
          <a:p>
            <a:r>
              <a:t>FLOPs before additional overhead.</a:t>
            </a:r>
          </a:p>
          <a:p>
            <a:r>
              <a:t>Replication Seven systems times three seeds is 21 runs per task configuration.</a:t>
            </a:r>
          </a:p>
          <a:p>
            <a:r>
              <a:t>Staged resource plan</a:t>
            </a:r>
          </a:p>
          <a:p>
            <a:r>
              <a:t>Start with equal-capacity small-model tests. Scale after a reproducible task gain; cost</a:t>
            </a:r>
          </a:p>
          <a:p>
            <a:r>
              <a:t>full-vocabulary deployment references separately.</a:t>
            </a:r>
          </a:p>
          <a:p>
            <a:r>
              <a:t>Limisiewicz et al. (2026)</a:t>
            </a:r>
          </a:p>
          <a:p>
            <a:r>
              <a:t>Department of Mathematics, Sun Yat-sen University Downstream Plan October 10, 2026 37/42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Implementation Sequence and Decision Criteria</a:t>
            </a:r>
          </a:p>
          <a:p>
            <a:r>
              <a:t>Phase Work Advance only if</a:t>
            </a:r>
          </a:p>
          <a:p>
            <a:r>
              <a:t>A. Freeze task</a:t>
            </a:r>
          </a:p>
          <a:p>
            <a:r>
              <a:t>protocol</a:t>
            </a:r>
          </a:p>
          <a:p>
            <a:r>
              <a:t>Choose equation families, source splits,</a:t>
            </a:r>
          </a:p>
          <a:p>
            <a:r>
              <a:t>validation rules and resource</a:t>
            </a:r>
          </a:p>
          <a:p>
            <a:r>
              <a:t>accounting.</a:t>
            </a:r>
          </a:p>
          <a:p>
            <a:r>
              <a:t>Data leakage and task evaluator</a:t>
            </a:r>
          </a:p>
          <a:p>
            <a:r>
              <a:t>checks pass.</a:t>
            </a:r>
          </a:p>
          <a:p>
            <a:r>
              <a:t>B.</a:t>
            </a:r>
          </a:p>
          <a:p>
            <a:r>
              <a:t>Small-model</a:t>
            </a:r>
          </a:p>
          <a:p>
            <a:r>
              <a:t>pilot</a:t>
            </a:r>
          </a:p>
          <a:p>
            <a:r>
              <a:t>Two routes + five baselines; matched</a:t>
            </a:r>
          </a:p>
          <a:p>
            <a:r>
              <a:t>raw training data, same task code,</a:t>
            </a:r>
          </a:p>
          <a:p>
            <a:r>
              <a:t>three seeds.</a:t>
            </a:r>
          </a:p>
          <a:p>
            <a:r>
              <a:t>Gain is stable under task accuracy and</a:t>
            </a:r>
          </a:p>
          <a:p>
            <a:r>
              <a:t>compute accounting.</a:t>
            </a:r>
          </a:p>
          <a:p>
            <a:r>
              <a:t>C.</a:t>
            </a:r>
          </a:p>
          <a:p>
            <a:r>
              <a:t>Open-model</a:t>
            </a:r>
          </a:p>
          <a:p>
            <a:r>
              <a:t>adaptation</a:t>
            </a:r>
          </a:p>
          <a:p>
            <a:r>
              <a:t>Token/embedding initialization</a:t>
            </a:r>
          </a:p>
          <a:p>
            <a:r>
              <a:t>ablations with equal adaptation</a:t>
            </a:r>
          </a:p>
          <a:p>
            <a:r>
              <a:t>budgets.</a:t>
            </a:r>
          </a:p>
          <a:p>
            <a:r>
              <a:t>Benefits exceed the no-replacement</a:t>
            </a:r>
          </a:p>
          <a:p>
            <a:r>
              <a:t>control.</a:t>
            </a:r>
          </a:p>
          <a:p>
            <a:r>
              <a:t>D.</a:t>
            </a:r>
          </a:p>
          <a:p>
            <a:r>
              <a:t>Generalization</a:t>
            </a:r>
          </a:p>
          <a:p>
            <a:r>
              <a:t>/ scale</a:t>
            </a:r>
          </a:p>
          <a:p>
            <a:r>
              <a:t>New PDE families, long formulas,</a:t>
            </a:r>
          </a:p>
          <a:p>
            <a:r>
              <a:t>noise and mixed text/formula prompts.</a:t>
            </a:r>
          </a:p>
          <a:p>
            <a:r>
              <a:t>Gain persists across distributions</a:t>
            </a:r>
          </a:p>
          <a:p>
            <a:r>
              <a:t>without unacceptable regressions.</a:t>
            </a:r>
          </a:p>
          <a:p>
            <a:r>
              <a:t>Failure conditions to investigate</a:t>
            </a:r>
          </a:p>
          <a:p>
            <a:r>
              <a:t>No task gain despite better compression; invalid expression generation; failure on unseen</a:t>
            </a:r>
          </a:p>
          <a:p>
            <a:r>
              <a:t>domains; adaptation cost larger than inference savings; arithmetic or scope errors hidden</a:t>
            </a:r>
          </a:p>
          <a:p>
            <a:r>
              <a:t>by string similarity.</a:t>
            </a:r>
          </a:p>
          <a:p>
            <a:r>
              <a:t>Department of Mathematics, Sun Yat-sen University Downstream Plan October 10, 2026 38/42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We Can Claim, and What We Must Test Next</a:t>
            </a:r>
          </a:p>
          <a:p>
            <a:r>
              <a:t>Supported by current evidence</a:t>
            </a:r>
          </a:p>
          <a:p>
            <a:r>
              <a:t>A classified, source-traceable formula catalog and reproducible frozen experiments are</a:t>
            </a:r>
          </a:p>
          <a:p>
            <a:r>
              <a:t>available. Boundary AST improves compression over a same-dictionary BPE control</a:t>
            </a:r>
          </a:p>
          <a:p>
            <a:r>
              <a:t>while offering a useful speed/structure trade-off.</a:t>
            </a:r>
          </a:p>
          <a:p>
            <a:r>
              <a:t>Supported statement Boundary</a:t>
            </a:r>
          </a:p>
          <a:p>
            <a:r>
              <a:t>Two routes are deployable Standalone tokenizers only; no downstream model training has</a:t>
            </a:r>
          </a:p>
          <a:p>
            <a:r>
              <a:t>been completed.</a:t>
            </a:r>
          </a:p>
          <a:p>
            <a:r>
              <a:t>Three current audits</a:t>
            </a:r>
          </a:p>
          <a:p>
            <a:r>
              <a:t>passed</a:t>
            </a:r>
          </a:p>
          <a:p>
            <a:r>
              <a:t>Automated data, implementation and experiment checks; not</a:t>
            </a:r>
          </a:p>
          <a:p>
            <a:r>
              <a:t>external certification.</a:t>
            </a:r>
          </a:p>
          <a:p>
            <a:r>
              <a:t>Some core metrics improve Not all structure metrics or adjusted intervals favor one method.</a:t>
            </a:r>
          </a:p>
          <a:p>
            <a:r>
              <a:t>Specialization is promising Sparse PDE coverage, uneven domains and mixed-text transfer</a:t>
            </a:r>
          </a:p>
          <a:p>
            <a:r>
              <a:t>remain open.</a:t>
            </a:r>
          </a:p>
          <a:p>
            <a:r>
              <a:t>Next scientific question</a:t>
            </a:r>
          </a:p>
          <a:p>
            <a:r>
              <a:t>Do the observed intrinsic improvements survive embedding adaptation and produce</a:t>
            </a:r>
          </a:p>
          <a:p>
            <a:r>
              <a:t>better symbolic/PDE task performance at a defensible total training cost?</a:t>
            </a:r>
          </a:p>
          <a:p>
            <a:r>
              <a:t>Department of Mathematics, Sun Yat-sen University Conclusions October 10, 2026 39/42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References and Technical Context (1/3)</a:t>
            </a:r>
          </a:p>
          <a:p>
            <a:r>
              <a:t>1 Sennrich, Haddow and Birch (2016). Neural Machine Translation of Rare Words with</a:t>
            </a:r>
          </a:p>
          <a:p>
            <a:r>
              <a:t>Subword Units. ACL.</a:t>
            </a:r>
          </a:p>
          <a:p>
            <a:r>
              <a:t>2 Kudo (2018). Subword Regularization: Improving Neural Network Translation Models</a:t>
            </a:r>
          </a:p>
          <a:p>
            <a:r>
              <a:t>with Multiple Subword Candidates . ACL.</a:t>
            </a:r>
          </a:p>
          <a:p>
            <a:r>
              <a:t>3 Kudo and Richardson (2018). SentencePiece: A Simple and Language Independent</a:t>
            </a:r>
          </a:p>
          <a:p>
            <a:r>
              <a:t>Subword Tokenizer and Detokenizer for Neural Text Processing . EMNLP Demonstrations.</a:t>
            </a:r>
          </a:p>
          <a:p>
            <a:r>
              <a:t>4 Qwen Team (2024). Qwen2.5 Technical Report . Technical report.</a:t>
            </a:r>
          </a:p>
          <a:p>
            <a:r>
              <a:t>5 Dubey et al. (2024). The Llama 3 Herd of Models . Technical report.</a:t>
            </a:r>
          </a:p>
          <a:p>
            <a:r>
              <a:t>6 OpenAI (2026). tiktoken: BPE Tokenizer Library . Oﬀicial software; accessed 2026-10-13.</a:t>
            </a:r>
          </a:p>
          <a:p>
            <a:r>
              <a:t>7 Peng et al. (2021). MathBERT: A Pre-Trained Model for Mathematical Formula</a:t>
            </a:r>
          </a:p>
          <a:p>
            <a:r>
              <a:t>Understanding. Preprint.</a:t>
            </a:r>
          </a:p>
          <a:p>
            <a:r>
              <a:t>8 Scarlatos and Lan (2023). Tree-Based Representation and Generation of Natural and</a:t>
            </a:r>
          </a:p>
          <a:p>
            <a:r>
              <a:t>Mathematical Language . ACL.</a:t>
            </a:r>
          </a:p>
          <a:p>
            <a:r>
              <a:t>9 Jung et al. (2024). TeXBLEU: Automatic Metric for Evaluate LaTeX Format . Preprint.</a:t>
            </a:r>
          </a:p>
          <a:p>
            <a:r>
              <a:t>Targeted primary-source search; not an exhaustive systematic review. Publication and preprint status are distinguished.</a:t>
            </a:r>
          </a:p>
          <a:p>
            <a:r>
              <a:t>Department of Mathematics, Sun Yat-sen University References October 10, 2026 40/42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References and Technical Context (2/3)</a:t>
            </a:r>
          </a:p>
          <a:p>
            <a:r>
              <a:t>1 Bai et al. (2026). Complex Mathematical Expression Recognition: Benchmark,</a:t>
            </a:r>
          </a:p>
          <a:p>
            <a:r>
              <a:t>Large-Scale Dataset and Strong Baseline . AAAI.</a:t>
            </a:r>
          </a:p>
          <a:p>
            <a:r>
              <a:t>2 Taylor et al. (2022). Galactica: A Large Language Model for Science . Preprint.</a:t>
            </a:r>
          </a:p>
          <a:p>
            <a:r>
              <a:t>3 Golkar et al. (2023). xVal: A Continuous Numerical Tokenization for Scientific Language</a:t>
            </a:r>
          </a:p>
          <a:p>
            <a:r>
              <a:t>Models. Preprint.</a:t>
            </a:r>
          </a:p>
          <a:p>
            <a:r>
              <a:t>4 Schmidt et al. (2024). Tokenization Is More Than Compression . EMNLP.</a:t>
            </a:r>
          </a:p>
          <a:p>
            <a:r>
              <a:t>5 Uzan et al. (2024). Greed Is All You Need: An Evaluation of Tokenizer Inference</a:t>
            </a:r>
          </a:p>
          <a:p>
            <a:r>
              <a:t>Methods. ACL.</a:t>
            </a:r>
          </a:p>
          <a:p>
            <a:r>
              <a:t>6 Meister (2026). TokEval: A Tokenizer Evaluation Suite . COLM.</a:t>
            </a:r>
          </a:p>
          <a:p>
            <a:r>
              <a:t>7 Dauncey and Wattenhofer (2026). You Can Learn Tokenization End-to-End with</a:t>
            </a:r>
          </a:p>
          <a:p>
            <a:r>
              <a:t>Reinforcement Learning. ICML.</a:t>
            </a:r>
          </a:p>
          <a:p>
            <a:r>
              <a:t>8 Hwang, Wang and Gu (2025). Dynamic Chunking for End-to-End Hierarchical Sequence</a:t>
            </a:r>
          </a:p>
          <a:p>
            <a:r>
              <a:t>Modeling. Preprint.</a:t>
            </a:r>
          </a:p>
          <a:p>
            <a:r>
              <a:t>9 Liyanage and Yvon (2026). AdaptBPE: From General Purpose to Specialized Tokenizers .</a:t>
            </a:r>
          </a:p>
          <a:p>
            <a:r>
              <a:t>Preprint.</a:t>
            </a:r>
          </a:p>
          <a:p>
            <a:r>
              <a:t>Targeted primary-source search; not an exhaustive systematic review. Publication and preprint status are distinguished.</a:t>
            </a:r>
          </a:p>
          <a:p>
            <a:r>
              <a:t>Department of Mathematics, Sun Yat-sen University References October 10, 2026 41/42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References and Technical Context (3/3)</a:t>
            </a:r>
          </a:p>
          <a:p>
            <a:r>
              <a:t>1 Li, Zhang and Zong (2025). TokAlign: Eﬀicient Vocabulary Adaptation via Token</a:t>
            </a:r>
          </a:p>
          <a:p>
            <a:r>
              <a:t>Alignment. ACL.</a:t>
            </a:r>
          </a:p>
          <a:p>
            <a:r>
              <a:t>2 Limisiewicz et al. (2026). Compute Optimal Tokenization . Preprint.</a:t>
            </a:r>
          </a:p>
          <a:p>
            <a:r>
              <a:t>3 Xu et al. (2025). Generative Discovery of Partial Differential Equations by Learning from</a:t>
            </a:r>
          </a:p>
          <a:p>
            <a:r>
              <a:t>Math Handbooks . Nature Communications.</a:t>
            </a:r>
          </a:p>
          <a:p>
            <a:r>
              <a:t>4 Takamoto et al. (2022). PDEBench: An Extensive Benchmark for Scientific Machine</a:t>
            </a:r>
          </a:p>
          <a:p>
            <a:r>
              <a:t>Learning. NeurIPS Datasets and Benchmarks.</a:t>
            </a:r>
          </a:p>
          <a:p>
            <a:r>
              <a:t>5 Lample and Charton (2020). Deep Learning for Symbolic Mathematics . ICLR.</a:t>
            </a:r>
          </a:p>
          <a:p>
            <a:r>
              <a:t>6 Hendrycks et al. (2021). Measuring Mathematical Problem Solving With the MATH</a:t>
            </a:r>
          </a:p>
          <a:p>
            <a:r>
              <a:t>Dataset. NeurIPS Datasets and Benchmarks.</a:t>
            </a:r>
          </a:p>
          <a:p>
            <a:r>
              <a:t>7 Gebru et al. (2021). Datasheets for Datasets . Communications of the ACM.</a:t>
            </a:r>
          </a:p>
          <a:p>
            <a:r>
              <a:t>8 Jung et al. (2024). MathBridge: A Large Corpus Dataset for Translating Spoken</a:t>
            </a:r>
          </a:p>
          <a:p>
            <a:r>
              <a:t>Mathematical Expressions into LaTeX Formulas for Improved Readability . Preprint.</a:t>
            </a:r>
          </a:p>
          <a:p>
            <a:r>
              <a:t>Targeted primary-source search; not an exhaustive systematic review. Publication and preprint status are distinguished.</a:t>
            </a:r>
          </a:p>
          <a:p>
            <a:r>
              <a:t>Department of Mathematics, Sun Yat-sen University References October 10, 2026 42/42</a:t>
            </a:r>
          </a:p>
          <a:p/>
          <a:p>
            <a:r>
              <a:t>Editable master: mathematical_tokenizer.tex in the companion Beamer source bundle. The PowerPoint slide preserves a rendered Beamer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of a Specialized Tokenizer for Mathematical Text</dc:title>
  <dc:subject>Mathematical tokenizer research; exact Beamer rendition</dc:subject>
  <dc:creator>Tongren Xiao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